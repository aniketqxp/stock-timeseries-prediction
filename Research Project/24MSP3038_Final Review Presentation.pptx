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67" r:id="rId3"/>
    <p:sldId id="268" r:id="rId4"/>
    <p:sldId id="272" r:id="rId5"/>
    <p:sldId id="257" r:id="rId6"/>
    <p:sldId id="261" r:id="rId7"/>
    <p:sldId id="289" r:id="rId8"/>
    <p:sldId id="269" r:id="rId9"/>
    <p:sldId id="270" r:id="rId10"/>
    <p:sldId id="290" r:id="rId11"/>
    <p:sldId id="273" r:id="rId12"/>
    <p:sldId id="291" r:id="rId13"/>
    <p:sldId id="292" r:id="rId14"/>
    <p:sldId id="293" r:id="rId15"/>
    <p:sldId id="294" r:id="rId16"/>
    <p:sldId id="295" r:id="rId17"/>
    <p:sldId id="277" r:id="rId18"/>
    <p:sldId id="258" r:id="rId19"/>
    <p:sldId id="300" r:id="rId20"/>
    <p:sldId id="303" r:id="rId21"/>
    <p:sldId id="309" r:id="rId22"/>
    <p:sldId id="298" r:id="rId23"/>
    <p:sldId id="263" r:id="rId24"/>
    <p:sldId id="296" r:id="rId25"/>
    <p:sldId id="299" r:id="rId26"/>
    <p:sldId id="297" r:id="rId27"/>
    <p:sldId id="307" r:id="rId28"/>
    <p:sldId id="302" r:id="rId29"/>
    <p:sldId id="301" r:id="rId30"/>
    <p:sldId id="308" r:id="rId31"/>
    <p:sldId id="306" r:id="rId32"/>
    <p:sldId id="271" r:id="rId33"/>
    <p:sldId id="304" r:id="rId34"/>
    <p:sldId id="286" r:id="rId35"/>
    <p:sldId id="265" r:id="rId36"/>
    <p:sldId id="28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1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IBHA GIRI" userId="0189b2712fe94ba7" providerId="LiveId" clId="{118C246A-995A-4845-85AF-C408DC6B7FE9}"/>
    <pc:docChg chg="custSel addSld modSld">
      <pc:chgData name="PRATIBHA GIRI" userId="0189b2712fe94ba7" providerId="LiveId" clId="{118C246A-995A-4845-85AF-C408DC6B7FE9}" dt="2024-03-26T13:43:13.284" v="59" actId="255"/>
      <pc:docMkLst>
        <pc:docMk/>
      </pc:docMkLst>
      <pc:sldChg chg="modSp new mod">
        <pc:chgData name="PRATIBHA GIRI" userId="0189b2712fe94ba7" providerId="LiveId" clId="{118C246A-995A-4845-85AF-C408DC6B7FE9}" dt="2024-03-26T13:41:33.206" v="35" actId="27636"/>
        <pc:sldMkLst>
          <pc:docMk/>
          <pc:sldMk cId="728640765" sldId="287"/>
        </pc:sldMkLst>
        <pc:spChg chg="mod">
          <ac:chgData name="PRATIBHA GIRI" userId="0189b2712fe94ba7" providerId="LiveId" clId="{118C246A-995A-4845-85AF-C408DC6B7FE9}" dt="2024-03-26T13:39:10.682" v="12" actId="20577"/>
          <ac:spMkLst>
            <pc:docMk/>
            <pc:sldMk cId="728640765" sldId="287"/>
            <ac:spMk id="2" creationId="{6232E879-FCCA-DC59-0616-3CCAC30F6114}"/>
          </ac:spMkLst>
        </pc:spChg>
        <pc:spChg chg="mod">
          <ac:chgData name="PRATIBHA GIRI" userId="0189b2712fe94ba7" providerId="LiveId" clId="{118C246A-995A-4845-85AF-C408DC6B7FE9}" dt="2024-03-26T13:41:33.206" v="35" actId="27636"/>
          <ac:spMkLst>
            <pc:docMk/>
            <pc:sldMk cId="728640765" sldId="287"/>
            <ac:spMk id="3" creationId="{EA06D948-B8AE-6FB6-B0B3-EF8A6ED2A4C4}"/>
          </ac:spMkLst>
        </pc:spChg>
      </pc:sldChg>
      <pc:sldChg chg="delSp modSp new mod">
        <pc:chgData name="PRATIBHA GIRI" userId="0189b2712fe94ba7" providerId="LiveId" clId="{118C246A-995A-4845-85AF-C408DC6B7FE9}" dt="2024-03-26T13:43:13.284" v="59" actId="255"/>
        <pc:sldMkLst>
          <pc:docMk/>
          <pc:sldMk cId="3688461633" sldId="288"/>
        </pc:sldMkLst>
        <pc:spChg chg="del">
          <ac:chgData name="PRATIBHA GIRI" userId="0189b2712fe94ba7" providerId="LiveId" clId="{118C246A-995A-4845-85AF-C408DC6B7FE9}" dt="2024-03-26T13:41:37.972" v="37" actId="478"/>
          <ac:spMkLst>
            <pc:docMk/>
            <pc:sldMk cId="3688461633" sldId="288"/>
            <ac:spMk id="2" creationId="{123AFE8B-0CC4-8527-6AA0-AEF64064C44E}"/>
          </ac:spMkLst>
        </pc:spChg>
        <pc:spChg chg="mod">
          <ac:chgData name="PRATIBHA GIRI" userId="0189b2712fe94ba7" providerId="LiveId" clId="{118C246A-995A-4845-85AF-C408DC6B7FE9}" dt="2024-03-26T13:43:13.284" v="59" actId="255"/>
          <ac:spMkLst>
            <pc:docMk/>
            <pc:sldMk cId="3688461633" sldId="288"/>
            <ac:spMk id="3" creationId="{68D83310-F64A-4057-FB3D-CAE6253EB37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13-12-2024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474C464-B52D-F4EB-4D0F-28FACC5E742C}"/>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54093780-64CF-0319-727E-31C7D6C49F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FE81E35E-49D4-473F-4F6D-F240C9B5E9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0756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ED9F48A-1F71-E0ED-82BD-FEC4681910F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D21F0A8D-8414-299C-A2CE-9A1BA5DE98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382D3605-B655-65A4-C99D-898164A8F0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686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4AB4E516-19D7-74D6-3CD8-B358E214CBB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C8305A73-F723-9D3A-4F18-9308778426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F167B596-706F-B977-A617-3E88845467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946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AF9ACEBC-4137-D93C-D737-E0193A1532AD}"/>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32274509-5B39-1DD6-B2FD-571C336DF3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BE3318CE-FA7D-D218-87F3-EC50FBAA88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2606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bdeb4cd123_0_2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2bdeb4cd123_0_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135B661-F75E-B2B8-A0FF-0A74271DDA3D}"/>
            </a:ext>
          </a:extLst>
        </p:cNvPr>
        <p:cNvGrpSpPr/>
        <p:nvPr/>
      </p:nvGrpSpPr>
      <p:grpSpPr>
        <a:xfrm>
          <a:off x="0" y="0"/>
          <a:ext cx="0" cy="0"/>
          <a:chOff x="0" y="0"/>
          <a:chExt cx="0" cy="0"/>
        </a:xfrm>
      </p:grpSpPr>
      <p:sp>
        <p:nvSpPr>
          <p:cNvPr id="136" name="Google Shape;136;g2bdeb4cd123_0_247:notes">
            <a:extLst>
              <a:ext uri="{FF2B5EF4-FFF2-40B4-BE49-F238E27FC236}">
                <a16:creationId xmlns:a16="http://schemas.microsoft.com/office/drawing/2014/main" id="{513842C6-BE8C-FD4F-8BFC-AAA80701625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2bdeb4cd123_0_247:notes">
            <a:extLst>
              <a:ext uri="{FF2B5EF4-FFF2-40B4-BE49-F238E27FC236}">
                <a16:creationId xmlns:a16="http://schemas.microsoft.com/office/drawing/2014/main" id="{097F5D68-E51F-DBD1-71B2-7E96B71348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7176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15ED2BC-C988-2F20-B729-12AD6E820F7D}"/>
            </a:ext>
          </a:extLst>
        </p:cNvPr>
        <p:cNvGrpSpPr/>
        <p:nvPr/>
      </p:nvGrpSpPr>
      <p:grpSpPr>
        <a:xfrm>
          <a:off x="0" y="0"/>
          <a:ext cx="0" cy="0"/>
          <a:chOff x="0" y="0"/>
          <a:chExt cx="0" cy="0"/>
        </a:xfrm>
      </p:grpSpPr>
      <p:sp>
        <p:nvSpPr>
          <p:cNvPr id="136" name="Google Shape;136;g2bdeb4cd123_0_247:notes">
            <a:extLst>
              <a:ext uri="{FF2B5EF4-FFF2-40B4-BE49-F238E27FC236}">
                <a16:creationId xmlns:a16="http://schemas.microsoft.com/office/drawing/2014/main" id="{3958924A-2FC2-0F65-6C29-7103D15DC5A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2bdeb4cd123_0_247:notes">
            <a:extLst>
              <a:ext uri="{FF2B5EF4-FFF2-40B4-BE49-F238E27FC236}">
                <a16:creationId xmlns:a16="http://schemas.microsoft.com/office/drawing/2014/main" id="{A7812A76-EC83-BD90-83BF-5AE831DE82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5713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1CC22112-7E51-C829-076D-7D4BAADECB61}"/>
            </a:ext>
          </a:extLst>
        </p:cNvPr>
        <p:cNvGrpSpPr/>
        <p:nvPr/>
      </p:nvGrpSpPr>
      <p:grpSpPr>
        <a:xfrm>
          <a:off x="0" y="0"/>
          <a:ext cx="0" cy="0"/>
          <a:chOff x="0" y="0"/>
          <a:chExt cx="0" cy="0"/>
        </a:xfrm>
      </p:grpSpPr>
      <p:sp>
        <p:nvSpPr>
          <p:cNvPr id="136" name="Google Shape;136;g2bdeb4cd123_0_247:notes">
            <a:extLst>
              <a:ext uri="{FF2B5EF4-FFF2-40B4-BE49-F238E27FC236}">
                <a16:creationId xmlns:a16="http://schemas.microsoft.com/office/drawing/2014/main" id="{1801E8A9-A4A9-F9A8-46D1-913CA10A667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2bdeb4cd123_0_247:notes">
            <a:extLst>
              <a:ext uri="{FF2B5EF4-FFF2-40B4-BE49-F238E27FC236}">
                <a16:creationId xmlns:a16="http://schemas.microsoft.com/office/drawing/2014/main" id="{5823E97C-AE36-7400-9CC7-1A2D6196F4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4276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ABEA4797-36A7-C493-BF68-3CC17619291A}"/>
            </a:ext>
          </a:extLst>
        </p:cNvPr>
        <p:cNvGrpSpPr/>
        <p:nvPr/>
      </p:nvGrpSpPr>
      <p:grpSpPr>
        <a:xfrm>
          <a:off x="0" y="0"/>
          <a:ext cx="0" cy="0"/>
          <a:chOff x="0" y="0"/>
          <a:chExt cx="0" cy="0"/>
        </a:xfrm>
      </p:grpSpPr>
      <p:sp>
        <p:nvSpPr>
          <p:cNvPr id="136" name="Google Shape;136;g2bdeb4cd123_0_247:notes">
            <a:extLst>
              <a:ext uri="{FF2B5EF4-FFF2-40B4-BE49-F238E27FC236}">
                <a16:creationId xmlns:a16="http://schemas.microsoft.com/office/drawing/2014/main" id="{70EA2F10-F066-576A-63A7-85DB7EE2ED8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2bdeb4cd123_0_247:notes">
            <a:extLst>
              <a:ext uri="{FF2B5EF4-FFF2-40B4-BE49-F238E27FC236}">
                <a16:creationId xmlns:a16="http://schemas.microsoft.com/office/drawing/2014/main" id="{4AA072FE-4BD6-7D34-6669-108AE7E799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4183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E22A40A-7AC8-42CF-9BEF-716456361048}" type="datetime1">
              <a:rPr lang="en-IN" smtClean="0"/>
              <a:t>13-12-2024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8F56DB-C515-4D59-BA31-96CDA4A4A0D9}" type="datetime1">
              <a:rPr lang="en-IN" smtClean="0"/>
              <a:t>13-12-2024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1B9E0E-8141-4053-9D33-9323C4C64632}" type="datetime1">
              <a:rPr lang="en-IN" smtClean="0"/>
              <a:t>13-12-2024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4A18D7D-B16B-460B-AD01-DCD49494CA3D}" type="datetime1">
              <a:rPr lang="en-IN" smtClean="0"/>
              <a:t>13-12-2024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0292A78-0C3D-4759-BF71-9ECFD3D35353}" type="datetime1">
              <a:rPr lang="en-IN" smtClean="0"/>
              <a:t>13-12-2024</a:t>
            </a:fld>
            <a:endParaRPr lang="en-IN"/>
          </a:p>
        </p:txBody>
      </p:sp>
      <p:sp>
        <p:nvSpPr>
          <p:cNvPr id="8" name="Footer Placeholder 7"/>
          <p:cNvSpPr>
            <a:spLocks noGrp="1"/>
          </p:cNvSpPr>
          <p:nvPr>
            <p:ph type="ftr" sz="quarter" idx="11"/>
          </p:nvPr>
        </p:nvSpPr>
        <p:spPr/>
        <p:txBody>
          <a:bodyPr/>
          <a:lstStyle/>
          <a:p>
            <a:r>
              <a:rPr lang="en-IN"/>
              <a:t>CS7501 Project 2 ,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68CD02-2456-484B-8393-AC776251CF95}" type="datetime1">
              <a:rPr lang="en-IN" smtClean="0"/>
              <a:t>13-12-2024</a:t>
            </a:fld>
            <a:endParaRPr lang="en-IN"/>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E74F5-AAB1-470A-A55B-9A7CE5D12E05}" type="datetime1">
              <a:rPr lang="en-IN" smtClean="0"/>
              <a:t>13-12-2024</a:t>
            </a:fld>
            <a:endParaRPr lang="en-IN"/>
          </a:p>
        </p:txBody>
      </p:sp>
      <p:sp>
        <p:nvSpPr>
          <p:cNvPr id="3" name="Footer Placeholder 2"/>
          <p:cNvSpPr>
            <a:spLocks noGrp="1"/>
          </p:cNvSpPr>
          <p:nvPr>
            <p:ph type="ftr" sz="quarter" idx="11"/>
          </p:nvPr>
        </p:nvSpPr>
        <p:spPr/>
        <p:txBody>
          <a:bodyPr/>
          <a:lstStyle/>
          <a:p>
            <a:r>
              <a:rPr lang="en-IN"/>
              <a:t>CS7501 Project 2 ,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A1F7C9-295E-4D6F-B86A-3644E303BB31}" type="datetime1">
              <a:rPr lang="en-IN" smtClean="0"/>
              <a:t>13-12-2024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33789F-14FA-46A1-AB7B-B9E567C4C708}" type="datetime1">
              <a:rPr lang="en-IN" smtClean="0"/>
              <a:t>13-12-2024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C2971F6-5955-45C0-A7FE-779538743A90}" type="datetime1">
              <a:rPr lang="en-IN" smtClean="0"/>
              <a:t>13-12-2024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1EEC5A6-1770-4661-9873-D80C368AA063}" type="datetime1">
              <a:rPr lang="en-IN" smtClean="0"/>
              <a:t>13-12-2024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69A726-769E-4A72-96AC-6065A5CC3F6D}" type="datetime1">
              <a:rPr lang="en-IN" smtClean="0"/>
              <a:t>13-12-2024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CS7501 Project 2 ,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ranaroussi/yfinanc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doi.org/10.1109/ccai61966.2024.10603183" TargetMode="External"/><Relationship Id="rId3" Type="http://schemas.openxmlformats.org/officeDocument/2006/relationships/hyperlink" Target="https://ieeexplore.ieee.org/document/10625537" TargetMode="External"/><Relationship Id="rId7" Type="http://schemas.openxmlformats.org/officeDocument/2006/relationships/hyperlink" Target="https://ieeexplore.ieee.org/document/10593315" TargetMode="External"/><Relationship Id="rId2" Type="http://schemas.openxmlformats.org/officeDocument/2006/relationships/hyperlink" Target="https://doi.org/10.1109/iciteics61368.2024.10625537" TargetMode="External"/><Relationship Id="rId1" Type="http://schemas.openxmlformats.org/officeDocument/2006/relationships/slideLayout" Target="../slideLayouts/slideLayout2.xml"/><Relationship Id="rId6" Type="http://schemas.openxmlformats.org/officeDocument/2006/relationships/hyperlink" Target="https://doi.org/10.1109/incccs60947.2024.10593315" TargetMode="External"/><Relationship Id="rId11" Type="http://schemas.openxmlformats.org/officeDocument/2006/relationships/hyperlink" Target="https://ieeexplore.ieee.org/document/10725232" TargetMode="External"/><Relationship Id="rId5" Type="http://schemas.openxmlformats.org/officeDocument/2006/relationships/hyperlink" Target="https://ieeexplore.ieee.org/document/10673919" TargetMode="External"/><Relationship Id="rId10" Type="http://schemas.openxmlformats.org/officeDocument/2006/relationships/hyperlink" Target="https://doi.org/10.1109/icccnt61001.2024.10725232" TargetMode="External"/><Relationship Id="rId4" Type="http://schemas.openxmlformats.org/officeDocument/2006/relationships/hyperlink" Target="https://doi.org/10.1109/snpd61259.2024.10673919" TargetMode="External"/><Relationship Id="rId9" Type="http://schemas.openxmlformats.org/officeDocument/2006/relationships/hyperlink" Target="https://ieeexplore.ieee.org/document/106031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138" y="1936827"/>
            <a:ext cx="11949723" cy="3429881"/>
          </a:xfrm>
        </p:spPr>
        <p:txBody>
          <a:bodyPr/>
          <a:lstStyle/>
          <a:p>
            <a:r>
              <a:rPr lang="en-US" sz="4000" dirty="0">
                <a:latin typeface="Arial Narrow" panose="020B0606020202030204" pitchFamily="34" charset="0"/>
              </a:rPr>
              <a:t>Enhancing Stock Price Prediction for Nifty 50 IT Sector Companies: A Comparative Study of ML Models with Event Data Integration</a:t>
            </a:r>
            <a:br>
              <a:rPr lang="en-US" dirty="0">
                <a:latin typeface="Arial Narrow" panose="020B0606020202030204" pitchFamily="34" charset="0"/>
              </a:rPr>
            </a:br>
            <a:r>
              <a:rPr lang="en-US" sz="3600" dirty="0">
                <a:solidFill>
                  <a:schemeClr val="tx1">
                    <a:lumMod val="50000"/>
                    <a:lumOff val="50000"/>
                  </a:schemeClr>
                </a:solidFill>
                <a:latin typeface="Arial Narrow" panose="020B0606020202030204" pitchFamily="34" charset="0"/>
              </a:rPr>
              <a:t>Economics and Finance</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13/12/2024</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Third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CS7510</a:t>
            </a:r>
          </a:p>
          <a:p>
            <a:r>
              <a:rPr lang="en-US" b="1" dirty="0">
                <a:latin typeface="Arial Narrow" panose="020B0606020202030204" pitchFamily="34" charset="0"/>
              </a:rPr>
              <a:t>Course Title:  </a:t>
            </a:r>
            <a:r>
              <a:rPr lang="en-US" dirty="0">
                <a:latin typeface="Arial Narrow" panose="020B0606020202030204" pitchFamily="34" charset="0"/>
              </a:rPr>
              <a:t>Project 1</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a:latin typeface="Arial Narrow" panose="020B0606020202030204" pitchFamily="34" charset="0"/>
              </a:rPr>
              <a:t>CS7501 Project 2 , PGP, ICER, VIT Bangalore</a:t>
            </a:r>
            <a:endParaRPr lang="en-IN" b="1" dirty="0">
              <a:latin typeface="Arial Narrow" panose="020B0606020202030204" pitchFamily="34" charset="0"/>
            </a:endParaRP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Abstract</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buNone/>
            </a:pPr>
            <a:r>
              <a:rPr lang="en-US" sz="2400" dirty="0">
                <a:effectLst/>
                <a:ea typeface="Times New Roman" panose="02020603050405020304" pitchFamily="18" charset="0"/>
              </a:rPr>
              <a:t>This study addresses the challenge of predicting stock prices in the volatile IT sector of the Nifty 50 index, where traditional models based solely on historical data often fail to account for influential market events, such as economic policy shifts, earnings reports, and global economic changes. By incorporating event-driven data into predictive models, this research aims to improve the accuracy of stock price forecasting for IT companies, providing a more responsive tool for market analysis. Specifically, we evaluate the performance of ARIMA, SARIMA, GRU, and LSTM models. The comparative analysis of these models across multiple performance metrics highlights the potential of event-enhanced LSTM models, demonstrating lower error rates and improved accuracy over baseline approaches. The findings contribute to existing financial literature by demonstrating how integrating external events can significantly improve stock forecasting accuracy. This study holds practical value for investors, analysts, and financial institutions, supporting more robust decision-making in high-volatility markets and setting a foundation for applying this predictive approach across other sectors.</a:t>
            </a:r>
            <a:endParaRPr lang="en-IN" sz="2400" dirty="0">
              <a:effectLst/>
              <a:ea typeface="Times New Roman" panose="02020603050405020304" pitchFamily="18" charset="0"/>
            </a:endParaRPr>
          </a:p>
          <a:p>
            <a:pPr marL="0" indent="0">
              <a:buNone/>
            </a:pPr>
            <a:endParaRPr lang="en-IN" dirty="0">
              <a:latin typeface="Mongolian Baiti" panose="03000500000000000000" pitchFamily="66" charset="0"/>
              <a:cs typeface="Mongolian Baiti" panose="03000500000000000000" pitchFamily="66" charset="0"/>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Introduction</a:t>
            </a:r>
            <a:endParaRPr lang="en-IN"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a:xfrm>
            <a:off x="838200" y="1825625"/>
            <a:ext cx="10515600" cy="4590806"/>
          </a:xfrm>
        </p:spPr>
        <p:txBody>
          <a:bodyPr>
            <a:normAutofit fontScale="25000" lnSpcReduction="20000"/>
          </a:bodyPr>
          <a:lstStyle/>
          <a:p>
            <a:pPr marL="0" indent="0">
              <a:buNone/>
            </a:pPr>
            <a:r>
              <a:rPr lang="en-US" sz="9600" dirty="0"/>
              <a:t>Stock price prediction, particularly in the Nifty 50 IT sector, is a challenging task due to the high volatility of financial markets and the profound impact of market-moving events. This problem is critical for investors, analysts, and policymakers aiming to make informed decisions in a dynamic and competitive environment. While traditional models like ARIMA and SARIMA have been widely used for time series forecasting, emerging techniques such as GRU and LSTM have shown promise in capturing complex temporal patterns. Moreover, prior research has rarely integrated event-driven data into stock price prediction frameworks, leaving a gap in fully leveraging external factors that influence market movements.</a:t>
            </a:r>
          </a:p>
          <a:p>
            <a:pPr marL="0" indent="0">
              <a:buNone/>
            </a:pPr>
            <a:r>
              <a:rPr lang="en-US" sz="9600" dirty="0"/>
              <a:t>To address these challenges, we propose a comprehensive approach combining advanced machine learning models and event data integration for enhanced predictive accuracy. Our contributions include a comparative study of traditional and deep learning models and a novel integration of event-driven insights into the forecasting process. By utilizing all available features to their fullest extent, this research aims to provide actionable insights and improve forecasting precision in the IT sector, which holds significant importance in the Indian financial landscape.</a:t>
            </a:r>
          </a:p>
          <a:p>
            <a:pPr marL="0" indent="0">
              <a:buNone/>
            </a:pPr>
            <a:br>
              <a:rPr lang="en-US" dirty="0"/>
            </a:br>
            <a:endParaRPr lang="en-IN" dirty="0"/>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b="1" dirty="0">
                <a:latin typeface="Arial Narrow" panose="020B0606020202030204" pitchFamily="34" charset="0"/>
                <a:cs typeface="Mongolian Baiti" panose="03000500000000000000" pitchFamily="66" charset="0"/>
              </a:rPr>
              <a:t>Need of study</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a:xfrm>
            <a:off x="838200" y="1462088"/>
            <a:ext cx="10515600" cy="4894262"/>
          </a:xfrm>
        </p:spPr>
        <p:txBody>
          <a:bodyPr>
            <a:normAutofit/>
          </a:bodyPr>
          <a:lstStyle/>
          <a:p>
            <a:pPr marL="0" indent="0">
              <a:buNone/>
            </a:pPr>
            <a:r>
              <a:rPr lang="en-US" sz="2400" dirty="0"/>
              <a:t>The Nifty 50 IT sector, a vital component of the Indian economy, faces challenges in accurate stock price prediction due to high volatility and the impact of external events. Existing models often fall short in capturing the nuanced influence of these factors.</a:t>
            </a:r>
          </a:p>
          <a:p>
            <a:pPr marL="0" indent="0">
              <a:buNone/>
            </a:pPr>
            <a:r>
              <a:rPr lang="en-US" sz="2400" dirty="0"/>
              <a:t>This study addresses this gap by combining advanced machine learning with event-driven insights. By analyzing the impact of external events, we aim to improve forecasting accuracy, empower informed decision-making, and contribute to a deeper understanding of market dynamics. Additionally, this study will demonstrate the advantage of Recurrent Neural Networks (RNNs) like GRU and LSTM in effectively capturing complex market movements and temporal dependencies.</a:t>
            </a: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cs typeface="Mongolian Baiti" panose="03000500000000000000" pitchFamily="66" charset="0"/>
              </a:rPr>
              <a:t>Problem Statement</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p:txBody>
          <a:bodyPr>
            <a:normAutofit/>
          </a:bodyPr>
          <a:lstStyle/>
          <a:p>
            <a:pPr marL="0" indent="0">
              <a:buNone/>
            </a:pPr>
            <a:r>
              <a:rPr lang="en-US" dirty="0"/>
              <a:t>Predicting stock prices in the Nifty 50 IT sector is challenging due to high volatility and the impact of market-moving events, making it necessary to use models that integrate event-driven data for improved accuracy</a:t>
            </a: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Objectives</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a:xfrm>
            <a:off x="838200" y="1600200"/>
            <a:ext cx="10515600" cy="4576763"/>
          </a:xfrm>
        </p:spPr>
        <p:txBody>
          <a:bodyPr>
            <a:normAutofit/>
          </a:bodyPr>
          <a:lstStyle/>
          <a:p>
            <a:pPr marL="0" indent="0">
              <a:buNone/>
            </a:pPr>
            <a:r>
              <a:rPr lang="en-US" sz="2000" dirty="0"/>
              <a:t>This study aims to develop a robust predictive framework for stock price forecasting in the Nifty 50 IT sector by leveraging machine learning models and event-driven data. The primary focus is on stock prices as the dependent variable, with predictors including daily returns, trading volume, and event-driven data such as economic announcements and global news. By implementing and comparing ARIMA, SARIMA, GRU, and LSTM models, the study seeks to assess predictive accuracy and demonstrate the advantage of RNNs in capturing complex market movements influenced by external factors.</a:t>
            </a:r>
          </a:p>
          <a:p>
            <a:pPr marL="0" indent="0">
              <a:buNone/>
            </a:pPr>
            <a:r>
              <a:rPr lang="en-US" sz="2000" dirty="0"/>
              <a:t>The scope includes analyzing stock performance from 2006 to the present, focusing on major IT companies within the Nifty 50. The study identifies significant external events contributing to market fluctuations and evaluates model performance using metrics like RMSE, MAPE, and R-squared. To maintain clarity, the study avoids redundant variables and excludes minor events with negligible impact, ensuring that only strictly necessary data is considered. This approach systematically addresses the research problem while providing actionable insights into market dynamics.</a:t>
            </a:r>
            <a:endParaRPr lang="en-IN" dirty="0"/>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
        <p:nvSpPr>
          <p:cNvPr id="9" name="Rectangle 4">
            <a:extLst>
              <a:ext uri="{FF2B5EF4-FFF2-40B4-BE49-F238E27FC236}">
                <a16:creationId xmlns:a16="http://schemas.microsoft.com/office/drawing/2014/main" id="{69E2295E-874D-2563-AF37-9BFD2AC4DBC2}"/>
              </a:ext>
            </a:extLst>
          </p:cNvPr>
          <p:cNvSpPr>
            <a:spLocks noChangeArrowheads="1"/>
          </p:cNvSpPr>
          <p:nvPr/>
        </p:nvSpPr>
        <p:spPr bwMode="auto">
          <a:xfrm>
            <a:off x="0" y="0"/>
            <a:ext cx="280035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03622C6-EED8-0D5B-CAD5-BFE38289DFC3}"/>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1CDF36CC-FA46-2D80-118A-42DF1118FB7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5F4E21B6-726D-8924-2620-3CFC4B0D195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72A1AC5C-8AAF-A8E5-9F91-29EB57445F7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 name="Picture 2">
            <a:extLst>
              <a:ext uri="{FF2B5EF4-FFF2-40B4-BE49-F238E27FC236}">
                <a16:creationId xmlns:a16="http://schemas.microsoft.com/office/drawing/2014/main" id="{1F8F0A66-D024-5A8D-B835-4D4573FAF2DB}"/>
              </a:ext>
            </a:extLst>
          </p:cNvPr>
          <p:cNvPicPr>
            <a:picLocks noChangeAspect="1"/>
          </p:cNvPicPr>
          <p:nvPr/>
        </p:nvPicPr>
        <p:blipFill>
          <a:blip r:embed="rId3"/>
          <a:srcRect l="798" t="515"/>
          <a:stretch/>
        </p:blipFill>
        <p:spPr>
          <a:xfrm>
            <a:off x="3433864" y="1342416"/>
            <a:ext cx="8511617" cy="5023661"/>
          </a:xfrm>
          <a:prstGeom prst="rect">
            <a:avLst/>
          </a:prstGeom>
        </p:spPr>
      </p:pic>
      <p:sp>
        <p:nvSpPr>
          <p:cNvPr id="5" name="TextBox 4">
            <a:extLst>
              <a:ext uri="{FF2B5EF4-FFF2-40B4-BE49-F238E27FC236}">
                <a16:creationId xmlns:a16="http://schemas.microsoft.com/office/drawing/2014/main" id="{2E4C0850-7D0D-9DBC-490B-5E54DC77D463}"/>
              </a:ext>
            </a:extLst>
          </p:cNvPr>
          <p:cNvSpPr txBox="1"/>
          <p:nvPr/>
        </p:nvSpPr>
        <p:spPr>
          <a:xfrm>
            <a:off x="222637" y="1510748"/>
            <a:ext cx="3093057" cy="2246769"/>
          </a:xfrm>
          <a:prstGeom prst="rect">
            <a:avLst/>
          </a:prstGeom>
          <a:noFill/>
        </p:spPr>
        <p:txBody>
          <a:bodyPr wrap="square" rtlCol="0">
            <a:spAutoFit/>
          </a:bodyPr>
          <a:lstStyle/>
          <a:p>
            <a:r>
              <a:rPr lang="en-US" dirty="0"/>
              <a:t>The time series plot shows an overall upward trend in the adjusted closing prices of major Indian IT companies, with significant growth after 2020 and notable divergence between companies. Key events include a dip during the 2008 financial crisis and a sharp drop and recovery during the COVID-19 pandemic.</a:t>
            </a:r>
            <a:endParaRPr lang="en-IN" dirty="0"/>
          </a:p>
        </p:txBody>
      </p:sp>
    </p:spTree>
    <p:extLst>
      <p:ext uri="{BB962C8B-B14F-4D97-AF65-F5344CB8AC3E}">
        <p14:creationId xmlns:p14="http://schemas.microsoft.com/office/powerpoint/2010/main" val="1725157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9ECB967-5256-FFD0-7149-F97AA41A17AE}"/>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CFF87C8F-7A03-E417-93E5-EE3BB77D986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(cont.) </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94A2D996-E12B-1DB6-DE9A-5FCF0DD9DA9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BFF9060D-A1ED-6E0A-C07C-CCAAB919190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026" name="Picture 2">
            <a:extLst>
              <a:ext uri="{FF2B5EF4-FFF2-40B4-BE49-F238E27FC236}">
                <a16:creationId xmlns:a16="http://schemas.microsoft.com/office/drawing/2014/main" id="{27D332AD-A0C3-4BC7-792E-E7654342B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073" y="1379303"/>
            <a:ext cx="7482852" cy="49770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DB06990-A32F-C494-6F52-E56E3093E342}"/>
              </a:ext>
            </a:extLst>
          </p:cNvPr>
          <p:cNvSpPr txBox="1"/>
          <p:nvPr/>
        </p:nvSpPr>
        <p:spPr>
          <a:xfrm>
            <a:off x="357809" y="1526650"/>
            <a:ext cx="3983603" cy="1169551"/>
          </a:xfrm>
          <a:prstGeom prst="rect">
            <a:avLst/>
          </a:prstGeom>
          <a:noFill/>
        </p:spPr>
        <p:txBody>
          <a:bodyPr wrap="square" rtlCol="0">
            <a:spAutoFit/>
          </a:bodyPr>
          <a:lstStyle/>
          <a:p>
            <a:r>
              <a:rPr lang="en-US" dirty="0"/>
              <a:t>The histograms of daily returns for all stocks show a bell-shaped distribution centered near zero, indicating that small daily price changes are most common, with rare extreme movements.</a:t>
            </a:r>
            <a:endParaRPr lang="en-IN" dirty="0"/>
          </a:p>
        </p:txBody>
      </p:sp>
    </p:spTree>
    <p:extLst>
      <p:ext uri="{BB962C8B-B14F-4D97-AF65-F5344CB8AC3E}">
        <p14:creationId xmlns:p14="http://schemas.microsoft.com/office/powerpoint/2010/main" val="437508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453EB0F-124F-7B3C-C17D-A6B484BE9744}"/>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44FAC4E6-D771-6299-4E72-EE73A615F8F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(cont.) </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12944249-069F-9850-C5AF-22E009C7959E}"/>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D123092D-718B-7290-0477-1A90DAC0559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2050" name="Picture 2">
            <a:extLst>
              <a:ext uri="{FF2B5EF4-FFF2-40B4-BE49-F238E27FC236}">
                <a16:creationId xmlns:a16="http://schemas.microsoft.com/office/drawing/2014/main" id="{7A9FBC70-9084-7F1D-E6D5-9B1AC401D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929" y="1270193"/>
            <a:ext cx="7134515" cy="50189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2A0431-157D-FB12-D165-CB71A2653368}"/>
              </a:ext>
            </a:extLst>
          </p:cNvPr>
          <p:cNvSpPr txBox="1"/>
          <p:nvPr/>
        </p:nvSpPr>
        <p:spPr>
          <a:xfrm>
            <a:off x="286247" y="1590261"/>
            <a:ext cx="4206240" cy="1169551"/>
          </a:xfrm>
          <a:prstGeom prst="rect">
            <a:avLst/>
          </a:prstGeom>
          <a:noFill/>
        </p:spPr>
        <p:txBody>
          <a:bodyPr wrap="square" rtlCol="0">
            <a:spAutoFit/>
          </a:bodyPr>
          <a:lstStyle/>
          <a:p>
            <a:r>
              <a:rPr lang="en-US" dirty="0"/>
              <a:t>The correlation matrix shows moderate to strong positive relationships between the stocks of major Indian IT companies, with Infosys and Tata Consultancy Services exhibiting the highest correlation at 0.61.</a:t>
            </a:r>
            <a:endParaRPr lang="en-IN" dirty="0"/>
          </a:p>
        </p:txBody>
      </p:sp>
    </p:spTree>
    <p:extLst>
      <p:ext uri="{BB962C8B-B14F-4D97-AF65-F5344CB8AC3E}">
        <p14:creationId xmlns:p14="http://schemas.microsoft.com/office/powerpoint/2010/main" val="2454180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9EFACFC-3627-3B25-6094-E8CBF7EC8821}"/>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8AA6D58A-D903-ACD2-BE84-DBF7CE15E81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(cont.) </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4F0C8F80-DB01-BD24-F017-61C5C2A1798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EC1797D3-DA72-4941-5353-4A2897C24F4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074" name="Picture 2">
            <a:extLst>
              <a:ext uri="{FF2B5EF4-FFF2-40B4-BE49-F238E27FC236}">
                <a16:creationId xmlns:a16="http://schemas.microsoft.com/office/drawing/2014/main" id="{8605FD58-A5DE-A330-A6F9-CEF45ED56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6769" y="1320208"/>
            <a:ext cx="8618800" cy="49016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BB051D-A787-BB6B-AAEC-3ABEA68513C1}"/>
              </a:ext>
            </a:extLst>
          </p:cNvPr>
          <p:cNvSpPr txBox="1"/>
          <p:nvPr/>
        </p:nvSpPr>
        <p:spPr>
          <a:xfrm>
            <a:off x="230588" y="1582310"/>
            <a:ext cx="3101009" cy="954107"/>
          </a:xfrm>
          <a:prstGeom prst="rect">
            <a:avLst/>
          </a:prstGeom>
          <a:noFill/>
        </p:spPr>
        <p:txBody>
          <a:bodyPr wrap="square" rtlCol="0">
            <a:spAutoFit/>
          </a:bodyPr>
          <a:lstStyle/>
          <a:p>
            <a:r>
              <a:rPr lang="en-US" dirty="0"/>
              <a:t>This 30-day rolling volatility plot highlights the uncertainty in the stock market around the time of the COVID-19 pandemic lockdowns.</a:t>
            </a:r>
            <a:endParaRPr lang="en-IN" dirty="0"/>
          </a:p>
        </p:txBody>
      </p:sp>
    </p:spTree>
    <p:extLst>
      <p:ext uri="{BB962C8B-B14F-4D97-AF65-F5344CB8AC3E}">
        <p14:creationId xmlns:p14="http://schemas.microsoft.com/office/powerpoint/2010/main" val="352600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2bdeb4cd123_0_247"/>
          <p:cNvSpPr txBox="1">
            <a:spLocks noGrp="1"/>
          </p:cNvSpPr>
          <p:nvPr>
            <p:ph type="title"/>
          </p:nvPr>
        </p:nvSpPr>
        <p:spPr>
          <a:xfrm>
            <a:off x="3905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sz="3500" b="1" dirty="0">
                <a:latin typeface="Arial Narrow" panose="020B0606020202030204" pitchFamily="34" charset="0"/>
                <a:ea typeface="Arial Narrow"/>
                <a:cs typeface="Mongolian Baiti" panose="03000500000000000000" pitchFamily="66" charset="0"/>
                <a:sym typeface="Arial Narrow"/>
              </a:rPr>
              <a:t>Related Work</a:t>
            </a:r>
            <a:endParaRPr sz="3500" b="1" u="sng" dirty="0">
              <a:latin typeface="Mongolian Baiti" panose="03000500000000000000" pitchFamily="66" charset="0"/>
              <a:ea typeface="Arial Narrow"/>
              <a:cs typeface="Mongolian Baiti" panose="03000500000000000000" pitchFamily="66" charset="0"/>
              <a:sym typeface="Arial Narrow"/>
            </a:endParaRPr>
          </a:p>
        </p:txBody>
      </p:sp>
      <p:sp>
        <p:nvSpPr>
          <p:cNvPr id="140" name="Google Shape;140;g2bdeb4cd123_0_24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CS6501 Project I PGP, ICER, VIT Bangalore</a:t>
            </a:r>
            <a:endParaRPr/>
          </a:p>
        </p:txBody>
      </p:sp>
      <p:sp>
        <p:nvSpPr>
          <p:cNvPr id="141" name="Google Shape;141;g2bdeb4cd123_0_24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graphicFrame>
        <p:nvGraphicFramePr>
          <p:cNvPr id="3" name="Table 2">
            <a:extLst>
              <a:ext uri="{FF2B5EF4-FFF2-40B4-BE49-F238E27FC236}">
                <a16:creationId xmlns:a16="http://schemas.microsoft.com/office/drawing/2014/main" id="{05D894CB-60EB-7D2E-C284-B4B46EED64B9}"/>
              </a:ext>
            </a:extLst>
          </p:cNvPr>
          <p:cNvGraphicFramePr>
            <a:graphicFrameLocks noGrp="1"/>
          </p:cNvGraphicFramePr>
          <p:nvPr>
            <p:extLst>
              <p:ext uri="{D42A27DB-BD31-4B8C-83A1-F6EECF244321}">
                <p14:modId xmlns:p14="http://schemas.microsoft.com/office/powerpoint/2010/main" val="3532128686"/>
              </p:ext>
            </p:extLst>
          </p:nvPr>
        </p:nvGraphicFramePr>
        <p:xfrm>
          <a:off x="390525" y="1242646"/>
          <a:ext cx="11308544" cy="4829908"/>
        </p:xfrm>
        <a:graphic>
          <a:graphicData uri="http://schemas.openxmlformats.org/drawingml/2006/table">
            <a:tbl>
              <a:tblPr firstRow="1" firstCol="1" bandRow="1">
                <a:tableStyleId>{5C22544A-7EE6-4342-B048-85BDC9FD1C3A}</a:tableStyleId>
              </a:tblPr>
              <a:tblGrid>
                <a:gridCol w="676910">
                  <a:extLst>
                    <a:ext uri="{9D8B030D-6E8A-4147-A177-3AD203B41FA5}">
                      <a16:colId xmlns:a16="http://schemas.microsoft.com/office/drawing/2014/main" val="3718884570"/>
                    </a:ext>
                  </a:extLst>
                </a:gridCol>
                <a:gridCol w="1205087">
                  <a:extLst>
                    <a:ext uri="{9D8B030D-6E8A-4147-A177-3AD203B41FA5}">
                      <a16:colId xmlns:a16="http://schemas.microsoft.com/office/drawing/2014/main" val="2361137265"/>
                    </a:ext>
                  </a:extLst>
                </a:gridCol>
                <a:gridCol w="1265551">
                  <a:extLst>
                    <a:ext uri="{9D8B030D-6E8A-4147-A177-3AD203B41FA5}">
                      <a16:colId xmlns:a16="http://schemas.microsoft.com/office/drawing/2014/main" val="1600902926"/>
                    </a:ext>
                  </a:extLst>
                </a:gridCol>
                <a:gridCol w="1596425">
                  <a:extLst>
                    <a:ext uri="{9D8B030D-6E8A-4147-A177-3AD203B41FA5}">
                      <a16:colId xmlns:a16="http://schemas.microsoft.com/office/drawing/2014/main" val="1172123639"/>
                    </a:ext>
                  </a:extLst>
                </a:gridCol>
                <a:gridCol w="1115230">
                  <a:extLst>
                    <a:ext uri="{9D8B030D-6E8A-4147-A177-3AD203B41FA5}">
                      <a16:colId xmlns:a16="http://schemas.microsoft.com/office/drawing/2014/main" val="2196223141"/>
                    </a:ext>
                  </a:extLst>
                </a:gridCol>
                <a:gridCol w="1367164">
                  <a:extLst>
                    <a:ext uri="{9D8B030D-6E8A-4147-A177-3AD203B41FA5}">
                      <a16:colId xmlns:a16="http://schemas.microsoft.com/office/drawing/2014/main" val="2246534660"/>
                    </a:ext>
                  </a:extLst>
                </a:gridCol>
                <a:gridCol w="1245395">
                  <a:extLst>
                    <a:ext uri="{9D8B030D-6E8A-4147-A177-3AD203B41FA5}">
                      <a16:colId xmlns:a16="http://schemas.microsoft.com/office/drawing/2014/main" val="2807289418"/>
                    </a:ext>
                  </a:extLst>
                </a:gridCol>
                <a:gridCol w="1375562">
                  <a:extLst>
                    <a:ext uri="{9D8B030D-6E8A-4147-A177-3AD203B41FA5}">
                      <a16:colId xmlns:a16="http://schemas.microsoft.com/office/drawing/2014/main" val="2181583114"/>
                    </a:ext>
                  </a:extLst>
                </a:gridCol>
                <a:gridCol w="1461220">
                  <a:extLst>
                    <a:ext uri="{9D8B030D-6E8A-4147-A177-3AD203B41FA5}">
                      <a16:colId xmlns:a16="http://schemas.microsoft.com/office/drawing/2014/main" val="521407225"/>
                    </a:ext>
                  </a:extLst>
                </a:gridCol>
              </a:tblGrid>
              <a:tr h="1136449">
                <a:tc>
                  <a:txBody>
                    <a:bodyPr/>
                    <a:lstStyle/>
                    <a:p>
                      <a:pPr marL="0" marR="228600" algn="just"/>
                      <a:r>
                        <a:rPr lang="en-US" sz="1600">
                          <a:effectLst/>
                        </a:rPr>
                        <a:t>S.No.</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dirty="0">
                          <a:effectLst/>
                        </a:rPr>
                        <a:t>Title of the Paper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Authors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Journal Name/Conference Title &amp; Publisher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Year of Publication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Methodology used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Performance of the proposed algorithm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Limitations of the Research</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Future approach if any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2901648"/>
                  </a:ext>
                </a:extLst>
              </a:tr>
              <a:tr h="3693459">
                <a:tc>
                  <a:txBody>
                    <a:bodyPr/>
                    <a:lstStyle/>
                    <a:p>
                      <a:pPr marL="0" marR="228600" algn="just"/>
                      <a:r>
                        <a:rPr lang="en-US" sz="1600" dirty="0">
                          <a:effectLst/>
                        </a:rPr>
                        <a:t>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a:effectLst/>
                        </a:rPr>
                        <a:t>Sentiment-driven predictive models for Nifty 50 stock market fluctuations: A time series analysis perspective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Mohan, B., Yadav, A., Toleti, J., Reddy, D. S. S., Ahmed, R. K., &amp; Koushitha, G.</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IEEE International Conference on Information Technology, Electronics and Intelligent Communication Systems (ICITEICS)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2024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ARIMA, SARIMAX, LSTM, and XGBoost with sentiment-driven time-series data integration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LSTM demonstrated effective price prediction with 24.4 MSE and RMSE 4.9</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Inherent unpredictability of stock prices due to external factors like news and economic indicators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dirty="0">
                          <a:effectLst/>
                        </a:rPr>
                        <a:t>Future directions include exploring hybrid models, enhancing feature engineering, and integrating real-time data processing</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45146354"/>
                  </a:ext>
                </a:extLst>
              </a:tr>
            </a:tbl>
          </a:graphicData>
        </a:graphic>
      </p:graphicFrame>
    </p:spTree>
    <p:extLst>
      <p:ext uri="{BB962C8B-B14F-4D97-AF65-F5344CB8AC3E}">
        <p14:creationId xmlns:p14="http://schemas.microsoft.com/office/powerpoint/2010/main" val="2735386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70818D3-47BC-2C85-F068-99CC0767B88B}"/>
            </a:ext>
          </a:extLst>
        </p:cNvPr>
        <p:cNvGrpSpPr/>
        <p:nvPr/>
      </p:nvGrpSpPr>
      <p:grpSpPr>
        <a:xfrm>
          <a:off x="0" y="0"/>
          <a:ext cx="0" cy="0"/>
          <a:chOff x="0" y="0"/>
          <a:chExt cx="0" cy="0"/>
        </a:xfrm>
      </p:grpSpPr>
      <p:sp>
        <p:nvSpPr>
          <p:cNvPr id="139" name="Google Shape;139;g2bdeb4cd123_0_247">
            <a:extLst>
              <a:ext uri="{FF2B5EF4-FFF2-40B4-BE49-F238E27FC236}">
                <a16:creationId xmlns:a16="http://schemas.microsoft.com/office/drawing/2014/main" id="{D34380D1-DDE8-88D1-C537-CC2DD86E4F12}"/>
              </a:ext>
            </a:extLst>
          </p:cNvPr>
          <p:cNvSpPr txBox="1">
            <a:spLocks noGrp="1"/>
          </p:cNvSpPr>
          <p:nvPr>
            <p:ph type="title"/>
          </p:nvPr>
        </p:nvSpPr>
        <p:spPr>
          <a:xfrm>
            <a:off x="3905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sz="3500" b="1" dirty="0">
                <a:latin typeface="Arial Narrow" panose="020B0606020202030204" pitchFamily="34" charset="0"/>
                <a:ea typeface="Arial Narrow"/>
                <a:cs typeface="Mongolian Baiti" panose="03000500000000000000" pitchFamily="66" charset="0"/>
                <a:sym typeface="Arial Narrow"/>
              </a:rPr>
              <a:t>Related Work</a:t>
            </a:r>
            <a:endParaRPr sz="3500" b="1" u="sng" dirty="0">
              <a:latin typeface="Mongolian Baiti" panose="03000500000000000000" pitchFamily="66" charset="0"/>
              <a:ea typeface="Arial Narrow"/>
              <a:cs typeface="Mongolian Baiti" panose="03000500000000000000" pitchFamily="66" charset="0"/>
              <a:sym typeface="Arial Narrow"/>
            </a:endParaRPr>
          </a:p>
        </p:txBody>
      </p:sp>
      <p:sp>
        <p:nvSpPr>
          <p:cNvPr id="140" name="Google Shape;140;g2bdeb4cd123_0_247">
            <a:extLst>
              <a:ext uri="{FF2B5EF4-FFF2-40B4-BE49-F238E27FC236}">
                <a16:creationId xmlns:a16="http://schemas.microsoft.com/office/drawing/2014/main" id="{7E527285-1195-3AC0-8E5C-A918C97C7DDF}"/>
              </a:ext>
            </a:extLst>
          </p:cNvPr>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CS6501 Project I PGP, ICER, VIT Bangalore</a:t>
            </a:r>
            <a:endParaRPr/>
          </a:p>
        </p:txBody>
      </p:sp>
      <p:sp>
        <p:nvSpPr>
          <p:cNvPr id="141" name="Google Shape;141;g2bdeb4cd123_0_247">
            <a:extLst>
              <a:ext uri="{FF2B5EF4-FFF2-40B4-BE49-F238E27FC236}">
                <a16:creationId xmlns:a16="http://schemas.microsoft.com/office/drawing/2014/main" id="{49654CB9-3CB7-9FD9-73BE-74AACC48CC1D}"/>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graphicFrame>
        <p:nvGraphicFramePr>
          <p:cNvPr id="3" name="Table 2">
            <a:extLst>
              <a:ext uri="{FF2B5EF4-FFF2-40B4-BE49-F238E27FC236}">
                <a16:creationId xmlns:a16="http://schemas.microsoft.com/office/drawing/2014/main" id="{43E7C106-4B93-21E0-CD40-1FFE65640B41}"/>
              </a:ext>
            </a:extLst>
          </p:cNvPr>
          <p:cNvGraphicFramePr>
            <a:graphicFrameLocks noGrp="1"/>
          </p:cNvGraphicFramePr>
          <p:nvPr>
            <p:extLst>
              <p:ext uri="{D42A27DB-BD31-4B8C-83A1-F6EECF244321}">
                <p14:modId xmlns:p14="http://schemas.microsoft.com/office/powerpoint/2010/main" val="3389029587"/>
              </p:ext>
            </p:extLst>
          </p:nvPr>
        </p:nvGraphicFramePr>
        <p:xfrm>
          <a:off x="390525" y="1242646"/>
          <a:ext cx="11308544" cy="4976929"/>
        </p:xfrm>
        <a:graphic>
          <a:graphicData uri="http://schemas.openxmlformats.org/drawingml/2006/table">
            <a:tbl>
              <a:tblPr firstRow="1" firstCol="1" bandRow="1">
                <a:tableStyleId>{5C22544A-7EE6-4342-B048-85BDC9FD1C3A}</a:tableStyleId>
              </a:tblPr>
              <a:tblGrid>
                <a:gridCol w="676910">
                  <a:extLst>
                    <a:ext uri="{9D8B030D-6E8A-4147-A177-3AD203B41FA5}">
                      <a16:colId xmlns:a16="http://schemas.microsoft.com/office/drawing/2014/main" val="3718884570"/>
                    </a:ext>
                  </a:extLst>
                </a:gridCol>
                <a:gridCol w="1205087">
                  <a:extLst>
                    <a:ext uri="{9D8B030D-6E8A-4147-A177-3AD203B41FA5}">
                      <a16:colId xmlns:a16="http://schemas.microsoft.com/office/drawing/2014/main" val="2361137265"/>
                    </a:ext>
                  </a:extLst>
                </a:gridCol>
                <a:gridCol w="1265551">
                  <a:extLst>
                    <a:ext uri="{9D8B030D-6E8A-4147-A177-3AD203B41FA5}">
                      <a16:colId xmlns:a16="http://schemas.microsoft.com/office/drawing/2014/main" val="1600902926"/>
                    </a:ext>
                  </a:extLst>
                </a:gridCol>
                <a:gridCol w="1596425">
                  <a:extLst>
                    <a:ext uri="{9D8B030D-6E8A-4147-A177-3AD203B41FA5}">
                      <a16:colId xmlns:a16="http://schemas.microsoft.com/office/drawing/2014/main" val="1172123639"/>
                    </a:ext>
                  </a:extLst>
                </a:gridCol>
                <a:gridCol w="1115230">
                  <a:extLst>
                    <a:ext uri="{9D8B030D-6E8A-4147-A177-3AD203B41FA5}">
                      <a16:colId xmlns:a16="http://schemas.microsoft.com/office/drawing/2014/main" val="2196223141"/>
                    </a:ext>
                  </a:extLst>
                </a:gridCol>
                <a:gridCol w="1367164">
                  <a:extLst>
                    <a:ext uri="{9D8B030D-6E8A-4147-A177-3AD203B41FA5}">
                      <a16:colId xmlns:a16="http://schemas.microsoft.com/office/drawing/2014/main" val="2246534660"/>
                    </a:ext>
                  </a:extLst>
                </a:gridCol>
                <a:gridCol w="1245395">
                  <a:extLst>
                    <a:ext uri="{9D8B030D-6E8A-4147-A177-3AD203B41FA5}">
                      <a16:colId xmlns:a16="http://schemas.microsoft.com/office/drawing/2014/main" val="2807289418"/>
                    </a:ext>
                  </a:extLst>
                </a:gridCol>
                <a:gridCol w="1375562">
                  <a:extLst>
                    <a:ext uri="{9D8B030D-6E8A-4147-A177-3AD203B41FA5}">
                      <a16:colId xmlns:a16="http://schemas.microsoft.com/office/drawing/2014/main" val="2181583114"/>
                    </a:ext>
                  </a:extLst>
                </a:gridCol>
                <a:gridCol w="1461220">
                  <a:extLst>
                    <a:ext uri="{9D8B030D-6E8A-4147-A177-3AD203B41FA5}">
                      <a16:colId xmlns:a16="http://schemas.microsoft.com/office/drawing/2014/main" val="521407225"/>
                    </a:ext>
                  </a:extLst>
                </a:gridCol>
              </a:tblGrid>
              <a:tr h="1136449">
                <a:tc>
                  <a:txBody>
                    <a:bodyPr/>
                    <a:lstStyle/>
                    <a:p>
                      <a:pPr marL="0" marR="228600" algn="just"/>
                      <a:r>
                        <a:rPr lang="en-US" sz="1600">
                          <a:effectLst/>
                        </a:rPr>
                        <a:t>S.No.</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Title of the Paper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Authors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Journal Name/Conference Title &amp; Publisher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Year of Publication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Methodology used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Performance of the proposed algorithm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Limitations of the Research</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Future approach if any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2901648"/>
                  </a:ext>
                </a:extLst>
              </a:tr>
              <a:tr h="3693459">
                <a:tc>
                  <a:txBody>
                    <a:bodyPr/>
                    <a:lstStyle/>
                    <a:p>
                      <a:pPr marL="0" marR="228600" algn="just"/>
                      <a:r>
                        <a:rPr lang="en-US" sz="1600">
                          <a:effectLst/>
                        </a:rPr>
                        <a:t>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800" kern="1200">
                          <a:solidFill>
                            <a:schemeClr val="dk1"/>
                          </a:solidFill>
                          <a:effectLst/>
                          <a:latin typeface="+mn-lt"/>
                          <a:ea typeface="+mn-ea"/>
                          <a:cs typeface="+mn-cs"/>
                        </a:rPr>
                        <a:t>Comparative analysis of ARIMA and LSTM models for stock price prediction</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800" kern="1200">
                          <a:solidFill>
                            <a:schemeClr val="dk1"/>
                          </a:solidFill>
                          <a:effectLst/>
                          <a:latin typeface="+mn-lt"/>
                          <a:ea typeface="+mn-ea"/>
                          <a:cs typeface="+mn-cs"/>
                        </a:rPr>
                        <a:t>Panchal, S. A., Ferdouse, L., &amp; Sultana, A.</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800" kern="1200" dirty="0">
                          <a:solidFill>
                            <a:schemeClr val="dk1"/>
                          </a:solidFill>
                          <a:effectLst/>
                          <a:latin typeface="+mn-lt"/>
                          <a:ea typeface="+mn-ea"/>
                          <a:cs typeface="+mn-cs"/>
                        </a:rPr>
                        <a:t>IEEE/ACIS 27th International Conference on Software Engineering, Artificial Intelligence, Networking and Parallel/Distributed Computing (SNPD)</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2024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800" kern="1200" dirty="0">
                          <a:solidFill>
                            <a:schemeClr val="dk1"/>
                          </a:solidFill>
                          <a:effectLst/>
                          <a:latin typeface="+mn-lt"/>
                          <a:ea typeface="+mn-ea"/>
                          <a:cs typeface="+mn-cs"/>
                        </a:rPr>
                        <a:t>ARIMA and LSTM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800" kern="1200" dirty="0">
                          <a:solidFill>
                            <a:schemeClr val="dk1"/>
                          </a:solidFill>
                          <a:effectLst/>
                          <a:latin typeface="+mn-lt"/>
                          <a:ea typeface="+mn-ea"/>
                          <a:cs typeface="+mn-cs"/>
                        </a:rPr>
                        <a:t>LSTM outperformed ARIMA achieving lower RMSE values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800" kern="1200" dirty="0">
                          <a:solidFill>
                            <a:schemeClr val="dk1"/>
                          </a:solidFill>
                          <a:effectLst/>
                          <a:latin typeface="+mn-lt"/>
                          <a:ea typeface="+mn-ea"/>
                          <a:cs typeface="+mn-cs"/>
                        </a:rPr>
                        <a:t>ARIMA model struggled with non-linear patterns and sudden fluctuations compared to LSTM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dirty="0">
                          <a:effectLst/>
                        </a:rPr>
                        <a:t>N/A</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45146354"/>
                  </a:ext>
                </a:extLst>
              </a:tr>
            </a:tbl>
          </a:graphicData>
        </a:graphic>
      </p:graphicFrame>
    </p:spTree>
    <p:extLst>
      <p:ext uri="{BB962C8B-B14F-4D97-AF65-F5344CB8AC3E}">
        <p14:creationId xmlns:p14="http://schemas.microsoft.com/office/powerpoint/2010/main" val="3747033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787920C-229A-F80E-92F8-FB3184B60D1B}"/>
            </a:ext>
          </a:extLst>
        </p:cNvPr>
        <p:cNvGrpSpPr/>
        <p:nvPr/>
      </p:nvGrpSpPr>
      <p:grpSpPr>
        <a:xfrm>
          <a:off x="0" y="0"/>
          <a:ext cx="0" cy="0"/>
          <a:chOff x="0" y="0"/>
          <a:chExt cx="0" cy="0"/>
        </a:xfrm>
      </p:grpSpPr>
      <p:sp>
        <p:nvSpPr>
          <p:cNvPr id="139" name="Google Shape;139;g2bdeb4cd123_0_247">
            <a:extLst>
              <a:ext uri="{FF2B5EF4-FFF2-40B4-BE49-F238E27FC236}">
                <a16:creationId xmlns:a16="http://schemas.microsoft.com/office/drawing/2014/main" id="{7F0C6F30-81A2-1A99-FC4D-089D356FB44E}"/>
              </a:ext>
            </a:extLst>
          </p:cNvPr>
          <p:cNvSpPr txBox="1">
            <a:spLocks noGrp="1"/>
          </p:cNvSpPr>
          <p:nvPr>
            <p:ph type="title"/>
          </p:nvPr>
        </p:nvSpPr>
        <p:spPr>
          <a:xfrm>
            <a:off x="3905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sz="3500" b="1" dirty="0">
                <a:latin typeface="Arial Narrow" panose="020B0606020202030204" pitchFamily="34" charset="0"/>
                <a:ea typeface="Arial Narrow"/>
                <a:cs typeface="Mongolian Baiti" panose="03000500000000000000" pitchFamily="66" charset="0"/>
                <a:sym typeface="Arial Narrow"/>
              </a:rPr>
              <a:t>Related Work</a:t>
            </a:r>
            <a:endParaRPr sz="3500" b="1" u="sng" dirty="0">
              <a:latin typeface="Mongolian Baiti" panose="03000500000000000000" pitchFamily="66" charset="0"/>
              <a:ea typeface="Arial Narrow"/>
              <a:cs typeface="Mongolian Baiti" panose="03000500000000000000" pitchFamily="66" charset="0"/>
              <a:sym typeface="Arial Narrow"/>
            </a:endParaRPr>
          </a:p>
        </p:txBody>
      </p:sp>
      <p:sp>
        <p:nvSpPr>
          <p:cNvPr id="140" name="Google Shape;140;g2bdeb4cd123_0_247">
            <a:extLst>
              <a:ext uri="{FF2B5EF4-FFF2-40B4-BE49-F238E27FC236}">
                <a16:creationId xmlns:a16="http://schemas.microsoft.com/office/drawing/2014/main" id="{C24C08CB-8F96-0666-C421-49B26969FC1F}"/>
              </a:ext>
            </a:extLst>
          </p:cNvPr>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CS6501 Project I PGP, ICER, VIT Bangalore</a:t>
            </a:r>
            <a:endParaRPr/>
          </a:p>
        </p:txBody>
      </p:sp>
      <p:sp>
        <p:nvSpPr>
          <p:cNvPr id="141" name="Google Shape;141;g2bdeb4cd123_0_247">
            <a:extLst>
              <a:ext uri="{FF2B5EF4-FFF2-40B4-BE49-F238E27FC236}">
                <a16:creationId xmlns:a16="http://schemas.microsoft.com/office/drawing/2014/main" id="{C7D2E8D2-9EC9-1A86-A07D-C778C1FE2AAA}"/>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graphicFrame>
        <p:nvGraphicFramePr>
          <p:cNvPr id="3" name="Table 2">
            <a:extLst>
              <a:ext uri="{FF2B5EF4-FFF2-40B4-BE49-F238E27FC236}">
                <a16:creationId xmlns:a16="http://schemas.microsoft.com/office/drawing/2014/main" id="{C1E6E358-EB41-936A-5ACB-BFBD5225EC67}"/>
              </a:ext>
            </a:extLst>
          </p:cNvPr>
          <p:cNvGraphicFramePr>
            <a:graphicFrameLocks noGrp="1"/>
          </p:cNvGraphicFramePr>
          <p:nvPr>
            <p:extLst>
              <p:ext uri="{D42A27DB-BD31-4B8C-83A1-F6EECF244321}">
                <p14:modId xmlns:p14="http://schemas.microsoft.com/office/powerpoint/2010/main" val="254736091"/>
              </p:ext>
            </p:extLst>
          </p:nvPr>
        </p:nvGraphicFramePr>
        <p:xfrm>
          <a:off x="390525" y="1242646"/>
          <a:ext cx="11308544" cy="5617009"/>
        </p:xfrm>
        <a:graphic>
          <a:graphicData uri="http://schemas.openxmlformats.org/drawingml/2006/table">
            <a:tbl>
              <a:tblPr firstRow="1" firstCol="1" bandRow="1">
                <a:tableStyleId>{5C22544A-7EE6-4342-B048-85BDC9FD1C3A}</a:tableStyleId>
              </a:tblPr>
              <a:tblGrid>
                <a:gridCol w="676910">
                  <a:extLst>
                    <a:ext uri="{9D8B030D-6E8A-4147-A177-3AD203B41FA5}">
                      <a16:colId xmlns:a16="http://schemas.microsoft.com/office/drawing/2014/main" val="3718884570"/>
                    </a:ext>
                  </a:extLst>
                </a:gridCol>
                <a:gridCol w="1205087">
                  <a:extLst>
                    <a:ext uri="{9D8B030D-6E8A-4147-A177-3AD203B41FA5}">
                      <a16:colId xmlns:a16="http://schemas.microsoft.com/office/drawing/2014/main" val="2361137265"/>
                    </a:ext>
                  </a:extLst>
                </a:gridCol>
                <a:gridCol w="1265551">
                  <a:extLst>
                    <a:ext uri="{9D8B030D-6E8A-4147-A177-3AD203B41FA5}">
                      <a16:colId xmlns:a16="http://schemas.microsoft.com/office/drawing/2014/main" val="1600902926"/>
                    </a:ext>
                  </a:extLst>
                </a:gridCol>
                <a:gridCol w="1596425">
                  <a:extLst>
                    <a:ext uri="{9D8B030D-6E8A-4147-A177-3AD203B41FA5}">
                      <a16:colId xmlns:a16="http://schemas.microsoft.com/office/drawing/2014/main" val="1172123639"/>
                    </a:ext>
                  </a:extLst>
                </a:gridCol>
                <a:gridCol w="1115230">
                  <a:extLst>
                    <a:ext uri="{9D8B030D-6E8A-4147-A177-3AD203B41FA5}">
                      <a16:colId xmlns:a16="http://schemas.microsoft.com/office/drawing/2014/main" val="2196223141"/>
                    </a:ext>
                  </a:extLst>
                </a:gridCol>
                <a:gridCol w="1367164">
                  <a:extLst>
                    <a:ext uri="{9D8B030D-6E8A-4147-A177-3AD203B41FA5}">
                      <a16:colId xmlns:a16="http://schemas.microsoft.com/office/drawing/2014/main" val="2246534660"/>
                    </a:ext>
                  </a:extLst>
                </a:gridCol>
                <a:gridCol w="1245395">
                  <a:extLst>
                    <a:ext uri="{9D8B030D-6E8A-4147-A177-3AD203B41FA5}">
                      <a16:colId xmlns:a16="http://schemas.microsoft.com/office/drawing/2014/main" val="2807289418"/>
                    </a:ext>
                  </a:extLst>
                </a:gridCol>
                <a:gridCol w="1375562">
                  <a:extLst>
                    <a:ext uri="{9D8B030D-6E8A-4147-A177-3AD203B41FA5}">
                      <a16:colId xmlns:a16="http://schemas.microsoft.com/office/drawing/2014/main" val="2181583114"/>
                    </a:ext>
                  </a:extLst>
                </a:gridCol>
                <a:gridCol w="1461220">
                  <a:extLst>
                    <a:ext uri="{9D8B030D-6E8A-4147-A177-3AD203B41FA5}">
                      <a16:colId xmlns:a16="http://schemas.microsoft.com/office/drawing/2014/main" val="521407225"/>
                    </a:ext>
                  </a:extLst>
                </a:gridCol>
              </a:tblGrid>
              <a:tr h="1136449">
                <a:tc>
                  <a:txBody>
                    <a:bodyPr/>
                    <a:lstStyle/>
                    <a:p>
                      <a:pPr marL="0" marR="228600" algn="just"/>
                      <a:r>
                        <a:rPr lang="en-US" sz="1200">
                          <a:effectLst/>
                        </a:rPr>
                        <a:t>S.No.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Title of the Paper</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Authors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Journal Name/Conference Title &amp; Publisher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Year of Publication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Methodology used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Performance of the proposed algorithm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Limitations of the Research</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Future approach if any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2901648"/>
                  </a:ext>
                </a:extLst>
              </a:tr>
              <a:tr h="3693459">
                <a:tc>
                  <a:txBody>
                    <a:bodyPr/>
                    <a:lstStyle/>
                    <a:p>
                      <a:pPr marL="0" marR="228600" algn="just"/>
                      <a:r>
                        <a:rPr lang="en-US" sz="1200" dirty="0">
                          <a:effectLst/>
                        </a:rPr>
                        <a:t>3.</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Exploring the impact of financial news sentiment on stock price forecasting: A comparative deep learning approach</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err="1">
                          <a:solidFill>
                            <a:schemeClr val="dk1"/>
                          </a:solidFill>
                          <a:effectLst/>
                          <a:latin typeface="+mn-lt"/>
                          <a:ea typeface="+mn-ea"/>
                          <a:cs typeface="+mn-cs"/>
                        </a:rPr>
                        <a:t>Rajhans</a:t>
                      </a:r>
                      <a:r>
                        <a:rPr lang="en-IN" sz="1400" kern="1200" dirty="0">
                          <a:solidFill>
                            <a:schemeClr val="dk1"/>
                          </a:solidFill>
                          <a:effectLst/>
                          <a:latin typeface="+mn-lt"/>
                          <a:ea typeface="+mn-ea"/>
                          <a:cs typeface="+mn-cs"/>
                        </a:rPr>
                        <a:t>, A., Das, T., Kumar, A., &amp; Sinha, B. B.</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2024 1st International Conference on Communications and Computer Science (</a:t>
                      </a:r>
                      <a:r>
                        <a:rPr lang="en-IN" sz="1400" kern="1200" dirty="0" err="1">
                          <a:solidFill>
                            <a:schemeClr val="dk1"/>
                          </a:solidFill>
                          <a:effectLst/>
                          <a:latin typeface="+mn-lt"/>
                          <a:ea typeface="+mn-ea"/>
                          <a:cs typeface="+mn-cs"/>
                        </a:rPr>
                        <a:t>InCCCS</a:t>
                      </a:r>
                      <a:r>
                        <a:rPr lang="en-IN" sz="1400" kern="1200" dirty="0">
                          <a:solidFill>
                            <a:schemeClr val="dk1"/>
                          </a:solidFill>
                          <a:effectLst/>
                          <a:latin typeface="+mn-lt"/>
                          <a:ea typeface="+mn-ea"/>
                          <a:cs typeface="+mn-cs"/>
                        </a:rPr>
                        <a: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200">
                          <a:effectLst/>
                        </a:rPr>
                        <a:t>2024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LSTM, GRU, CNN, and a hybrid LSTM-GRU model using NSE stock data</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CNN model showed the best performance with the lowest RMSE for two stocks while the LSTM-GRU hybrid model performed best for TCS, highlighting CNN's overall robustness for stock prediction​</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Study was limited by the one-year dataset used, which may impact the model's ability to generalize to longer periods or different market conditions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Could explore reinforcement learning integration, alternative feature selection methods, and application on larger or real-time datasets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45146354"/>
                  </a:ext>
                </a:extLst>
              </a:tr>
            </a:tbl>
          </a:graphicData>
        </a:graphic>
      </p:graphicFrame>
    </p:spTree>
    <p:extLst>
      <p:ext uri="{BB962C8B-B14F-4D97-AF65-F5344CB8AC3E}">
        <p14:creationId xmlns:p14="http://schemas.microsoft.com/office/powerpoint/2010/main" val="244742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2F528B2-4D1B-64FA-4D3B-070F98FD6217}"/>
            </a:ext>
          </a:extLst>
        </p:cNvPr>
        <p:cNvGrpSpPr/>
        <p:nvPr/>
      </p:nvGrpSpPr>
      <p:grpSpPr>
        <a:xfrm>
          <a:off x="0" y="0"/>
          <a:ext cx="0" cy="0"/>
          <a:chOff x="0" y="0"/>
          <a:chExt cx="0" cy="0"/>
        </a:xfrm>
      </p:grpSpPr>
      <p:sp>
        <p:nvSpPr>
          <p:cNvPr id="139" name="Google Shape;139;g2bdeb4cd123_0_247">
            <a:extLst>
              <a:ext uri="{FF2B5EF4-FFF2-40B4-BE49-F238E27FC236}">
                <a16:creationId xmlns:a16="http://schemas.microsoft.com/office/drawing/2014/main" id="{CC07E210-F0C5-7995-1E12-9BB5FD26E29E}"/>
              </a:ext>
            </a:extLst>
          </p:cNvPr>
          <p:cNvSpPr txBox="1">
            <a:spLocks noGrp="1"/>
          </p:cNvSpPr>
          <p:nvPr>
            <p:ph type="title"/>
          </p:nvPr>
        </p:nvSpPr>
        <p:spPr>
          <a:xfrm>
            <a:off x="3905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sz="3500" b="1" dirty="0">
                <a:latin typeface="Arial Narrow" panose="020B0606020202030204" pitchFamily="34" charset="0"/>
                <a:ea typeface="Arial Narrow"/>
                <a:cs typeface="Mongolian Baiti" panose="03000500000000000000" pitchFamily="66" charset="0"/>
                <a:sym typeface="Arial Narrow"/>
              </a:rPr>
              <a:t>Related Work</a:t>
            </a:r>
            <a:endParaRPr sz="3500" b="1" u="sng" dirty="0">
              <a:latin typeface="Mongolian Baiti" panose="03000500000000000000" pitchFamily="66" charset="0"/>
              <a:ea typeface="Arial Narrow"/>
              <a:cs typeface="Mongolian Baiti" panose="03000500000000000000" pitchFamily="66" charset="0"/>
              <a:sym typeface="Arial Narrow"/>
            </a:endParaRPr>
          </a:p>
        </p:txBody>
      </p:sp>
      <p:sp>
        <p:nvSpPr>
          <p:cNvPr id="140" name="Google Shape;140;g2bdeb4cd123_0_247">
            <a:extLst>
              <a:ext uri="{FF2B5EF4-FFF2-40B4-BE49-F238E27FC236}">
                <a16:creationId xmlns:a16="http://schemas.microsoft.com/office/drawing/2014/main" id="{E389CA78-2578-F513-08C3-808F668D953A}"/>
              </a:ext>
            </a:extLst>
          </p:cNvPr>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CS6501 Project I PGP, ICER, VIT Bangalore</a:t>
            </a:r>
            <a:endParaRPr/>
          </a:p>
        </p:txBody>
      </p:sp>
      <p:sp>
        <p:nvSpPr>
          <p:cNvPr id="141" name="Google Shape;141;g2bdeb4cd123_0_247">
            <a:extLst>
              <a:ext uri="{FF2B5EF4-FFF2-40B4-BE49-F238E27FC236}">
                <a16:creationId xmlns:a16="http://schemas.microsoft.com/office/drawing/2014/main" id="{494CF1A3-D291-6A9C-24F8-0A6328ACFA29}"/>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graphicFrame>
        <p:nvGraphicFramePr>
          <p:cNvPr id="3" name="Table 2">
            <a:extLst>
              <a:ext uri="{FF2B5EF4-FFF2-40B4-BE49-F238E27FC236}">
                <a16:creationId xmlns:a16="http://schemas.microsoft.com/office/drawing/2014/main" id="{911DE623-1058-0897-671C-592828DBAB19}"/>
              </a:ext>
            </a:extLst>
          </p:cNvPr>
          <p:cNvGraphicFramePr>
            <a:graphicFrameLocks noGrp="1"/>
          </p:cNvGraphicFramePr>
          <p:nvPr>
            <p:extLst>
              <p:ext uri="{D42A27DB-BD31-4B8C-83A1-F6EECF244321}">
                <p14:modId xmlns:p14="http://schemas.microsoft.com/office/powerpoint/2010/main" val="3818578185"/>
              </p:ext>
            </p:extLst>
          </p:nvPr>
        </p:nvGraphicFramePr>
        <p:xfrm>
          <a:off x="390525" y="1242646"/>
          <a:ext cx="11308544" cy="5525569"/>
        </p:xfrm>
        <a:graphic>
          <a:graphicData uri="http://schemas.openxmlformats.org/drawingml/2006/table">
            <a:tbl>
              <a:tblPr firstRow="1" firstCol="1" bandRow="1">
                <a:tableStyleId>{5C22544A-7EE6-4342-B048-85BDC9FD1C3A}</a:tableStyleId>
              </a:tblPr>
              <a:tblGrid>
                <a:gridCol w="676910">
                  <a:extLst>
                    <a:ext uri="{9D8B030D-6E8A-4147-A177-3AD203B41FA5}">
                      <a16:colId xmlns:a16="http://schemas.microsoft.com/office/drawing/2014/main" val="3718884570"/>
                    </a:ext>
                  </a:extLst>
                </a:gridCol>
                <a:gridCol w="1205087">
                  <a:extLst>
                    <a:ext uri="{9D8B030D-6E8A-4147-A177-3AD203B41FA5}">
                      <a16:colId xmlns:a16="http://schemas.microsoft.com/office/drawing/2014/main" val="2361137265"/>
                    </a:ext>
                  </a:extLst>
                </a:gridCol>
                <a:gridCol w="1265551">
                  <a:extLst>
                    <a:ext uri="{9D8B030D-6E8A-4147-A177-3AD203B41FA5}">
                      <a16:colId xmlns:a16="http://schemas.microsoft.com/office/drawing/2014/main" val="1600902926"/>
                    </a:ext>
                  </a:extLst>
                </a:gridCol>
                <a:gridCol w="1596425">
                  <a:extLst>
                    <a:ext uri="{9D8B030D-6E8A-4147-A177-3AD203B41FA5}">
                      <a16:colId xmlns:a16="http://schemas.microsoft.com/office/drawing/2014/main" val="1172123639"/>
                    </a:ext>
                  </a:extLst>
                </a:gridCol>
                <a:gridCol w="1115230">
                  <a:extLst>
                    <a:ext uri="{9D8B030D-6E8A-4147-A177-3AD203B41FA5}">
                      <a16:colId xmlns:a16="http://schemas.microsoft.com/office/drawing/2014/main" val="2196223141"/>
                    </a:ext>
                  </a:extLst>
                </a:gridCol>
                <a:gridCol w="1367164">
                  <a:extLst>
                    <a:ext uri="{9D8B030D-6E8A-4147-A177-3AD203B41FA5}">
                      <a16:colId xmlns:a16="http://schemas.microsoft.com/office/drawing/2014/main" val="2246534660"/>
                    </a:ext>
                  </a:extLst>
                </a:gridCol>
                <a:gridCol w="1245395">
                  <a:extLst>
                    <a:ext uri="{9D8B030D-6E8A-4147-A177-3AD203B41FA5}">
                      <a16:colId xmlns:a16="http://schemas.microsoft.com/office/drawing/2014/main" val="2807289418"/>
                    </a:ext>
                  </a:extLst>
                </a:gridCol>
                <a:gridCol w="1375562">
                  <a:extLst>
                    <a:ext uri="{9D8B030D-6E8A-4147-A177-3AD203B41FA5}">
                      <a16:colId xmlns:a16="http://schemas.microsoft.com/office/drawing/2014/main" val="2181583114"/>
                    </a:ext>
                  </a:extLst>
                </a:gridCol>
                <a:gridCol w="1461220">
                  <a:extLst>
                    <a:ext uri="{9D8B030D-6E8A-4147-A177-3AD203B41FA5}">
                      <a16:colId xmlns:a16="http://schemas.microsoft.com/office/drawing/2014/main" val="521407225"/>
                    </a:ext>
                  </a:extLst>
                </a:gridCol>
              </a:tblGrid>
              <a:tr h="1136449">
                <a:tc>
                  <a:txBody>
                    <a:bodyPr/>
                    <a:lstStyle/>
                    <a:p>
                      <a:pPr marL="0" marR="228600" algn="just"/>
                      <a:r>
                        <a:rPr lang="en-US" sz="1600">
                          <a:effectLst/>
                        </a:rPr>
                        <a:t>S.No.</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Title of the Paper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Authors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Journal Name/Conference Title &amp; Publisher</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Year of Publication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Methodology used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Performance of the proposed algorithm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Limitations of the Research</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Future approach if any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2901648"/>
                  </a:ext>
                </a:extLst>
              </a:tr>
              <a:tr h="3693459">
                <a:tc>
                  <a:txBody>
                    <a:bodyPr/>
                    <a:lstStyle/>
                    <a:p>
                      <a:pPr marL="0" marR="228600" algn="just"/>
                      <a:r>
                        <a:rPr lang="en-US" sz="1600" dirty="0">
                          <a:effectLst/>
                        </a:rPr>
                        <a:t>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kern="1200" dirty="0">
                          <a:solidFill>
                            <a:schemeClr val="dk1"/>
                          </a:solidFill>
                          <a:effectLst/>
                          <a:latin typeface="+mn-lt"/>
                          <a:ea typeface="+mn-ea"/>
                          <a:cs typeface="+mn-cs"/>
                        </a:rPr>
                        <a:t>A study of LSTM optimisation for forecasting volatile time series data</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kern="1200" dirty="0">
                          <a:solidFill>
                            <a:schemeClr val="dk1"/>
                          </a:solidFill>
                          <a:effectLst/>
                          <a:latin typeface="+mn-lt"/>
                          <a:ea typeface="+mn-ea"/>
                          <a:cs typeface="+mn-cs"/>
                        </a:rPr>
                        <a:t>Taslim, D. G., </a:t>
                      </a:r>
                      <a:r>
                        <a:rPr lang="en-IN" sz="1600" kern="1200" dirty="0" err="1">
                          <a:solidFill>
                            <a:schemeClr val="dk1"/>
                          </a:solidFill>
                          <a:effectLst/>
                          <a:latin typeface="+mn-lt"/>
                          <a:ea typeface="+mn-ea"/>
                          <a:cs typeface="+mn-cs"/>
                        </a:rPr>
                        <a:t>Tjahyadi</a:t>
                      </a:r>
                      <a:r>
                        <a:rPr lang="en-IN" sz="1600" kern="1200" dirty="0">
                          <a:solidFill>
                            <a:schemeClr val="dk1"/>
                          </a:solidFill>
                          <a:effectLst/>
                          <a:latin typeface="+mn-lt"/>
                          <a:ea typeface="+mn-ea"/>
                          <a:cs typeface="+mn-cs"/>
                        </a:rPr>
                        <a:t>, H., &amp; </a:t>
                      </a:r>
                      <a:r>
                        <a:rPr lang="en-IN" sz="1600" kern="1200" dirty="0" err="1">
                          <a:solidFill>
                            <a:schemeClr val="dk1"/>
                          </a:solidFill>
                          <a:effectLst/>
                          <a:latin typeface="+mn-lt"/>
                          <a:ea typeface="+mn-ea"/>
                          <a:cs typeface="+mn-cs"/>
                        </a:rPr>
                        <a:t>Murwantara</a:t>
                      </a:r>
                      <a:r>
                        <a:rPr lang="en-IN" sz="1600" kern="1200" dirty="0">
                          <a:solidFill>
                            <a:schemeClr val="dk1"/>
                          </a:solidFill>
                          <a:effectLst/>
                          <a:latin typeface="+mn-lt"/>
                          <a:ea typeface="+mn-ea"/>
                          <a:cs typeface="+mn-cs"/>
                        </a:rPr>
                        <a:t>, I. 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kern="1200" dirty="0">
                          <a:solidFill>
                            <a:schemeClr val="dk1"/>
                          </a:solidFill>
                          <a:effectLst/>
                          <a:latin typeface="+mn-lt"/>
                          <a:ea typeface="+mn-ea"/>
                          <a:cs typeface="+mn-cs"/>
                        </a:rPr>
                        <a:t>2024 4th International Conference on Computer Communication and Artificial Intelligence (CCAI)</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a:effectLst/>
                        </a:rPr>
                        <a:t>2024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kern="1200" dirty="0">
                          <a:solidFill>
                            <a:schemeClr val="dk1"/>
                          </a:solidFill>
                          <a:effectLst/>
                          <a:latin typeface="+mn-lt"/>
                          <a:ea typeface="+mn-ea"/>
                          <a:cs typeface="+mn-cs"/>
                        </a:rPr>
                        <a:t>LSTM hyperparameter optimization, focusing on the effects of epochs, units, and optimizers (SGDM, Adam, and </a:t>
                      </a:r>
                      <a:r>
                        <a:rPr lang="en-IN" sz="1600" kern="1200" dirty="0" err="1">
                          <a:solidFill>
                            <a:schemeClr val="dk1"/>
                          </a:solidFill>
                          <a:effectLst/>
                          <a:latin typeface="+mn-lt"/>
                          <a:ea typeface="+mn-ea"/>
                          <a:cs typeface="+mn-cs"/>
                        </a:rPr>
                        <a:t>RMSProp</a:t>
                      </a:r>
                      <a:r>
                        <a:rPr lang="en-IN" sz="1600" kern="1200" dirty="0">
                          <a:solidFill>
                            <a:schemeClr val="dk1"/>
                          </a:solidFill>
                          <a:effectLst/>
                          <a:latin typeface="+mn-lt"/>
                          <a:ea typeface="+mn-ea"/>
                          <a:cs typeface="+mn-cs"/>
                        </a:rPr>
                        <a:t>) on forecasting volatile time series data</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kern="1200" dirty="0">
                          <a:solidFill>
                            <a:schemeClr val="dk1"/>
                          </a:solidFill>
                          <a:effectLst/>
                          <a:latin typeface="+mn-lt"/>
                          <a:ea typeface="+mn-ea"/>
                          <a:cs typeface="+mn-cs"/>
                        </a:rPr>
                        <a:t>Optimized LSTM with SGDM achieved the lowest RMSE of 0.51, significantly improving prediction accuracy with increased epochs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600" kern="1200" dirty="0">
                          <a:solidFill>
                            <a:schemeClr val="dk1"/>
                          </a:solidFill>
                          <a:effectLst/>
                          <a:latin typeface="+mn-lt"/>
                          <a:ea typeface="+mn-ea"/>
                          <a:cs typeface="+mn-cs"/>
                        </a:rPr>
                        <a:t>The study was limited by the use of a single volatile dataset and inconclusive results regarding the impact of the number of units on accuracy</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600" dirty="0">
                          <a:effectLst/>
                          <a:latin typeface="+mn-lt"/>
                          <a:ea typeface="Times New Roman" panose="02020603050405020304" pitchFamily="18" charset="0"/>
                          <a:cs typeface="Times New Roman" panose="02020603050405020304" pitchFamily="18" charset="0"/>
                        </a:rPr>
                        <a:t>Testing additional hyperparameters, modifying LSTM cell structures, and evaluating the models on other non-linear datasets</a:t>
                      </a:r>
                      <a:endParaRPr lang="en-IN" sz="16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45146354"/>
                  </a:ext>
                </a:extLst>
              </a:tr>
            </a:tbl>
          </a:graphicData>
        </a:graphic>
      </p:graphicFrame>
    </p:spTree>
    <p:extLst>
      <p:ext uri="{BB962C8B-B14F-4D97-AF65-F5344CB8AC3E}">
        <p14:creationId xmlns:p14="http://schemas.microsoft.com/office/powerpoint/2010/main" val="3297534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A2307AE-5F91-B742-308D-250DB0E5881C}"/>
            </a:ext>
          </a:extLst>
        </p:cNvPr>
        <p:cNvGrpSpPr/>
        <p:nvPr/>
      </p:nvGrpSpPr>
      <p:grpSpPr>
        <a:xfrm>
          <a:off x="0" y="0"/>
          <a:ext cx="0" cy="0"/>
          <a:chOff x="0" y="0"/>
          <a:chExt cx="0" cy="0"/>
        </a:xfrm>
      </p:grpSpPr>
      <p:sp>
        <p:nvSpPr>
          <p:cNvPr id="139" name="Google Shape;139;g2bdeb4cd123_0_247">
            <a:extLst>
              <a:ext uri="{FF2B5EF4-FFF2-40B4-BE49-F238E27FC236}">
                <a16:creationId xmlns:a16="http://schemas.microsoft.com/office/drawing/2014/main" id="{537BC1FF-95B8-313B-93CD-5A581AC2F3EE}"/>
              </a:ext>
            </a:extLst>
          </p:cNvPr>
          <p:cNvSpPr txBox="1">
            <a:spLocks noGrp="1"/>
          </p:cNvSpPr>
          <p:nvPr>
            <p:ph type="title"/>
          </p:nvPr>
        </p:nvSpPr>
        <p:spPr>
          <a:xfrm>
            <a:off x="3905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sz="3500" b="1" dirty="0">
                <a:latin typeface="Arial Narrow" panose="020B0606020202030204" pitchFamily="34" charset="0"/>
                <a:ea typeface="Arial Narrow"/>
                <a:cs typeface="Mongolian Baiti" panose="03000500000000000000" pitchFamily="66" charset="0"/>
                <a:sym typeface="Arial Narrow"/>
              </a:rPr>
              <a:t>Related Work</a:t>
            </a:r>
            <a:endParaRPr sz="3500" b="1" dirty="0">
              <a:latin typeface="Arial Narrow" panose="020B0606020202030204" pitchFamily="34" charset="0"/>
              <a:ea typeface="Arial Narrow"/>
              <a:cs typeface="Mongolian Baiti" panose="03000500000000000000" pitchFamily="66" charset="0"/>
              <a:sym typeface="Arial Narrow"/>
            </a:endParaRPr>
          </a:p>
        </p:txBody>
      </p:sp>
      <p:sp>
        <p:nvSpPr>
          <p:cNvPr id="140" name="Google Shape;140;g2bdeb4cd123_0_247">
            <a:extLst>
              <a:ext uri="{FF2B5EF4-FFF2-40B4-BE49-F238E27FC236}">
                <a16:creationId xmlns:a16="http://schemas.microsoft.com/office/drawing/2014/main" id="{861E18D2-1912-B7C5-61EE-809832F0D640}"/>
              </a:ext>
            </a:extLst>
          </p:cNvPr>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CS6501 Project I PGP, ICER, VIT Bangalore</a:t>
            </a:r>
            <a:endParaRPr/>
          </a:p>
        </p:txBody>
      </p:sp>
      <p:sp>
        <p:nvSpPr>
          <p:cNvPr id="141" name="Google Shape;141;g2bdeb4cd123_0_247">
            <a:extLst>
              <a:ext uri="{FF2B5EF4-FFF2-40B4-BE49-F238E27FC236}">
                <a16:creationId xmlns:a16="http://schemas.microsoft.com/office/drawing/2014/main" id="{B00FE9D3-01FB-D53A-7D11-A7BC07F391E7}"/>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graphicFrame>
        <p:nvGraphicFramePr>
          <p:cNvPr id="3" name="Table 2">
            <a:extLst>
              <a:ext uri="{FF2B5EF4-FFF2-40B4-BE49-F238E27FC236}">
                <a16:creationId xmlns:a16="http://schemas.microsoft.com/office/drawing/2014/main" id="{B93B8A70-7B0D-8546-29F6-97C2E08A46E0}"/>
              </a:ext>
            </a:extLst>
          </p:cNvPr>
          <p:cNvGraphicFramePr>
            <a:graphicFrameLocks noGrp="1"/>
          </p:cNvGraphicFramePr>
          <p:nvPr>
            <p:extLst>
              <p:ext uri="{D42A27DB-BD31-4B8C-83A1-F6EECF244321}">
                <p14:modId xmlns:p14="http://schemas.microsoft.com/office/powerpoint/2010/main" val="1585274520"/>
              </p:ext>
            </p:extLst>
          </p:nvPr>
        </p:nvGraphicFramePr>
        <p:xfrm>
          <a:off x="390525" y="1242646"/>
          <a:ext cx="11308544" cy="4829908"/>
        </p:xfrm>
        <a:graphic>
          <a:graphicData uri="http://schemas.openxmlformats.org/drawingml/2006/table">
            <a:tbl>
              <a:tblPr firstRow="1" firstCol="1" bandRow="1">
                <a:tableStyleId>{5C22544A-7EE6-4342-B048-85BDC9FD1C3A}</a:tableStyleId>
              </a:tblPr>
              <a:tblGrid>
                <a:gridCol w="676910">
                  <a:extLst>
                    <a:ext uri="{9D8B030D-6E8A-4147-A177-3AD203B41FA5}">
                      <a16:colId xmlns:a16="http://schemas.microsoft.com/office/drawing/2014/main" val="3718884570"/>
                    </a:ext>
                  </a:extLst>
                </a:gridCol>
                <a:gridCol w="1205087">
                  <a:extLst>
                    <a:ext uri="{9D8B030D-6E8A-4147-A177-3AD203B41FA5}">
                      <a16:colId xmlns:a16="http://schemas.microsoft.com/office/drawing/2014/main" val="2361137265"/>
                    </a:ext>
                  </a:extLst>
                </a:gridCol>
                <a:gridCol w="1265551">
                  <a:extLst>
                    <a:ext uri="{9D8B030D-6E8A-4147-A177-3AD203B41FA5}">
                      <a16:colId xmlns:a16="http://schemas.microsoft.com/office/drawing/2014/main" val="1600902926"/>
                    </a:ext>
                  </a:extLst>
                </a:gridCol>
                <a:gridCol w="1596425">
                  <a:extLst>
                    <a:ext uri="{9D8B030D-6E8A-4147-A177-3AD203B41FA5}">
                      <a16:colId xmlns:a16="http://schemas.microsoft.com/office/drawing/2014/main" val="1172123639"/>
                    </a:ext>
                  </a:extLst>
                </a:gridCol>
                <a:gridCol w="1115230">
                  <a:extLst>
                    <a:ext uri="{9D8B030D-6E8A-4147-A177-3AD203B41FA5}">
                      <a16:colId xmlns:a16="http://schemas.microsoft.com/office/drawing/2014/main" val="2196223141"/>
                    </a:ext>
                  </a:extLst>
                </a:gridCol>
                <a:gridCol w="1367164">
                  <a:extLst>
                    <a:ext uri="{9D8B030D-6E8A-4147-A177-3AD203B41FA5}">
                      <a16:colId xmlns:a16="http://schemas.microsoft.com/office/drawing/2014/main" val="2246534660"/>
                    </a:ext>
                  </a:extLst>
                </a:gridCol>
                <a:gridCol w="1245395">
                  <a:extLst>
                    <a:ext uri="{9D8B030D-6E8A-4147-A177-3AD203B41FA5}">
                      <a16:colId xmlns:a16="http://schemas.microsoft.com/office/drawing/2014/main" val="2807289418"/>
                    </a:ext>
                  </a:extLst>
                </a:gridCol>
                <a:gridCol w="1375562">
                  <a:extLst>
                    <a:ext uri="{9D8B030D-6E8A-4147-A177-3AD203B41FA5}">
                      <a16:colId xmlns:a16="http://schemas.microsoft.com/office/drawing/2014/main" val="2181583114"/>
                    </a:ext>
                  </a:extLst>
                </a:gridCol>
                <a:gridCol w="1461220">
                  <a:extLst>
                    <a:ext uri="{9D8B030D-6E8A-4147-A177-3AD203B41FA5}">
                      <a16:colId xmlns:a16="http://schemas.microsoft.com/office/drawing/2014/main" val="521407225"/>
                    </a:ext>
                  </a:extLst>
                </a:gridCol>
              </a:tblGrid>
              <a:tr h="1136449">
                <a:tc>
                  <a:txBody>
                    <a:bodyPr/>
                    <a:lstStyle/>
                    <a:p>
                      <a:pPr marL="0" marR="228600" algn="just"/>
                      <a:r>
                        <a:rPr lang="en-US" sz="1400">
                          <a:effectLst/>
                        </a:rPr>
                        <a:t>S.No.</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Title of the Paper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Authors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Journal Name/Conference Title &amp; Publisher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Year of Publication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Methodology used</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Performance of the proposed algorithm</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Limitations of the Research</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Future approach if any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2901648"/>
                  </a:ext>
                </a:extLst>
              </a:tr>
              <a:tr h="3693459">
                <a:tc>
                  <a:txBody>
                    <a:bodyPr/>
                    <a:lstStyle/>
                    <a:p>
                      <a:pPr marL="0" marR="228600" algn="just"/>
                      <a:r>
                        <a:rPr lang="en-US" sz="1400" dirty="0">
                          <a:effectLst/>
                        </a:rPr>
                        <a:t>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Time-series-based stock market analysis using machine learning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err="1">
                          <a:solidFill>
                            <a:schemeClr val="dk1"/>
                          </a:solidFill>
                          <a:effectLst/>
                          <a:latin typeface="+mn-lt"/>
                          <a:ea typeface="+mn-ea"/>
                          <a:cs typeface="+mn-cs"/>
                        </a:rPr>
                        <a:t>Amruth</a:t>
                      </a:r>
                      <a:r>
                        <a:rPr lang="en-IN" sz="1400" kern="1200" dirty="0">
                          <a:solidFill>
                            <a:schemeClr val="dk1"/>
                          </a:solidFill>
                          <a:effectLst/>
                          <a:latin typeface="+mn-lt"/>
                          <a:ea typeface="+mn-ea"/>
                          <a:cs typeface="+mn-cs"/>
                        </a:rPr>
                        <a:t>, S. J., </a:t>
                      </a:r>
                      <a:r>
                        <a:rPr lang="en-IN" sz="1400" kern="1200" dirty="0" err="1">
                          <a:solidFill>
                            <a:schemeClr val="dk1"/>
                          </a:solidFill>
                          <a:effectLst/>
                          <a:latin typeface="+mn-lt"/>
                          <a:ea typeface="+mn-ea"/>
                          <a:cs typeface="+mn-cs"/>
                        </a:rPr>
                        <a:t>Nigelesh</a:t>
                      </a:r>
                      <a:r>
                        <a:rPr lang="en-IN" sz="1400" kern="1200" dirty="0">
                          <a:solidFill>
                            <a:schemeClr val="dk1"/>
                          </a:solidFill>
                          <a:effectLst/>
                          <a:latin typeface="+mn-lt"/>
                          <a:ea typeface="+mn-ea"/>
                          <a:cs typeface="+mn-cs"/>
                        </a:rPr>
                        <a:t>, T., </a:t>
                      </a:r>
                      <a:r>
                        <a:rPr lang="en-IN" sz="1400" kern="1200" dirty="0" err="1">
                          <a:solidFill>
                            <a:schemeClr val="dk1"/>
                          </a:solidFill>
                          <a:effectLst/>
                          <a:latin typeface="+mn-lt"/>
                          <a:ea typeface="+mn-ea"/>
                          <a:cs typeface="+mn-cs"/>
                        </a:rPr>
                        <a:t>Shruthik</a:t>
                      </a:r>
                      <a:r>
                        <a:rPr lang="en-IN" sz="1400" kern="1200" dirty="0">
                          <a:solidFill>
                            <a:schemeClr val="dk1"/>
                          </a:solidFill>
                          <a:effectLst/>
                          <a:latin typeface="+mn-lt"/>
                          <a:ea typeface="+mn-ea"/>
                          <a:cs typeface="+mn-cs"/>
                        </a:rPr>
                        <a:t>, V. S., Reddy, V. S., &amp; </a:t>
                      </a:r>
                      <a:r>
                        <a:rPr lang="en-IN" sz="1400" kern="1200" dirty="0" err="1">
                          <a:solidFill>
                            <a:schemeClr val="dk1"/>
                          </a:solidFill>
                          <a:effectLst/>
                          <a:latin typeface="+mn-lt"/>
                          <a:ea typeface="+mn-ea"/>
                          <a:cs typeface="+mn-cs"/>
                        </a:rPr>
                        <a:t>Venugopalan</a:t>
                      </a:r>
                      <a:r>
                        <a:rPr lang="en-IN" sz="1400" kern="1200" dirty="0">
                          <a:solidFill>
                            <a:schemeClr val="dk1"/>
                          </a:solidFill>
                          <a:effectLst/>
                          <a:latin typeface="+mn-lt"/>
                          <a:ea typeface="+mn-ea"/>
                          <a:cs typeface="+mn-cs"/>
                        </a:rPr>
                        <a:t>, 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2024 15th International Conference on Computing Communication and Networking Technologies (ICCCNT)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US" sz="1400">
                          <a:effectLst/>
                        </a:rPr>
                        <a:t>2024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SVM, Logistic Regression, </a:t>
                      </a:r>
                      <a:r>
                        <a:rPr lang="en-IN" sz="1400" kern="1200" dirty="0" err="1">
                          <a:solidFill>
                            <a:schemeClr val="dk1"/>
                          </a:solidFill>
                          <a:effectLst/>
                          <a:latin typeface="+mn-lt"/>
                          <a:ea typeface="+mn-ea"/>
                          <a:cs typeface="+mn-cs"/>
                        </a:rPr>
                        <a:t>XGBoost</a:t>
                      </a:r>
                      <a:r>
                        <a:rPr lang="en-IN" sz="1400" kern="1200" dirty="0">
                          <a:solidFill>
                            <a:schemeClr val="dk1"/>
                          </a:solidFill>
                          <a:effectLst/>
                          <a:latin typeface="+mn-lt"/>
                          <a:ea typeface="+mn-ea"/>
                          <a:cs typeface="+mn-cs"/>
                        </a:rPr>
                        <a:t>, Naïve Bayes, Random Forest, and Gradient Boost, to analyze stock data</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err="1">
                          <a:solidFill>
                            <a:schemeClr val="dk1"/>
                          </a:solidFill>
                          <a:effectLst/>
                          <a:latin typeface="+mn-lt"/>
                          <a:ea typeface="+mn-ea"/>
                          <a:cs typeface="+mn-cs"/>
                        </a:rPr>
                        <a:t>XGBoost</a:t>
                      </a:r>
                      <a:r>
                        <a:rPr lang="en-IN" sz="1400" kern="1200" dirty="0">
                          <a:solidFill>
                            <a:schemeClr val="dk1"/>
                          </a:solidFill>
                          <a:effectLst/>
                          <a:latin typeface="+mn-lt"/>
                          <a:ea typeface="+mn-ea"/>
                          <a:cs typeface="+mn-cs"/>
                        </a:rPr>
                        <a:t> and Gradient Boost emerged as top-performing models across various stocks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The study's reliance on real-time data makes it challenging to designate a singular best model, as performance varies depending on market conditions and stock-specific factors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228600" algn="just"/>
                      <a:r>
                        <a:rPr lang="en-IN" sz="1400" kern="1200" dirty="0">
                          <a:solidFill>
                            <a:schemeClr val="dk1"/>
                          </a:solidFill>
                          <a:effectLst/>
                          <a:latin typeface="+mn-lt"/>
                          <a:ea typeface="+mn-ea"/>
                          <a:cs typeface="+mn-cs"/>
                        </a:rPr>
                        <a:t>Adding deep learning techniques and personalized features based on user portfolios to further enhance prediction accuracy and decision-making support</a:t>
                      </a:r>
                      <a:endParaRPr lang="en-IN" sz="14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45146354"/>
                  </a:ext>
                </a:extLst>
              </a:tr>
            </a:tbl>
          </a:graphicData>
        </a:graphic>
      </p:graphicFrame>
    </p:spTree>
    <p:extLst>
      <p:ext uri="{BB962C8B-B14F-4D97-AF65-F5344CB8AC3E}">
        <p14:creationId xmlns:p14="http://schemas.microsoft.com/office/powerpoint/2010/main" val="214869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Proposed Methodology</a:t>
            </a:r>
            <a:endParaRPr b="1" dirty="0">
              <a:latin typeface="Arial Narrow"/>
              <a:ea typeface="Arial Narrow"/>
              <a:cs typeface="Arial Narrow"/>
              <a:sym typeface="Arial Narrow"/>
            </a:endParaRPr>
          </a:p>
        </p:txBody>
      </p:sp>
      <p:sp>
        <p:nvSpPr>
          <p:cNvPr id="133" name="Google Shape;13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34" name="Google Shape;13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3" name="Picture 2">
            <a:extLst>
              <a:ext uri="{FF2B5EF4-FFF2-40B4-BE49-F238E27FC236}">
                <a16:creationId xmlns:a16="http://schemas.microsoft.com/office/drawing/2014/main" id="{290811D6-C67E-F3F7-1D69-433577899FE2}"/>
              </a:ext>
            </a:extLst>
          </p:cNvPr>
          <p:cNvPicPr>
            <a:picLocks noChangeAspect="1"/>
          </p:cNvPicPr>
          <p:nvPr/>
        </p:nvPicPr>
        <p:blipFill>
          <a:blip r:embed="rId3"/>
          <a:stretch>
            <a:fillRect/>
          </a:stretch>
        </p:blipFill>
        <p:spPr>
          <a:xfrm>
            <a:off x="2663687" y="1545720"/>
            <a:ext cx="5831577" cy="4339943"/>
          </a:xfrm>
          <a:prstGeom prst="rect">
            <a:avLst/>
          </a:prstGeom>
        </p:spPr>
      </p:pic>
      <p:sp>
        <p:nvSpPr>
          <p:cNvPr id="2" name="Rectangle 1">
            <a:extLst>
              <a:ext uri="{FF2B5EF4-FFF2-40B4-BE49-F238E27FC236}">
                <a16:creationId xmlns:a16="http://schemas.microsoft.com/office/drawing/2014/main" id="{24FFDD4D-3CA5-FEC1-A74A-FBCC9B0CBAE4}"/>
              </a:ext>
            </a:extLst>
          </p:cNvPr>
          <p:cNvSpPr/>
          <p:nvPr/>
        </p:nvSpPr>
        <p:spPr>
          <a:xfrm>
            <a:off x="6830646" y="3118338"/>
            <a:ext cx="1719385" cy="71901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17</a:t>
            </a:fld>
            <a:endParaRPr lang="en-IN"/>
          </a:p>
        </p:txBody>
      </p:sp>
      <p:sp>
        <p:nvSpPr>
          <p:cNvPr id="6" name="Google Shape;192;g2bdeb4cd123_0_237"/>
          <p:cNvSpPr txBox="1">
            <a:spLocks noGrp="1"/>
          </p:cNvSpPr>
          <p:nvPr>
            <p:ph idx="1"/>
          </p:nvPr>
        </p:nvSpPr>
        <p:spPr>
          <a:xfrm>
            <a:off x="472966" y="599090"/>
            <a:ext cx="10880834" cy="5577873"/>
          </a:xfrm>
          <a:prstGeom prst="rect">
            <a:avLst/>
          </a:prstGeom>
        </p:spPr>
        <p:txBody>
          <a:bodyPr spcFirstLastPara="1" wrap="square" lIns="91425" tIns="45700" rIns="91425" bIns="45700" anchor="t" anchorCtr="0">
            <a:normAutofit fontScale="92500"/>
          </a:bodyPr>
          <a:lstStyle/>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Load the Dataset</a:t>
            </a:r>
            <a:r>
              <a:rPr lang="en-US" dirty="0">
                <a:cs typeface="Mongolian Baiti" panose="03000500000000000000" pitchFamily="66" charset="0"/>
              </a:rPr>
              <a:t>: Load data into the environment using the Yahoo Finance API</a:t>
            </a:r>
            <a:endParaRPr dirty="0">
              <a:cs typeface="Mongolian Baiti" panose="03000500000000000000" pitchFamily="66" charset="0"/>
            </a:endParaRPr>
          </a:p>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Data Cleaning </a:t>
            </a:r>
            <a:r>
              <a:rPr lang="en-US" dirty="0">
                <a:cs typeface="Mongolian Baiti" panose="03000500000000000000" pitchFamily="66" charset="0"/>
              </a:rPr>
              <a:t>: Clean data, handle missing values, fill in gaps in dates to ensure continuity, scale/normalize data, etc.</a:t>
            </a:r>
            <a:endParaRPr dirty="0">
              <a:cs typeface="Mongolian Baiti" panose="03000500000000000000" pitchFamily="66" charset="0"/>
            </a:endParaRPr>
          </a:p>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Visualization</a:t>
            </a:r>
            <a:r>
              <a:rPr lang="en-US" dirty="0">
                <a:cs typeface="Mongolian Baiti" panose="03000500000000000000" pitchFamily="66" charset="0"/>
              </a:rPr>
              <a:t>: Create visualizations to explore data patterns and relationships. </a:t>
            </a:r>
            <a:endParaRPr dirty="0">
              <a:cs typeface="Mongolian Baiti" panose="03000500000000000000" pitchFamily="66" charset="0"/>
            </a:endParaRPr>
          </a:p>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Model Selection:</a:t>
            </a:r>
            <a:r>
              <a:rPr lang="en-US" dirty="0">
                <a:cs typeface="Mongolian Baiti" panose="03000500000000000000" pitchFamily="66" charset="0"/>
              </a:rPr>
              <a:t> Choose appropriate machine learning models for prediction.</a:t>
            </a:r>
            <a:endParaRPr dirty="0">
              <a:cs typeface="Mongolian Baiti" panose="03000500000000000000" pitchFamily="66" charset="0"/>
            </a:endParaRPr>
          </a:p>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Model Training</a:t>
            </a:r>
            <a:r>
              <a:rPr lang="en-US" dirty="0">
                <a:cs typeface="Mongolian Baiti" panose="03000500000000000000" pitchFamily="66" charset="0"/>
              </a:rPr>
              <a:t>: Train the selected models on the transformed dataset.</a:t>
            </a:r>
          </a:p>
          <a:p>
            <a:pPr marL="0" indent="0">
              <a:buClr>
                <a:schemeClr val="dk1"/>
              </a:buClr>
              <a:buSzPts val="1100"/>
              <a:buNone/>
            </a:pPr>
            <a:r>
              <a:rPr lang="en-US" b="1" dirty="0">
                <a:cs typeface="Mongolian Baiti" panose="03000500000000000000" pitchFamily="66" charset="0"/>
              </a:rPr>
              <a:t>Predictions:</a:t>
            </a:r>
            <a:r>
              <a:rPr lang="en-US" dirty="0">
                <a:cs typeface="Mongolian Baiti" panose="03000500000000000000" pitchFamily="66" charset="0"/>
              </a:rPr>
              <a:t> Make predictions on new or unseen data using the selected model. </a:t>
            </a:r>
            <a:endParaRPr dirty="0">
              <a:cs typeface="Mongolian Baiti" panose="03000500000000000000" pitchFamily="66" charset="0"/>
            </a:endParaRPr>
          </a:p>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Model Evaluation:</a:t>
            </a:r>
            <a:r>
              <a:rPr lang="en-US" dirty="0">
                <a:cs typeface="Mongolian Baiti" panose="03000500000000000000" pitchFamily="66" charset="0"/>
              </a:rPr>
              <a:t> Assess the performance of trained models using evaluation metrics.</a:t>
            </a:r>
            <a:endParaRPr dirty="0">
              <a:cs typeface="Mongolian Baiti" panose="03000500000000000000" pitchFamily="66" charset="0"/>
            </a:endParaRPr>
          </a:p>
          <a:p>
            <a:pPr marL="0" lvl="0" indent="0" algn="l" rtl="0">
              <a:spcBef>
                <a:spcPts val="1000"/>
              </a:spcBef>
              <a:spcAft>
                <a:spcPts val="0"/>
              </a:spcAft>
              <a:buClr>
                <a:schemeClr val="dk1"/>
              </a:buClr>
              <a:buSzPts val="1100"/>
              <a:buFont typeface="Arial"/>
              <a:buNone/>
            </a:pPr>
            <a:r>
              <a:rPr lang="en-US" b="1" dirty="0">
                <a:cs typeface="Mongolian Baiti" panose="03000500000000000000" pitchFamily="66" charset="0"/>
              </a:rPr>
              <a:t>Comparative Analysis</a:t>
            </a:r>
            <a:r>
              <a:rPr lang="en-US" dirty="0">
                <a:cs typeface="Mongolian Baiti" panose="03000500000000000000" pitchFamily="66" charset="0"/>
              </a:rPr>
              <a:t>: Compare the performance of multiple models.</a:t>
            </a:r>
            <a:endParaRPr dirty="0">
              <a:cs typeface="Mongolian Baiti" panose="03000500000000000000" pitchFamily="66" charset="0"/>
            </a:endParaRPr>
          </a:p>
          <a:p>
            <a:pPr marL="0" lvl="0" indent="0" algn="l" rtl="0">
              <a:spcBef>
                <a:spcPts val="1000"/>
              </a:spcBef>
              <a:spcAft>
                <a:spcPts val="0"/>
              </a:spcAft>
              <a:buNone/>
            </a:pPr>
            <a:endParaRPr dirty="0"/>
          </a:p>
        </p:txBody>
      </p:sp>
    </p:spTree>
    <p:extLst>
      <p:ext uri="{BB962C8B-B14F-4D97-AF65-F5344CB8AC3E}">
        <p14:creationId xmlns:p14="http://schemas.microsoft.com/office/powerpoint/2010/main" val="2870615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Dataset</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p:txBody>
          <a:bodyPr>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latin typeface="Arial Narrow"/>
                <a:ea typeface="Arial Narrow"/>
                <a:cs typeface="Arial Narrow"/>
                <a:sym typeface="Arial Narrow"/>
              </a:rPr>
              <a:t>Source of the Dataset: </a:t>
            </a:r>
            <a:r>
              <a:rPr lang="en-US" dirty="0">
                <a:latin typeface="Arial Narrow" panose="020B0606020202030204" pitchFamily="34" charset="0"/>
                <a:hlinkClick r:id="rId2"/>
              </a:rPr>
              <a:t>Yahoo Finance API</a:t>
            </a:r>
            <a:endParaRPr lang="en-US"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No. of Observations: 5951 per company</a:t>
            </a:r>
            <a:endParaRPr lang="en-US"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Column/Feature Details: </a:t>
            </a:r>
            <a:r>
              <a:rPr lang="en-US" sz="2200" dirty="0"/>
              <a:t>Date, Ticker, Open, Close, Adj Close, High, Low, Volume, APS, Gold Price, USD to INR, S&amp;P 500 </a:t>
            </a:r>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Details about the columns:</a:t>
            </a:r>
          </a:p>
          <a:p>
            <a:pPr marL="685800" lvl="1" indent="-228600">
              <a:spcBef>
                <a:spcPts val="1000"/>
              </a:spcBef>
              <a:buSzPts val="2800"/>
            </a:pPr>
            <a:r>
              <a:rPr lang="en-US" b="1" dirty="0">
                <a:latin typeface="Arial Narrow"/>
                <a:ea typeface="Arial Narrow"/>
                <a:cs typeface="Arial Narrow"/>
                <a:sym typeface="Arial Narrow"/>
              </a:rPr>
              <a:t>Date</a:t>
            </a:r>
            <a:r>
              <a:rPr lang="en-US" dirty="0">
                <a:latin typeface="Arial Narrow"/>
                <a:ea typeface="Arial Narrow"/>
                <a:cs typeface="Arial Narrow"/>
                <a:sym typeface="Arial Narrow"/>
              </a:rPr>
              <a:t>: Discrete (time-series feature)</a:t>
            </a:r>
          </a:p>
          <a:p>
            <a:pPr marL="685800" lvl="1" indent="-228600">
              <a:spcBef>
                <a:spcPts val="1000"/>
              </a:spcBef>
              <a:buSzPts val="2800"/>
            </a:pPr>
            <a:r>
              <a:rPr lang="en-US" dirty="0">
                <a:latin typeface="Arial Narrow"/>
                <a:ea typeface="Arial Narrow"/>
                <a:cs typeface="Arial Narrow"/>
                <a:sym typeface="Arial Narrow"/>
              </a:rPr>
              <a:t>Price-related columns (</a:t>
            </a:r>
            <a:r>
              <a:rPr lang="en-US" b="1" dirty="0">
                <a:latin typeface="Arial Narrow"/>
                <a:ea typeface="Arial Narrow"/>
                <a:cs typeface="Arial Narrow"/>
                <a:sym typeface="Arial Narrow"/>
              </a:rPr>
              <a:t>Adj</a:t>
            </a:r>
            <a:r>
              <a:rPr lang="en-US" dirty="0">
                <a:latin typeface="Arial Narrow"/>
                <a:ea typeface="Arial Narrow"/>
                <a:cs typeface="Arial Narrow"/>
                <a:sym typeface="Arial Narrow"/>
              </a:rPr>
              <a:t> </a:t>
            </a:r>
            <a:r>
              <a:rPr lang="en-US" b="1" dirty="0">
                <a:latin typeface="Arial Narrow"/>
                <a:ea typeface="Arial Narrow"/>
                <a:cs typeface="Arial Narrow"/>
                <a:sym typeface="Arial Narrow"/>
              </a:rPr>
              <a:t>Close</a:t>
            </a:r>
            <a:r>
              <a:rPr lang="en-US" dirty="0">
                <a:latin typeface="Arial Narrow"/>
                <a:ea typeface="Arial Narrow"/>
                <a:cs typeface="Arial Narrow"/>
                <a:sym typeface="Arial Narrow"/>
              </a:rPr>
              <a:t>, </a:t>
            </a:r>
            <a:r>
              <a:rPr lang="en-US" b="1" dirty="0">
                <a:latin typeface="Arial Narrow"/>
                <a:ea typeface="Arial Narrow"/>
                <a:cs typeface="Arial Narrow"/>
                <a:sym typeface="Arial Narrow"/>
              </a:rPr>
              <a:t>Close</a:t>
            </a:r>
            <a:r>
              <a:rPr lang="en-US" dirty="0">
                <a:latin typeface="Arial Narrow"/>
                <a:ea typeface="Arial Narrow"/>
                <a:cs typeface="Arial Narrow"/>
                <a:sym typeface="Arial Narrow"/>
              </a:rPr>
              <a:t>, </a:t>
            </a:r>
            <a:r>
              <a:rPr lang="en-US" b="1" dirty="0">
                <a:latin typeface="Arial Narrow"/>
                <a:ea typeface="Arial Narrow"/>
                <a:cs typeface="Arial Narrow"/>
                <a:sym typeface="Arial Narrow"/>
              </a:rPr>
              <a:t>High</a:t>
            </a:r>
            <a:r>
              <a:rPr lang="en-US" dirty="0">
                <a:latin typeface="Arial Narrow"/>
                <a:ea typeface="Arial Narrow"/>
                <a:cs typeface="Arial Narrow"/>
                <a:sym typeface="Arial Narrow"/>
              </a:rPr>
              <a:t>, </a:t>
            </a:r>
            <a:r>
              <a:rPr lang="en-US" b="1" dirty="0">
                <a:latin typeface="Arial Narrow"/>
                <a:ea typeface="Arial Narrow"/>
                <a:cs typeface="Arial Narrow"/>
                <a:sym typeface="Arial Narrow"/>
              </a:rPr>
              <a:t>Low</a:t>
            </a:r>
            <a:r>
              <a:rPr lang="en-US" dirty="0">
                <a:latin typeface="Arial Narrow"/>
                <a:ea typeface="Arial Narrow"/>
                <a:cs typeface="Arial Narrow"/>
                <a:sym typeface="Arial Narrow"/>
              </a:rPr>
              <a:t>, </a:t>
            </a:r>
            <a:r>
              <a:rPr lang="en-US" b="1" dirty="0">
                <a:latin typeface="Arial Narrow"/>
                <a:ea typeface="Arial Narrow"/>
                <a:cs typeface="Arial Narrow"/>
                <a:sym typeface="Arial Narrow"/>
              </a:rPr>
              <a:t>Open</a:t>
            </a:r>
            <a:r>
              <a:rPr lang="en-US" dirty="0">
                <a:latin typeface="Arial Narrow"/>
                <a:ea typeface="Arial Narrow"/>
                <a:cs typeface="Arial Narrow"/>
                <a:sym typeface="Arial Narrow"/>
              </a:rPr>
              <a:t>): Continuous</a:t>
            </a:r>
          </a:p>
          <a:p>
            <a:pPr marL="685800" lvl="1" indent="-228600">
              <a:spcBef>
                <a:spcPts val="1000"/>
              </a:spcBef>
              <a:buSzPts val="2800"/>
            </a:pPr>
            <a:r>
              <a:rPr lang="en-US" b="1" dirty="0">
                <a:latin typeface="Arial Narrow"/>
                <a:ea typeface="Arial Narrow"/>
                <a:cs typeface="Arial Narrow"/>
                <a:sym typeface="Arial Narrow"/>
              </a:rPr>
              <a:t>Volume</a:t>
            </a:r>
            <a:r>
              <a:rPr lang="en-US" dirty="0">
                <a:latin typeface="Arial Narrow"/>
                <a:ea typeface="Arial Narrow"/>
                <a:cs typeface="Arial Narrow"/>
                <a:sym typeface="Arial Narrow"/>
              </a:rPr>
              <a:t>: Discrete (countable values)</a:t>
            </a:r>
          </a:p>
          <a:p>
            <a:pPr marL="0" indent="0">
              <a:buNone/>
            </a:pPr>
            <a:br>
              <a:rPr lang="en-US" dirty="0"/>
            </a:br>
            <a:endParaRPr lang="en-US"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spTree>
    <p:extLst>
      <p:ext uri="{BB962C8B-B14F-4D97-AF65-F5344CB8AC3E}">
        <p14:creationId xmlns:p14="http://schemas.microsoft.com/office/powerpoint/2010/main" val="2913472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40D22-B20A-BAE9-3573-4B05A39F6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9BA63-5E65-E148-5E39-A5FCFDE6DA66}"/>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Dataset</a:t>
            </a:r>
            <a:endParaRPr lang="en-IN" b="1" dirty="0">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CB647285-378E-11B6-E4F4-2F3EE81BC583}"/>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005EC222-F7C9-8153-B785-28F5CD973B65}"/>
              </a:ext>
            </a:extLst>
          </p:cNvPr>
          <p:cNvSpPr>
            <a:spLocks noGrp="1"/>
          </p:cNvSpPr>
          <p:nvPr>
            <p:ph type="sldNum" sz="quarter" idx="12"/>
          </p:nvPr>
        </p:nvSpPr>
        <p:spPr/>
        <p:txBody>
          <a:bodyPr/>
          <a:lstStyle/>
          <a:p>
            <a:fld id="{90EDC104-672A-4227-99C4-0E2CC007FDBA}" type="slidenum">
              <a:rPr lang="en-IN" smtClean="0"/>
              <a:t>19</a:t>
            </a:fld>
            <a:endParaRPr lang="en-IN"/>
          </a:p>
        </p:txBody>
      </p:sp>
      <p:pic>
        <p:nvPicPr>
          <p:cNvPr id="9" name="Picture 8">
            <a:extLst>
              <a:ext uri="{FF2B5EF4-FFF2-40B4-BE49-F238E27FC236}">
                <a16:creationId xmlns:a16="http://schemas.microsoft.com/office/drawing/2014/main" id="{97617CBF-926E-AB18-5F89-AA96FD327A40}"/>
              </a:ext>
            </a:extLst>
          </p:cNvPr>
          <p:cNvPicPr>
            <a:picLocks noChangeAspect="1"/>
          </p:cNvPicPr>
          <p:nvPr/>
        </p:nvPicPr>
        <p:blipFill>
          <a:blip r:embed="rId2"/>
          <a:stretch>
            <a:fillRect/>
          </a:stretch>
        </p:blipFill>
        <p:spPr>
          <a:xfrm>
            <a:off x="301172" y="1450290"/>
            <a:ext cx="11745964" cy="4906060"/>
          </a:xfrm>
          <a:prstGeom prst="rect">
            <a:avLst/>
          </a:prstGeom>
        </p:spPr>
      </p:pic>
    </p:spTree>
    <p:extLst>
      <p:ext uri="{BB962C8B-B14F-4D97-AF65-F5344CB8AC3E}">
        <p14:creationId xmlns:p14="http://schemas.microsoft.com/office/powerpoint/2010/main" val="132015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744B-76A8-0C49-D6B6-C7FD37416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DF3D8-21B8-1AC8-F89C-E20D9A0B78F2}"/>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ED63AB82-7FEE-2A03-6830-D6231BEBE3C1}"/>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500F2D69-007E-18C4-CA8F-93DA20F0FBFB}"/>
              </a:ext>
            </a:extLst>
          </p:cNvPr>
          <p:cNvSpPr>
            <a:spLocks noGrp="1"/>
          </p:cNvSpPr>
          <p:nvPr>
            <p:ph type="sldNum" sz="quarter" idx="12"/>
          </p:nvPr>
        </p:nvSpPr>
        <p:spPr/>
        <p:txBody>
          <a:bodyPr/>
          <a:lstStyle/>
          <a:p>
            <a:fld id="{90EDC104-672A-4227-99C4-0E2CC007FDBA}" type="slidenum">
              <a:rPr lang="en-IN" smtClean="0"/>
              <a:t>20</a:t>
            </a:fld>
            <a:endParaRPr lang="en-IN"/>
          </a:p>
        </p:txBody>
      </p:sp>
      <p:pic>
        <p:nvPicPr>
          <p:cNvPr id="8" name="Picture 7">
            <a:extLst>
              <a:ext uri="{FF2B5EF4-FFF2-40B4-BE49-F238E27FC236}">
                <a16:creationId xmlns:a16="http://schemas.microsoft.com/office/drawing/2014/main" id="{7C88C406-76A5-E364-464D-9BBCCA204B72}"/>
              </a:ext>
            </a:extLst>
          </p:cNvPr>
          <p:cNvPicPr>
            <a:picLocks noChangeAspect="1"/>
          </p:cNvPicPr>
          <p:nvPr/>
        </p:nvPicPr>
        <p:blipFill>
          <a:blip r:embed="rId2"/>
          <a:stretch>
            <a:fillRect/>
          </a:stretch>
        </p:blipFill>
        <p:spPr>
          <a:xfrm>
            <a:off x="1473394" y="2995613"/>
            <a:ext cx="7716327" cy="2591162"/>
          </a:xfrm>
          <a:prstGeom prst="rect">
            <a:avLst/>
          </a:prstGeom>
        </p:spPr>
      </p:pic>
      <p:sp>
        <p:nvSpPr>
          <p:cNvPr id="10" name="TextBox 9">
            <a:extLst>
              <a:ext uri="{FF2B5EF4-FFF2-40B4-BE49-F238E27FC236}">
                <a16:creationId xmlns:a16="http://schemas.microsoft.com/office/drawing/2014/main" id="{DCD89A22-BC35-4E42-D6EC-E66A1145E425}"/>
              </a:ext>
            </a:extLst>
          </p:cNvPr>
          <p:cNvSpPr txBox="1"/>
          <p:nvPr/>
        </p:nvSpPr>
        <p:spPr>
          <a:xfrm>
            <a:off x="871537" y="1995205"/>
            <a:ext cx="6334125" cy="461665"/>
          </a:xfrm>
          <a:prstGeom prst="rect">
            <a:avLst/>
          </a:prstGeom>
          <a:noFill/>
        </p:spPr>
        <p:txBody>
          <a:bodyPr wrap="square" rtlCol="0">
            <a:spAutoFit/>
          </a:bodyPr>
          <a:lstStyle/>
          <a:p>
            <a:r>
              <a:rPr lang="en-US" sz="2400" dirty="0" err="1"/>
              <a:t>Analysing</a:t>
            </a:r>
            <a:r>
              <a:rPr lang="en-US" sz="2400" dirty="0"/>
              <a:t> the IT Sector as a whole…</a:t>
            </a:r>
            <a:endParaRPr lang="en-IN" sz="2400" dirty="0"/>
          </a:p>
        </p:txBody>
      </p:sp>
    </p:spTree>
    <p:extLst>
      <p:ext uri="{BB962C8B-B14F-4D97-AF65-F5344CB8AC3E}">
        <p14:creationId xmlns:p14="http://schemas.microsoft.com/office/powerpoint/2010/main" val="3149266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B0F51-A654-6035-5E1B-1E88803FA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39E8F-586C-D10F-00A5-1297A3692387}"/>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B41B6DDF-A574-ABD3-9E29-4A6BD5A213FB}"/>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D537C55E-7D74-D2B3-2039-85B66795ED92}"/>
              </a:ext>
            </a:extLst>
          </p:cNvPr>
          <p:cNvSpPr>
            <a:spLocks noGrp="1"/>
          </p:cNvSpPr>
          <p:nvPr>
            <p:ph type="sldNum" sz="quarter" idx="12"/>
          </p:nvPr>
        </p:nvSpPr>
        <p:spPr/>
        <p:txBody>
          <a:bodyPr/>
          <a:lstStyle/>
          <a:p>
            <a:fld id="{90EDC104-672A-4227-99C4-0E2CC007FDBA}" type="slidenum">
              <a:rPr lang="en-IN" smtClean="0"/>
              <a:t>21</a:t>
            </a:fld>
            <a:endParaRPr lang="en-IN"/>
          </a:p>
        </p:txBody>
      </p:sp>
      <p:sp>
        <p:nvSpPr>
          <p:cNvPr id="3" name="TextBox 2">
            <a:extLst>
              <a:ext uri="{FF2B5EF4-FFF2-40B4-BE49-F238E27FC236}">
                <a16:creationId xmlns:a16="http://schemas.microsoft.com/office/drawing/2014/main" id="{CAF86AC8-4753-8377-BA58-CBA346951B3E}"/>
              </a:ext>
            </a:extLst>
          </p:cNvPr>
          <p:cNvSpPr txBox="1"/>
          <p:nvPr/>
        </p:nvSpPr>
        <p:spPr>
          <a:xfrm>
            <a:off x="838200" y="1400176"/>
            <a:ext cx="10029825" cy="4154984"/>
          </a:xfrm>
          <a:prstGeom prst="rect">
            <a:avLst/>
          </a:prstGeom>
          <a:noFill/>
        </p:spPr>
        <p:txBody>
          <a:bodyPr wrap="square" rtlCol="0">
            <a:spAutoFit/>
          </a:bodyPr>
          <a:lstStyle/>
          <a:p>
            <a:r>
              <a:rPr lang="en-US" sz="2400" dirty="0"/>
              <a:t>Time series analysis methods are statistical techniques used to analyze and forecast time-dependent data.</a:t>
            </a:r>
          </a:p>
          <a:p>
            <a:endParaRPr lang="en-US" sz="2400" dirty="0"/>
          </a:p>
          <a:p>
            <a:r>
              <a:rPr lang="en-IN" sz="2400" b="1" dirty="0"/>
              <a:t>ARIMA</a:t>
            </a:r>
            <a:r>
              <a:rPr lang="en-IN" sz="2400" dirty="0"/>
              <a:t>(p, d, q):</a:t>
            </a:r>
          </a:p>
          <a:p>
            <a:pPr marL="285750" indent="-285750">
              <a:buFont typeface="Arial" panose="020B0604020202020204" pitchFamily="34" charset="0"/>
              <a:buChar char="•"/>
            </a:pPr>
            <a:r>
              <a:rPr lang="en-IN" sz="2400" dirty="0"/>
              <a:t>p: Order of the autoregressive part</a:t>
            </a:r>
          </a:p>
          <a:p>
            <a:pPr marL="285750" indent="-285750">
              <a:buFont typeface="Arial" panose="020B0604020202020204" pitchFamily="34" charset="0"/>
              <a:buChar char="•"/>
            </a:pPr>
            <a:r>
              <a:rPr lang="en-IN" sz="2400" dirty="0"/>
              <a:t>d: Degree of differencing</a:t>
            </a:r>
          </a:p>
          <a:p>
            <a:pPr marL="285750" indent="-285750">
              <a:buFont typeface="Arial" panose="020B0604020202020204" pitchFamily="34" charset="0"/>
              <a:buChar char="•"/>
            </a:pPr>
            <a:r>
              <a:rPr lang="en-IN" sz="2400" dirty="0"/>
              <a:t>q: Order of the moving average part</a:t>
            </a:r>
          </a:p>
          <a:p>
            <a:pPr marL="285750" indent="-285750">
              <a:buFont typeface="Arial" panose="020B0604020202020204" pitchFamily="34" charset="0"/>
              <a:buChar char="•"/>
            </a:pPr>
            <a:endParaRPr lang="en-IN" sz="2400" dirty="0"/>
          </a:p>
          <a:p>
            <a:r>
              <a:rPr lang="en-IN" sz="2400" b="1" dirty="0"/>
              <a:t>SARIMA</a:t>
            </a:r>
            <a:r>
              <a:rPr lang="en-IN" sz="2400" dirty="0"/>
              <a:t>(p, d, q)(P, D, Q)s:</a:t>
            </a:r>
          </a:p>
          <a:p>
            <a:pPr marL="285750" indent="-285750">
              <a:buFont typeface="Arial" panose="020B0604020202020204" pitchFamily="34" charset="0"/>
              <a:buChar char="•"/>
            </a:pPr>
            <a:r>
              <a:rPr lang="en-IN" sz="2400" dirty="0"/>
              <a:t>P, D, Q: </a:t>
            </a:r>
            <a:r>
              <a:rPr lang="en-US" sz="2400" dirty="0"/>
              <a:t>Seasonal autoregressive, differencing, and moving average orders</a:t>
            </a:r>
            <a:endParaRPr lang="en-IN" sz="2400" dirty="0"/>
          </a:p>
          <a:p>
            <a:pPr marL="285750" indent="-285750">
              <a:buFont typeface="Arial" panose="020B0604020202020204" pitchFamily="34" charset="0"/>
              <a:buChar char="•"/>
            </a:pPr>
            <a:r>
              <a:rPr lang="en-IN" sz="2400" dirty="0"/>
              <a:t>S: Seasonal period</a:t>
            </a:r>
          </a:p>
        </p:txBody>
      </p:sp>
    </p:spTree>
    <p:extLst>
      <p:ext uri="{BB962C8B-B14F-4D97-AF65-F5344CB8AC3E}">
        <p14:creationId xmlns:p14="http://schemas.microsoft.com/office/powerpoint/2010/main" val="1277716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7BF0B-AB65-1904-787B-FC64F9D97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DD316-FB55-9543-6990-4E4354ACF884}"/>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a:t>
            </a:r>
            <a:r>
              <a:rPr lang="en-US" b="1" dirty="0">
                <a:latin typeface="Mongolian Baiti" panose="03000500000000000000" pitchFamily="66" charset="0"/>
                <a:cs typeface="Mongolian Baiti" panose="03000500000000000000" pitchFamily="66" charset="0"/>
              </a:rPr>
              <a:t> </a:t>
            </a:r>
            <a:endParaRPr lang="en-IN" b="1" dirty="0">
              <a:solidFill>
                <a:srgbClr val="FF0000"/>
              </a:solidFill>
              <a:latin typeface="Mongolian Baiti" panose="03000500000000000000" pitchFamily="66"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026188EF-821F-9B52-528E-931D87BBCD3B}"/>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380F4A00-D4C6-B3F5-50F8-6BA74725319F}"/>
              </a:ext>
            </a:extLst>
          </p:cNvPr>
          <p:cNvSpPr>
            <a:spLocks noGrp="1"/>
          </p:cNvSpPr>
          <p:nvPr>
            <p:ph type="sldNum" sz="quarter" idx="12"/>
          </p:nvPr>
        </p:nvSpPr>
        <p:spPr/>
        <p:txBody>
          <a:bodyPr/>
          <a:lstStyle/>
          <a:p>
            <a:fld id="{90EDC104-672A-4227-99C4-0E2CC007FDBA}" type="slidenum">
              <a:rPr lang="en-IN" smtClean="0"/>
              <a:t>22</a:t>
            </a:fld>
            <a:endParaRPr lang="en-IN"/>
          </a:p>
        </p:txBody>
      </p:sp>
      <p:sp>
        <p:nvSpPr>
          <p:cNvPr id="7" name="Content Placeholder 6">
            <a:extLst>
              <a:ext uri="{FF2B5EF4-FFF2-40B4-BE49-F238E27FC236}">
                <a16:creationId xmlns:a16="http://schemas.microsoft.com/office/drawing/2014/main" id="{CDF2C01E-83E0-9E17-6CBA-94BD54166558}"/>
              </a:ext>
            </a:extLst>
          </p:cNvPr>
          <p:cNvSpPr>
            <a:spLocks noGrp="1"/>
          </p:cNvSpPr>
          <p:nvPr>
            <p:ph idx="1"/>
          </p:nvPr>
        </p:nvSpPr>
        <p:spPr>
          <a:xfrm>
            <a:off x="681892" y="1387964"/>
            <a:ext cx="11033369" cy="4887790"/>
          </a:xfrm>
        </p:spPr>
        <p:txBody>
          <a:bodyPr/>
          <a:lstStyle/>
          <a:p>
            <a:pPr marL="0" indent="0">
              <a:buNone/>
            </a:pPr>
            <a:r>
              <a:rPr lang="en-US" dirty="0"/>
              <a:t>ARIMA (</a:t>
            </a:r>
            <a:r>
              <a:rPr lang="en-IN" dirty="0" err="1"/>
              <a:t>AutoRegressive</a:t>
            </a:r>
            <a:r>
              <a:rPr lang="en-IN" dirty="0"/>
              <a:t> Integrated Moving Average</a:t>
            </a:r>
            <a:r>
              <a:rPr lang="en-US" dirty="0"/>
              <a:t>)</a:t>
            </a:r>
            <a:endParaRPr lang="en-IN" dirty="0"/>
          </a:p>
        </p:txBody>
      </p:sp>
      <p:pic>
        <p:nvPicPr>
          <p:cNvPr id="6" name="Picture 5">
            <a:extLst>
              <a:ext uri="{FF2B5EF4-FFF2-40B4-BE49-F238E27FC236}">
                <a16:creationId xmlns:a16="http://schemas.microsoft.com/office/drawing/2014/main" id="{B61E3EFC-00A5-3E7C-14F9-31A8B18945B1}"/>
              </a:ext>
            </a:extLst>
          </p:cNvPr>
          <p:cNvPicPr>
            <a:picLocks noChangeAspect="1"/>
          </p:cNvPicPr>
          <p:nvPr/>
        </p:nvPicPr>
        <p:blipFill>
          <a:blip r:embed="rId2"/>
          <a:stretch>
            <a:fillRect/>
          </a:stretch>
        </p:blipFill>
        <p:spPr>
          <a:xfrm>
            <a:off x="5868833" y="2625969"/>
            <a:ext cx="5706271" cy="3410426"/>
          </a:xfrm>
          <a:prstGeom prst="rect">
            <a:avLst/>
          </a:prstGeom>
        </p:spPr>
      </p:pic>
      <p:pic>
        <p:nvPicPr>
          <p:cNvPr id="9" name="Picture 8">
            <a:extLst>
              <a:ext uri="{FF2B5EF4-FFF2-40B4-BE49-F238E27FC236}">
                <a16:creationId xmlns:a16="http://schemas.microsoft.com/office/drawing/2014/main" id="{C560A68E-F38B-BC90-446A-FBABD79600BA}"/>
              </a:ext>
            </a:extLst>
          </p:cNvPr>
          <p:cNvPicPr>
            <a:picLocks noChangeAspect="1"/>
          </p:cNvPicPr>
          <p:nvPr/>
        </p:nvPicPr>
        <p:blipFill>
          <a:blip r:embed="rId3"/>
          <a:stretch>
            <a:fillRect/>
          </a:stretch>
        </p:blipFill>
        <p:spPr>
          <a:xfrm>
            <a:off x="5957277" y="1933091"/>
            <a:ext cx="3812160" cy="639459"/>
          </a:xfrm>
          <a:prstGeom prst="rect">
            <a:avLst/>
          </a:prstGeom>
        </p:spPr>
      </p:pic>
      <p:pic>
        <p:nvPicPr>
          <p:cNvPr id="12" name="Picture 11">
            <a:extLst>
              <a:ext uri="{FF2B5EF4-FFF2-40B4-BE49-F238E27FC236}">
                <a16:creationId xmlns:a16="http://schemas.microsoft.com/office/drawing/2014/main" id="{56A34973-55B4-52A7-27D1-3DA63F6FB0B4}"/>
              </a:ext>
            </a:extLst>
          </p:cNvPr>
          <p:cNvPicPr>
            <a:picLocks noChangeAspect="1"/>
          </p:cNvPicPr>
          <p:nvPr/>
        </p:nvPicPr>
        <p:blipFill>
          <a:blip r:embed="rId4"/>
          <a:stretch>
            <a:fillRect/>
          </a:stretch>
        </p:blipFill>
        <p:spPr>
          <a:xfrm>
            <a:off x="1895873" y="2252820"/>
            <a:ext cx="3771144" cy="3038195"/>
          </a:xfrm>
          <a:prstGeom prst="rect">
            <a:avLst/>
          </a:prstGeom>
        </p:spPr>
      </p:pic>
    </p:spTree>
    <p:extLst>
      <p:ext uri="{BB962C8B-B14F-4D97-AF65-F5344CB8AC3E}">
        <p14:creationId xmlns:p14="http://schemas.microsoft.com/office/powerpoint/2010/main" val="2899185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23</a:t>
            </a:fld>
            <a:endParaRPr lang="en-IN"/>
          </a:p>
        </p:txBody>
      </p:sp>
      <p:sp>
        <p:nvSpPr>
          <p:cNvPr id="7" name="Content Placeholder 6">
            <a:extLst>
              <a:ext uri="{FF2B5EF4-FFF2-40B4-BE49-F238E27FC236}">
                <a16:creationId xmlns:a16="http://schemas.microsoft.com/office/drawing/2014/main" id="{63267B87-095E-0A56-F6A5-9A06CA001B51}"/>
              </a:ext>
            </a:extLst>
          </p:cNvPr>
          <p:cNvSpPr>
            <a:spLocks noGrp="1"/>
          </p:cNvSpPr>
          <p:nvPr>
            <p:ph idx="1"/>
          </p:nvPr>
        </p:nvSpPr>
        <p:spPr>
          <a:xfrm>
            <a:off x="681893" y="1387964"/>
            <a:ext cx="1522046" cy="487729"/>
          </a:xfrm>
        </p:spPr>
        <p:txBody>
          <a:bodyPr/>
          <a:lstStyle/>
          <a:p>
            <a:pPr marL="0" indent="0">
              <a:buNone/>
            </a:pPr>
            <a:r>
              <a:rPr lang="en-US" dirty="0"/>
              <a:t>ARIMA</a:t>
            </a:r>
            <a:endParaRPr lang="en-IN" dirty="0"/>
          </a:p>
        </p:txBody>
      </p:sp>
      <p:pic>
        <p:nvPicPr>
          <p:cNvPr id="11" name="Picture 10">
            <a:extLst>
              <a:ext uri="{FF2B5EF4-FFF2-40B4-BE49-F238E27FC236}">
                <a16:creationId xmlns:a16="http://schemas.microsoft.com/office/drawing/2014/main" id="{63B99DFA-38E8-2FED-8539-462BC8F3B1C2}"/>
              </a:ext>
            </a:extLst>
          </p:cNvPr>
          <p:cNvPicPr>
            <a:picLocks noChangeAspect="1"/>
          </p:cNvPicPr>
          <p:nvPr/>
        </p:nvPicPr>
        <p:blipFill>
          <a:blip r:embed="rId2"/>
          <a:stretch>
            <a:fillRect/>
          </a:stretch>
        </p:blipFill>
        <p:spPr>
          <a:xfrm>
            <a:off x="2102338" y="1387964"/>
            <a:ext cx="7515986" cy="4997623"/>
          </a:xfrm>
          <a:prstGeom prst="rect">
            <a:avLst/>
          </a:prstGeom>
        </p:spPr>
      </p:pic>
    </p:spTree>
    <p:extLst>
      <p:ext uri="{BB962C8B-B14F-4D97-AF65-F5344CB8AC3E}">
        <p14:creationId xmlns:p14="http://schemas.microsoft.com/office/powerpoint/2010/main" val="1205931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5EC9E-EE62-D02B-D315-B04294C49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636F3-DB05-0B09-12D8-64A2271DD339}"/>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7F60F31F-9F8B-4599-1213-75585D8EE444}"/>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9636675F-051D-2B1A-77C9-B84A3F8FDB10}"/>
              </a:ext>
            </a:extLst>
          </p:cNvPr>
          <p:cNvSpPr>
            <a:spLocks noGrp="1"/>
          </p:cNvSpPr>
          <p:nvPr>
            <p:ph type="sldNum" sz="quarter" idx="12"/>
          </p:nvPr>
        </p:nvSpPr>
        <p:spPr/>
        <p:txBody>
          <a:bodyPr/>
          <a:lstStyle/>
          <a:p>
            <a:fld id="{90EDC104-672A-4227-99C4-0E2CC007FDBA}" type="slidenum">
              <a:rPr lang="en-IN" smtClean="0"/>
              <a:t>24</a:t>
            </a:fld>
            <a:endParaRPr lang="en-IN"/>
          </a:p>
        </p:txBody>
      </p:sp>
      <p:sp>
        <p:nvSpPr>
          <p:cNvPr id="7" name="Content Placeholder 6">
            <a:extLst>
              <a:ext uri="{FF2B5EF4-FFF2-40B4-BE49-F238E27FC236}">
                <a16:creationId xmlns:a16="http://schemas.microsoft.com/office/drawing/2014/main" id="{0D9CC7CB-2BCF-723E-7B25-670B92731ADF}"/>
              </a:ext>
            </a:extLst>
          </p:cNvPr>
          <p:cNvSpPr>
            <a:spLocks noGrp="1"/>
          </p:cNvSpPr>
          <p:nvPr>
            <p:ph idx="1"/>
          </p:nvPr>
        </p:nvSpPr>
        <p:spPr>
          <a:xfrm>
            <a:off x="681892" y="1387964"/>
            <a:ext cx="4128233" cy="793261"/>
          </a:xfrm>
        </p:spPr>
        <p:txBody>
          <a:bodyPr>
            <a:normAutofit/>
          </a:bodyPr>
          <a:lstStyle/>
          <a:p>
            <a:pPr marL="0" indent="0">
              <a:buNone/>
            </a:pPr>
            <a:r>
              <a:rPr lang="en-US" dirty="0"/>
              <a:t>SARIMA (Seasonal-ARIMA)</a:t>
            </a:r>
            <a:endParaRPr lang="en-IN" dirty="0"/>
          </a:p>
        </p:txBody>
      </p:sp>
      <p:pic>
        <p:nvPicPr>
          <p:cNvPr id="8" name="Picture 7">
            <a:extLst>
              <a:ext uri="{FF2B5EF4-FFF2-40B4-BE49-F238E27FC236}">
                <a16:creationId xmlns:a16="http://schemas.microsoft.com/office/drawing/2014/main" id="{ECFF8238-2892-D010-8EB1-FF1EDE0AA5C1}"/>
              </a:ext>
            </a:extLst>
          </p:cNvPr>
          <p:cNvPicPr>
            <a:picLocks noChangeAspect="1"/>
          </p:cNvPicPr>
          <p:nvPr/>
        </p:nvPicPr>
        <p:blipFill>
          <a:blip r:embed="rId2"/>
          <a:stretch>
            <a:fillRect/>
          </a:stretch>
        </p:blipFill>
        <p:spPr>
          <a:xfrm>
            <a:off x="1895873" y="2252820"/>
            <a:ext cx="3771144" cy="3038195"/>
          </a:xfrm>
          <a:prstGeom prst="rect">
            <a:avLst/>
          </a:prstGeom>
        </p:spPr>
      </p:pic>
      <p:pic>
        <p:nvPicPr>
          <p:cNvPr id="10" name="Picture 9">
            <a:extLst>
              <a:ext uri="{FF2B5EF4-FFF2-40B4-BE49-F238E27FC236}">
                <a16:creationId xmlns:a16="http://schemas.microsoft.com/office/drawing/2014/main" id="{5C54C213-C1FC-AF52-0A31-DC3B171D02AC}"/>
              </a:ext>
            </a:extLst>
          </p:cNvPr>
          <p:cNvPicPr>
            <a:picLocks noChangeAspect="1"/>
          </p:cNvPicPr>
          <p:nvPr/>
        </p:nvPicPr>
        <p:blipFill>
          <a:blip r:embed="rId3"/>
          <a:stretch>
            <a:fillRect/>
          </a:stretch>
        </p:blipFill>
        <p:spPr>
          <a:xfrm>
            <a:off x="5881041" y="1490361"/>
            <a:ext cx="5744377" cy="4563112"/>
          </a:xfrm>
          <a:prstGeom prst="rect">
            <a:avLst/>
          </a:prstGeom>
        </p:spPr>
      </p:pic>
    </p:spTree>
    <p:extLst>
      <p:ext uri="{BB962C8B-B14F-4D97-AF65-F5344CB8AC3E}">
        <p14:creationId xmlns:p14="http://schemas.microsoft.com/office/powerpoint/2010/main" val="3081682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F3C6C-12DE-D3BF-D7FF-FD4E622DF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8562B-E467-5479-0FC2-4FF9B3FED6FE}"/>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4B4C0550-1B92-B98E-EA14-E56089DEBD98}"/>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4B449096-C0F8-9F03-1176-63ECB93E511C}"/>
              </a:ext>
            </a:extLst>
          </p:cNvPr>
          <p:cNvSpPr>
            <a:spLocks noGrp="1"/>
          </p:cNvSpPr>
          <p:nvPr>
            <p:ph type="sldNum" sz="quarter" idx="12"/>
          </p:nvPr>
        </p:nvSpPr>
        <p:spPr/>
        <p:txBody>
          <a:bodyPr/>
          <a:lstStyle/>
          <a:p>
            <a:fld id="{90EDC104-672A-4227-99C4-0E2CC007FDBA}" type="slidenum">
              <a:rPr lang="en-IN" smtClean="0"/>
              <a:t>25</a:t>
            </a:fld>
            <a:endParaRPr lang="en-IN"/>
          </a:p>
        </p:txBody>
      </p:sp>
      <p:sp>
        <p:nvSpPr>
          <p:cNvPr id="7" name="Content Placeholder 6">
            <a:extLst>
              <a:ext uri="{FF2B5EF4-FFF2-40B4-BE49-F238E27FC236}">
                <a16:creationId xmlns:a16="http://schemas.microsoft.com/office/drawing/2014/main" id="{61103738-4F3B-606C-C753-6B67664D5A0E}"/>
              </a:ext>
            </a:extLst>
          </p:cNvPr>
          <p:cNvSpPr>
            <a:spLocks noGrp="1"/>
          </p:cNvSpPr>
          <p:nvPr>
            <p:ph idx="1"/>
          </p:nvPr>
        </p:nvSpPr>
        <p:spPr>
          <a:xfrm>
            <a:off x="681893" y="1387964"/>
            <a:ext cx="1522046" cy="487729"/>
          </a:xfrm>
        </p:spPr>
        <p:txBody>
          <a:bodyPr/>
          <a:lstStyle/>
          <a:p>
            <a:pPr marL="0" indent="0">
              <a:buNone/>
            </a:pPr>
            <a:r>
              <a:rPr lang="en-US" dirty="0"/>
              <a:t>SARIMA</a:t>
            </a:r>
            <a:endParaRPr lang="en-IN" dirty="0"/>
          </a:p>
        </p:txBody>
      </p:sp>
      <p:pic>
        <p:nvPicPr>
          <p:cNvPr id="6" name="Picture 5">
            <a:extLst>
              <a:ext uri="{FF2B5EF4-FFF2-40B4-BE49-F238E27FC236}">
                <a16:creationId xmlns:a16="http://schemas.microsoft.com/office/drawing/2014/main" id="{51F35FA1-5CB8-D700-DE9E-5F926058AAD0}"/>
              </a:ext>
            </a:extLst>
          </p:cNvPr>
          <p:cNvPicPr>
            <a:picLocks noChangeAspect="1"/>
          </p:cNvPicPr>
          <p:nvPr/>
        </p:nvPicPr>
        <p:blipFill>
          <a:blip r:embed="rId2"/>
          <a:stretch>
            <a:fillRect/>
          </a:stretch>
        </p:blipFill>
        <p:spPr>
          <a:xfrm>
            <a:off x="2446216" y="1387964"/>
            <a:ext cx="7528194" cy="5050262"/>
          </a:xfrm>
          <a:prstGeom prst="rect">
            <a:avLst/>
          </a:prstGeom>
        </p:spPr>
      </p:pic>
    </p:spTree>
    <p:extLst>
      <p:ext uri="{BB962C8B-B14F-4D97-AF65-F5344CB8AC3E}">
        <p14:creationId xmlns:p14="http://schemas.microsoft.com/office/powerpoint/2010/main" val="737501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A327B-60CD-EDF3-4F8D-5BBE49040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A5D3C-91BE-3AA4-1C52-4F2EA1A07872}"/>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33E9EFD5-90BA-2313-FD5D-435D4CA29480}"/>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F478574-97EB-011C-0BA4-10A76E9B478B}"/>
              </a:ext>
            </a:extLst>
          </p:cNvPr>
          <p:cNvSpPr>
            <a:spLocks noGrp="1"/>
          </p:cNvSpPr>
          <p:nvPr>
            <p:ph type="sldNum" sz="quarter" idx="12"/>
          </p:nvPr>
        </p:nvSpPr>
        <p:spPr/>
        <p:txBody>
          <a:bodyPr/>
          <a:lstStyle/>
          <a:p>
            <a:fld id="{90EDC104-672A-4227-99C4-0E2CC007FDBA}" type="slidenum">
              <a:rPr lang="en-IN" smtClean="0"/>
              <a:t>26</a:t>
            </a:fld>
            <a:endParaRPr lang="en-IN"/>
          </a:p>
        </p:txBody>
      </p:sp>
      <p:sp>
        <p:nvSpPr>
          <p:cNvPr id="7" name="Content Placeholder 6">
            <a:extLst>
              <a:ext uri="{FF2B5EF4-FFF2-40B4-BE49-F238E27FC236}">
                <a16:creationId xmlns:a16="http://schemas.microsoft.com/office/drawing/2014/main" id="{7342A2CB-45E7-6999-6C73-5FED1B748034}"/>
              </a:ext>
            </a:extLst>
          </p:cNvPr>
          <p:cNvSpPr>
            <a:spLocks noGrp="1"/>
          </p:cNvSpPr>
          <p:nvPr>
            <p:ph idx="1"/>
          </p:nvPr>
        </p:nvSpPr>
        <p:spPr>
          <a:xfrm>
            <a:off x="662842" y="1495914"/>
            <a:ext cx="11033857" cy="4860436"/>
          </a:xfrm>
        </p:spPr>
        <p:txBody>
          <a:bodyPr>
            <a:normAutofit/>
          </a:bodyPr>
          <a:lstStyle/>
          <a:p>
            <a:r>
              <a:rPr lang="en-US" sz="3200" dirty="0"/>
              <a:t>Recurrent Neural Networks (RNNs) are designed to capture long-term dependencies in sequential data</a:t>
            </a:r>
          </a:p>
          <a:p>
            <a:r>
              <a:rPr lang="en-US" sz="3200" dirty="0"/>
              <a:t>Key Parameters:</a:t>
            </a:r>
          </a:p>
          <a:p>
            <a:pPr lvl="1"/>
            <a:r>
              <a:rPr lang="en-IN" sz="2800" dirty="0"/>
              <a:t>‘units’: </a:t>
            </a:r>
            <a:r>
              <a:rPr lang="en-US" sz="2800" dirty="0"/>
              <a:t>number of units in the layer</a:t>
            </a:r>
            <a:endParaRPr lang="en-IN" sz="2800" dirty="0"/>
          </a:p>
          <a:p>
            <a:pPr lvl="1"/>
            <a:r>
              <a:rPr lang="en-IN" sz="2800" dirty="0"/>
              <a:t>‘</a:t>
            </a:r>
            <a:r>
              <a:rPr lang="en-IN" sz="2800" dirty="0" err="1"/>
              <a:t>learning_rate</a:t>
            </a:r>
            <a:r>
              <a:rPr lang="en-IN" sz="2800" dirty="0"/>
              <a:t>’: </a:t>
            </a:r>
            <a:r>
              <a:rPr lang="en-US" sz="2800" dirty="0"/>
              <a:t>controls the step size during training</a:t>
            </a:r>
            <a:endParaRPr lang="en-IN" sz="2800" dirty="0"/>
          </a:p>
          <a:p>
            <a:pPr lvl="1"/>
            <a:r>
              <a:rPr lang="en-IN" sz="2800" dirty="0"/>
              <a:t>‘</a:t>
            </a:r>
            <a:r>
              <a:rPr lang="en-IN" sz="2800" dirty="0" err="1"/>
              <a:t>batch_size</a:t>
            </a:r>
            <a:r>
              <a:rPr lang="en-IN" sz="2800" dirty="0"/>
              <a:t>’: </a:t>
            </a:r>
            <a:r>
              <a:rPr lang="en-US" sz="2800" dirty="0"/>
              <a:t>number of samples processed before updating the model's weights</a:t>
            </a:r>
            <a:endParaRPr lang="en-IN" sz="2800" dirty="0"/>
          </a:p>
          <a:p>
            <a:pPr lvl="1"/>
            <a:r>
              <a:rPr lang="en-IN" sz="2800" dirty="0"/>
              <a:t>‘epochs’: </a:t>
            </a:r>
            <a:r>
              <a:rPr lang="en-US" sz="2800" dirty="0"/>
              <a:t>number of times the entire dataset is passed through the model</a:t>
            </a:r>
          </a:p>
        </p:txBody>
      </p:sp>
    </p:spTree>
    <p:extLst>
      <p:ext uri="{BB962C8B-B14F-4D97-AF65-F5344CB8AC3E}">
        <p14:creationId xmlns:p14="http://schemas.microsoft.com/office/powerpoint/2010/main" val="3874808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4DAF1-F8B7-0BB7-7736-D8733D159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100AE-094B-592A-7873-B5A6F8578A40}"/>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D24200E6-0ECD-3DA6-FF36-6C794A6F8E93}"/>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18C5341D-3758-460B-BF3F-544BDB908701}"/>
              </a:ext>
            </a:extLst>
          </p:cNvPr>
          <p:cNvSpPr>
            <a:spLocks noGrp="1"/>
          </p:cNvSpPr>
          <p:nvPr>
            <p:ph type="sldNum" sz="quarter" idx="12"/>
          </p:nvPr>
        </p:nvSpPr>
        <p:spPr/>
        <p:txBody>
          <a:bodyPr/>
          <a:lstStyle/>
          <a:p>
            <a:fld id="{90EDC104-672A-4227-99C4-0E2CC007FDBA}" type="slidenum">
              <a:rPr lang="en-IN" smtClean="0"/>
              <a:t>27</a:t>
            </a:fld>
            <a:endParaRPr lang="en-IN"/>
          </a:p>
        </p:txBody>
      </p:sp>
      <p:sp>
        <p:nvSpPr>
          <p:cNvPr id="7" name="Content Placeholder 6">
            <a:extLst>
              <a:ext uri="{FF2B5EF4-FFF2-40B4-BE49-F238E27FC236}">
                <a16:creationId xmlns:a16="http://schemas.microsoft.com/office/drawing/2014/main" id="{C7B61A9F-918B-C27F-0F23-D58938947F88}"/>
              </a:ext>
            </a:extLst>
          </p:cNvPr>
          <p:cNvSpPr>
            <a:spLocks noGrp="1"/>
          </p:cNvSpPr>
          <p:nvPr>
            <p:ph idx="1"/>
          </p:nvPr>
        </p:nvSpPr>
        <p:spPr>
          <a:xfrm>
            <a:off x="681893" y="1387964"/>
            <a:ext cx="4288692" cy="487729"/>
          </a:xfrm>
        </p:spPr>
        <p:txBody>
          <a:bodyPr>
            <a:normAutofit/>
          </a:bodyPr>
          <a:lstStyle/>
          <a:p>
            <a:pPr marL="0" indent="0">
              <a:buNone/>
            </a:pPr>
            <a:r>
              <a:rPr lang="en-US" dirty="0"/>
              <a:t>GRU (</a:t>
            </a:r>
            <a:r>
              <a:rPr lang="en-IN" dirty="0"/>
              <a:t>Gated Recurrent Unit</a:t>
            </a:r>
            <a:r>
              <a:rPr lang="en-US" dirty="0"/>
              <a:t>)</a:t>
            </a:r>
            <a:endParaRPr lang="en-IN" dirty="0"/>
          </a:p>
        </p:txBody>
      </p:sp>
      <p:pic>
        <p:nvPicPr>
          <p:cNvPr id="10" name="Picture 9">
            <a:extLst>
              <a:ext uri="{FF2B5EF4-FFF2-40B4-BE49-F238E27FC236}">
                <a16:creationId xmlns:a16="http://schemas.microsoft.com/office/drawing/2014/main" id="{9FFAF59E-E60E-ED68-9AD5-E4209D2F809C}"/>
              </a:ext>
            </a:extLst>
          </p:cNvPr>
          <p:cNvPicPr>
            <a:picLocks noChangeAspect="1"/>
          </p:cNvPicPr>
          <p:nvPr/>
        </p:nvPicPr>
        <p:blipFill>
          <a:blip r:embed="rId2"/>
          <a:stretch>
            <a:fillRect/>
          </a:stretch>
        </p:blipFill>
        <p:spPr>
          <a:xfrm>
            <a:off x="682175" y="1875693"/>
            <a:ext cx="10854194" cy="4191223"/>
          </a:xfrm>
          <a:prstGeom prst="rect">
            <a:avLst/>
          </a:prstGeom>
        </p:spPr>
      </p:pic>
    </p:spTree>
    <p:extLst>
      <p:ext uri="{BB962C8B-B14F-4D97-AF65-F5344CB8AC3E}">
        <p14:creationId xmlns:p14="http://schemas.microsoft.com/office/powerpoint/2010/main" val="2610413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C58DD-15A1-6F75-8CFF-2CAFDB450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AA91B-8B14-1AB4-274B-47A5E0E7EA62}"/>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2A5FD084-D4A2-E68C-37C5-F00E44EF0CC8}"/>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4EBE75C8-0B25-1D6B-7D2C-B28620671F87}"/>
              </a:ext>
            </a:extLst>
          </p:cNvPr>
          <p:cNvSpPr>
            <a:spLocks noGrp="1"/>
          </p:cNvSpPr>
          <p:nvPr>
            <p:ph type="sldNum" sz="quarter" idx="12"/>
          </p:nvPr>
        </p:nvSpPr>
        <p:spPr/>
        <p:txBody>
          <a:bodyPr/>
          <a:lstStyle/>
          <a:p>
            <a:fld id="{90EDC104-672A-4227-99C4-0E2CC007FDBA}" type="slidenum">
              <a:rPr lang="en-IN" smtClean="0"/>
              <a:t>28</a:t>
            </a:fld>
            <a:endParaRPr lang="en-IN"/>
          </a:p>
        </p:txBody>
      </p:sp>
      <p:sp>
        <p:nvSpPr>
          <p:cNvPr id="7" name="Content Placeholder 6">
            <a:extLst>
              <a:ext uri="{FF2B5EF4-FFF2-40B4-BE49-F238E27FC236}">
                <a16:creationId xmlns:a16="http://schemas.microsoft.com/office/drawing/2014/main" id="{17F1F1BA-01B0-B3C5-7EBC-5ADB7CDAA09C}"/>
              </a:ext>
            </a:extLst>
          </p:cNvPr>
          <p:cNvSpPr>
            <a:spLocks noGrp="1"/>
          </p:cNvSpPr>
          <p:nvPr>
            <p:ph idx="1"/>
          </p:nvPr>
        </p:nvSpPr>
        <p:spPr>
          <a:xfrm>
            <a:off x="681893" y="1387964"/>
            <a:ext cx="1522046" cy="487729"/>
          </a:xfrm>
        </p:spPr>
        <p:txBody>
          <a:bodyPr/>
          <a:lstStyle/>
          <a:p>
            <a:pPr marL="0" indent="0">
              <a:buNone/>
            </a:pPr>
            <a:r>
              <a:rPr lang="en-US" dirty="0"/>
              <a:t>GRU</a:t>
            </a:r>
            <a:endParaRPr lang="en-IN" dirty="0"/>
          </a:p>
        </p:txBody>
      </p:sp>
      <p:pic>
        <p:nvPicPr>
          <p:cNvPr id="6" name="Picture 5">
            <a:extLst>
              <a:ext uri="{FF2B5EF4-FFF2-40B4-BE49-F238E27FC236}">
                <a16:creationId xmlns:a16="http://schemas.microsoft.com/office/drawing/2014/main" id="{33E4FFD4-4C35-94CD-05A2-03E0933001A4}"/>
              </a:ext>
            </a:extLst>
          </p:cNvPr>
          <p:cNvPicPr>
            <a:picLocks noChangeAspect="1"/>
          </p:cNvPicPr>
          <p:nvPr/>
        </p:nvPicPr>
        <p:blipFill>
          <a:blip r:embed="rId2"/>
          <a:stretch>
            <a:fillRect/>
          </a:stretch>
        </p:blipFill>
        <p:spPr>
          <a:xfrm>
            <a:off x="2086291" y="1502421"/>
            <a:ext cx="7706801" cy="4744112"/>
          </a:xfrm>
          <a:prstGeom prst="rect">
            <a:avLst/>
          </a:prstGeom>
        </p:spPr>
      </p:pic>
    </p:spTree>
    <p:extLst>
      <p:ext uri="{BB962C8B-B14F-4D97-AF65-F5344CB8AC3E}">
        <p14:creationId xmlns:p14="http://schemas.microsoft.com/office/powerpoint/2010/main" val="974327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8CCE1-E654-42E0-3E40-5258AEAAE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7354A-8335-BB96-A2D6-3505E010D22D}"/>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65C2A843-3E5F-B859-5B32-DDD1B988087E}"/>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AAA4DC77-BB80-3A14-12D6-76498C081340}"/>
              </a:ext>
            </a:extLst>
          </p:cNvPr>
          <p:cNvSpPr>
            <a:spLocks noGrp="1"/>
          </p:cNvSpPr>
          <p:nvPr>
            <p:ph type="sldNum" sz="quarter" idx="12"/>
          </p:nvPr>
        </p:nvSpPr>
        <p:spPr/>
        <p:txBody>
          <a:bodyPr/>
          <a:lstStyle/>
          <a:p>
            <a:fld id="{90EDC104-672A-4227-99C4-0E2CC007FDBA}" type="slidenum">
              <a:rPr lang="en-IN" smtClean="0"/>
              <a:t>29</a:t>
            </a:fld>
            <a:endParaRPr lang="en-IN"/>
          </a:p>
        </p:txBody>
      </p:sp>
      <p:sp>
        <p:nvSpPr>
          <p:cNvPr id="7" name="Content Placeholder 6">
            <a:extLst>
              <a:ext uri="{FF2B5EF4-FFF2-40B4-BE49-F238E27FC236}">
                <a16:creationId xmlns:a16="http://schemas.microsoft.com/office/drawing/2014/main" id="{76F17BDA-8D88-43FE-0AB9-43C536AC4638}"/>
              </a:ext>
            </a:extLst>
          </p:cNvPr>
          <p:cNvSpPr>
            <a:spLocks noGrp="1"/>
          </p:cNvSpPr>
          <p:nvPr>
            <p:ph idx="1"/>
          </p:nvPr>
        </p:nvSpPr>
        <p:spPr>
          <a:xfrm>
            <a:off x="681893" y="1387964"/>
            <a:ext cx="1522046" cy="487729"/>
          </a:xfrm>
        </p:spPr>
        <p:txBody>
          <a:bodyPr/>
          <a:lstStyle/>
          <a:p>
            <a:pPr marL="0" indent="0">
              <a:buNone/>
            </a:pPr>
            <a:r>
              <a:rPr lang="en-US" dirty="0"/>
              <a:t>GRU</a:t>
            </a:r>
            <a:endParaRPr lang="en-IN" dirty="0"/>
          </a:p>
        </p:txBody>
      </p:sp>
      <p:pic>
        <p:nvPicPr>
          <p:cNvPr id="8" name="Picture 7">
            <a:extLst>
              <a:ext uri="{FF2B5EF4-FFF2-40B4-BE49-F238E27FC236}">
                <a16:creationId xmlns:a16="http://schemas.microsoft.com/office/drawing/2014/main" id="{55BAC159-4317-2A67-607D-1D754D327DE8}"/>
              </a:ext>
            </a:extLst>
          </p:cNvPr>
          <p:cNvPicPr>
            <a:picLocks noChangeAspect="1"/>
          </p:cNvPicPr>
          <p:nvPr/>
        </p:nvPicPr>
        <p:blipFill>
          <a:blip r:embed="rId2"/>
          <a:stretch>
            <a:fillRect/>
          </a:stretch>
        </p:blipFill>
        <p:spPr>
          <a:xfrm>
            <a:off x="2203939" y="1457589"/>
            <a:ext cx="8670805" cy="5131861"/>
          </a:xfrm>
          <a:prstGeom prst="rect">
            <a:avLst/>
          </a:prstGeom>
        </p:spPr>
      </p:pic>
    </p:spTree>
    <p:extLst>
      <p:ext uri="{BB962C8B-B14F-4D97-AF65-F5344CB8AC3E}">
        <p14:creationId xmlns:p14="http://schemas.microsoft.com/office/powerpoint/2010/main" val="2485218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B20C-2152-291A-30E9-3628B6DE4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DCCD5-10DF-D773-94C2-64BBE3D2E887}"/>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B4FCD056-C40C-49A7-4763-B0A5B5054850}"/>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E06448E5-C2BF-89C8-9241-27F3482A8369}"/>
              </a:ext>
            </a:extLst>
          </p:cNvPr>
          <p:cNvSpPr>
            <a:spLocks noGrp="1"/>
          </p:cNvSpPr>
          <p:nvPr>
            <p:ph type="sldNum" sz="quarter" idx="12"/>
          </p:nvPr>
        </p:nvSpPr>
        <p:spPr/>
        <p:txBody>
          <a:bodyPr/>
          <a:lstStyle/>
          <a:p>
            <a:fld id="{90EDC104-672A-4227-99C4-0E2CC007FDBA}" type="slidenum">
              <a:rPr lang="en-IN" smtClean="0"/>
              <a:t>30</a:t>
            </a:fld>
            <a:endParaRPr lang="en-IN"/>
          </a:p>
        </p:txBody>
      </p:sp>
      <p:sp>
        <p:nvSpPr>
          <p:cNvPr id="7" name="Content Placeholder 6">
            <a:extLst>
              <a:ext uri="{FF2B5EF4-FFF2-40B4-BE49-F238E27FC236}">
                <a16:creationId xmlns:a16="http://schemas.microsoft.com/office/drawing/2014/main" id="{5DAD0FD1-1C17-C5EC-F1D9-9327626BD8EE}"/>
              </a:ext>
            </a:extLst>
          </p:cNvPr>
          <p:cNvSpPr>
            <a:spLocks noGrp="1"/>
          </p:cNvSpPr>
          <p:nvPr>
            <p:ph idx="1"/>
          </p:nvPr>
        </p:nvSpPr>
        <p:spPr>
          <a:xfrm>
            <a:off x="681893" y="1387964"/>
            <a:ext cx="4745212" cy="487729"/>
          </a:xfrm>
        </p:spPr>
        <p:txBody>
          <a:bodyPr>
            <a:normAutofit fontScale="92500"/>
          </a:bodyPr>
          <a:lstStyle/>
          <a:p>
            <a:pPr marL="0" indent="0">
              <a:buNone/>
            </a:pPr>
            <a:r>
              <a:rPr lang="en-US" dirty="0"/>
              <a:t>LSTM (</a:t>
            </a:r>
            <a:r>
              <a:rPr lang="en-IN" dirty="0"/>
              <a:t>Long Short-Term Memory</a:t>
            </a:r>
            <a:r>
              <a:rPr lang="en-US" dirty="0"/>
              <a:t>)</a:t>
            </a:r>
            <a:endParaRPr lang="en-IN" dirty="0"/>
          </a:p>
        </p:txBody>
      </p:sp>
      <p:pic>
        <p:nvPicPr>
          <p:cNvPr id="10" name="Picture 9">
            <a:extLst>
              <a:ext uri="{FF2B5EF4-FFF2-40B4-BE49-F238E27FC236}">
                <a16:creationId xmlns:a16="http://schemas.microsoft.com/office/drawing/2014/main" id="{884775D0-03D9-667D-F0F6-A0E1A8666047}"/>
              </a:ext>
            </a:extLst>
          </p:cNvPr>
          <p:cNvPicPr>
            <a:picLocks noChangeAspect="1"/>
          </p:cNvPicPr>
          <p:nvPr/>
        </p:nvPicPr>
        <p:blipFill>
          <a:blip r:embed="rId2"/>
          <a:stretch>
            <a:fillRect/>
          </a:stretch>
        </p:blipFill>
        <p:spPr>
          <a:xfrm>
            <a:off x="117230" y="1873576"/>
            <a:ext cx="5309875" cy="4299885"/>
          </a:xfrm>
          <a:prstGeom prst="rect">
            <a:avLst/>
          </a:prstGeom>
        </p:spPr>
      </p:pic>
      <p:pic>
        <p:nvPicPr>
          <p:cNvPr id="12" name="Picture 11">
            <a:extLst>
              <a:ext uri="{FF2B5EF4-FFF2-40B4-BE49-F238E27FC236}">
                <a16:creationId xmlns:a16="http://schemas.microsoft.com/office/drawing/2014/main" id="{7582FF7D-56BB-93CC-DB30-E65165EAAE45}"/>
              </a:ext>
            </a:extLst>
          </p:cNvPr>
          <p:cNvPicPr>
            <a:picLocks noChangeAspect="1"/>
          </p:cNvPicPr>
          <p:nvPr/>
        </p:nvPicPr>
        <p:blipFill>
          <a:blip r:embed="rId3"/>
          <a:stretch>
            <a:fillRect/>
          </a:stretch>
        </p:blipFill>
        <p:spPr>
          <a:xfrm>
            <a:off x="5427105" y="2507662"/>
            <a:ext cx="6688742" cy="2077815"/>
          </a:xfrm>
          <a:prstGeom prst="rect">
            <a:avLst/>
          </a:prstGeom>
        </p:spPr>
      </p:pic>
    </p:spTree>
    <p:extLst>
      <p:ext uri="{BB962C8B-B14F-4D97-AF65-F5344CB8AC3E}">
        <p14:creationId xmlns:p14="http://schemas.microsoft.com/office/powerpoint/2010/main" val="4054483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B139A-16C0-0A32-D964-29AFEDD51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577FE-5404-9319-CC4D-07488439A55C}"/>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Results and Discussion </a:t>
            </a:r>
            <a:endParaRPr lang="en-IN" b="1" dirty="0">
              <a:solidFill>
                <a:srgbClr val="FF0000"/>
              </a:solidFill>
              <a:latin typeface="Arial Narrow" panose="020B0606020202030204" pitchFamily="34" charset="0"/>
              <a:cs typeface="Mongolian Baiti" panose="03000500000000000000" pitchFamily="66" charset="0"/>
            </a:endParaRPr>
          </a:p>
        </p:txBody>
      </p:sp>
      <p:sp>
        <p:nvSpPr>
          <p:cNvPr id="4" name="Footer Placeholder 3">
            <a:extLst>
              <a:ext uri="{FF2B5EF4-FFF2-40B4-BE49-F238E27FC236}">
                <a16:creationId xmlns:a16="http://schemas.microsoft.com/office/drawing/2014/main" id="{F761B2FE-3934-884D-9762-3C2E327648E0}"/>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6B1DC42E-B365-EE6F-6C93-F8E68B597132}"/>
              </a:ext>
            </a:extLst>
          </p:cNvPr>
          <p:cNvSpPr>
            <a:spLocks noGrp="1"/>
          </p:cNvSpPr>
          <p:nvPr>
            <p:ph type="sldNum" sz="quarter" idx="12"/>
          </p:nvPr>
        </p:nvSpPr>
        <p:spPr/>
        <p:txBody>
          <a:bodyPr/>
          <a:lstStyle/>
          <a:p>
            <a:fld id="{90EDC104-672A-4227-99C4-0E2CC007FDBA}" type="slidenum">
              <a:rPr lang="en-IN" smtClean="0"/>
              <a:t>31</a:t>
            </a:fld>
            <a:endParaRPr lang="en-IN"/>
          </a:p>
        </p:txBody>
      </p:sp>
      <p:sp>
        <p:nvSpPr>
          <p:cNvPr id="7" name="Content Placeholder 6">
            <a:extLst>
              <a:ext uri="{FF2B5EF4-FFF2-40B4-BE49-F238E27FC236}">
                <a16:creationId xmlns:a16="http://schemas.microsoft.com/office/drawing/2014/main" id="{52BB54AF-BF15-B78C-AA3F-2DC578F9FB6D}"/>
              </a:ext>
            </a:extLst>
          </p:cNvPr>
          <p:cNvSpPr>
            <a:spLocks noGrp="1"/>
          </p:cNvSpPr>
          <p:nvPr>
            <p:ph idx="1"/>
          </p:nvPr>
        </p:nvSpPr>
        <p:spPr>
          <a:xfrm>
            <a:off x="681893" y="1387964"/>
            <a:ext cx="1522046" cy="487729"/>
          </a:xfrm>
        </p:spPr>
        <p:txBody>
          <a:bodyPr/>
          <a:lstStyle/>
          <a:p>
            <a:pPr marL="0" indent="0">
              <a:buNone/>
            </a:pPr>
            <a:r>
              <a:rPr lang="en-US" dirty="0"/>
              <a:t>LSTM</a:t>
            </a:r>
            <a:endParaRPr lang="en-IN" dirty="0"/>
          </a:p>
        </p:txBody>
      </p:sp>
      <p:pic>
        <p:nvPicPr>
          <p:cNvPr id="6" name="Picture 5">
            <a:extLst>
              <a:ext uri="{FF2B5EF4-FFF2-40B4-BE49-F238E27FC236}">
                <a16:creationId xmlns:a16="http://schemas.microsoft.com/office/drawing/2014/main" id="{0F8FD0B7-0125-390A-6061-5C7EE597ACBE}"/>
              </a:ext>
            </a:extLst>
          </p:cNvPr>
          <p:cNvPicPr>
            <a:picLocks noChangeAspect="1"/>
          </p:cNvPicPr>
          <p:nvPr/>
        </p:nvPicPr>
        <p:blipFill>
          <a:blip r:embed="rId2"/>
          <a:stretch>
            <a:fillRect/>
          </a:stretch>
        </p:blipFill>
        <p:spPr>
          <a:xfrm>
            <a:off x="2351879" y="1412833"/>
            <a:ext cx="8853980" cy="5221373"/>
          </a:xfrm>
          <a:prstGeom prst="rect">
            <a:avLst/>
          </a:prstGeom>
        </p:spPr>
      </p:pic>
    </p:spTree>
    <p:extLst>
      <p:ext uri="{BB962C8B-B14F-4D97-AF65-F5344CB8AC3E}">
        <p14:creationId xmlns:p14="http://schemas.microsoft.com/office/powerpoint/2010/main" val="2489995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Performance Analysis</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p:txBody>
          <a:bodyPr>
            <a:normAutofit/>
          </a:bodyPr>
          <a:lstStyle/>
          <a:p>
            <a:pPr marL="0" indent="0">
              <a:buNone/>
            </a:pPr>
            <a:r>
              <a:rPr lang="en-US" dirty="0">
                <a:latin typeface="Mongolian Baiti" panose="03000500000000000000" pitchFamily="66" charset="0"/>
                <a:cs typeface="Mongolian Baiti" panose="03000500000000000000" pitchFamily="66" charset="0"/>
              </a:rPr>
              <a:t>ARIMA is strictly a time series analysis of one column and for volatile data such as the stock market. Expectedly, it gives a high MSE of 42199.93. SARIMA shows a worse MSE (75829.18) likely due to its overfitting and lack of consistent seasonal patterns in stock market data. Comparatively, GRU performed much better with an MSE score of 18856.15. LSTM fell just short with an MSE score of 20845.25, possibly due to the model’s tendency to overfit due to a higher number of parameters.</a:t>
            </a:r>
            <a:endParaRPr lang="en-IN" dirty="0"/>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32</a:t>
            </a:fld>
            <a:endParaRPr lang="en-IN"/>
          </a:p>
        </p:txBody>
      </p:sp>
    </p:spTree>
    <p:extLst>
      <p:ext uri="{BB962C8B-B14F-4D97-AF65-F5344CB8AC3E}">
        <p14:creationId xmlns:p14="http://schemas.microsoft.com/office/powerpoint/2010/main" val="3443624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80D3-C677-A903-0CB0-83BCF5B9E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33ADA-3711-C8A3-C5FC-E5546FB600F8}"/>
              </a:ext>
            </a:extLst>
          </p:cNvPr>
          <p:cNvSpPr>
            <a:spLocks noGrp="1"/>
          </p:cNvSpPr>
          <p:nvPr>
            <p:ph type="title"/>
          </p:nvPr>
        </p:nvSpPr>
        <p:spPr/>
        <p:txBody>
          <a:bodyPr/>
          <a:lstStyle/>
          <a:p>
            <a:r>
              <a:rPr lang="en-US" b="1" dirty="0">
                <a:latin typeface="+mn-lt"/>
                <a:cs typeface="Mongolian Baiti" panose="03000500000000000000" pitchFamily="66" charset="0"/>
              </a:rPr>
              <a:t>Performance Analysis</a:t>
            </a:r>
            <a:endParaRPr lang="en-IN" b="1" dirty="0">
              <a:latin typeface="+mn-lt"/>
              <a:cs typeface="Mongolian Baiti" panose="03000500000000000000" pitchFamily="66" charset="0"/>
            </a:endParaRPr>
          </a:p>
        </p:txBody>
      </p:sp>
      <p:sp>
        <p:nvSpPr>
          <p:cNvPr id="4" name="Footer Placeholder 3">
            <a:extLst>
              <a:ext uri="{FF2B5EF4-FFF2-40B4-BE49-F238E27FC236}">
                <a16:creationId xmlns:a16="http://schemas.microsoft.com/office/drawing/2014/main" id="{4862308E-65FB-4480-6C90-1DFBC692BE1B}"/>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45694C2A-1DE6-E2BE-F178-778D83B3B8E0}"/>
              </a:ext>
            </a:extLst>
          </p:cNvPr>
          <p:cNvSpPr>
            <a:spLocks noGrp="1"/>
          </p:cNvSpPr>
          <p:nvPr>
            <p:ph type="sldNum" sz="quarter" idx="12"/>
          </p:nvPr>
        </p:nvSpPr>
        <p:spPr/>
        <p:txBody>
          <a:bodyPr/>
          <a:lstStyle/>
          <a:p>
            <a:fld id="{90EDC104-672A-4227-99C4-0E2CC007FDBA}" type="slidenum">
              <a:rPr lang="en-IN" smtClean="0"/>
              <a:t>33</a:t>
            </a:fld>
            <a:endParaRPr lang="en-IN"/>
          </a:p>
        </p:txBody>
      </p:sp>
      <p:graphicFrame>
        <p:nvGraphicFramePr>
          <p:cNvPr id="14" name="Table 13">
            <a:extLst>
              <a:ext uri="{FF2B5EF4-FFF2-40B4-BE49-F238E27FC236}">
                <a16:creationId xmlns:a16="http://schemas.microsoft.com/office/drawing/2014/main" id="{9B89A05C-6B5F-072D-DFF3-F969944F8A1B}"/>
              </a:ext>
            </a:extLst>
          </p:cNvPr>
          <p:cNvGraphicFramePr>
            <a:graphicFrameLocks noGrp="1"/>
          </p:cNvGraphicFramePr>
          <p:nvPr>
            <p:extLst>
              <p:ext uri="{D42A27DB-BD31-4B8C-83A1-F6EECF244321}">
                <p14:modId xmlns:p14="http://schemas.microsoft.com/office/powerpoint/2010/main" val="1143116140"/>
              </p:ext>
            </p:extLst>
          </p:nvPr>
        </p:nvGraphicFramePr>
        <p:xfrm>
          <a:off x="990601" y="1476375"/>
          <a:ext cx="9096375" cy="4896595"/>
        </p:xfrm>
        <a:graphic>
          <a:graphicData uri="http://schemas.openxmlformats.org/drawingml/2006/table">
            <a:tbl>
              <a:tblPr firstRow="1" bandRow="1">
                <a:tableStyleId>{5C22544A-7EE6-4342-B048-85BDC9FD1C3A}</a:tableStyleId>
              </a:tblPr>
              <a:tblGrid>
                <a:gridCol w="3032125">
                  <a:extLst>
                    <a:ext uri="{9D8B030D-6E8A-4147-A177-3AD203B41FA5}">
                      <a16:colId xmlns:a16="http://schemas.microsoft.com/office/drawing/2014/main" val="2740515092"/>
                    </a:ext>
                  </a:extLst>
                </a:gridCol>
                <a:gridCol w="3032125">
                  <a:extLst>
                    <a:ext uri="{9D8B030D-6E8A-4147-A177-3AD203B41FA5}">
                      <a16:colId xmlns:a16="http://schemas.microsoft.com/office/drawing/2014/main" val="2426454712"/>
                    </a:ext>
                  </a:extLst>
                </a:gridCol>
                <a:gridCol w="3032125">
                  <a:extLst>
                    <a:ext uri="{9D8B030D-6E8A-4147-A177-3AD203B41FA5}">
                      <a16:colId xmlns:a16="http://schemas.microsoft.com/office/drawing/2014/main" val="630421688"/>
                    </a:ext>
                  </a:extLst>
                </a:gridCol>
              </a:tblGrid>
              <a:tr h="2082191">
                <a:tc>
                  <a:txBody>
                    <a:bodyPr/>
                    <a:lstStyle/>
                    <a:p>
                      <a:r>
                        <a:rPr lang="en-US" sz="3600" dirty="0"/>
                        <a:t>Model</a:t>
                      </a:r>
                      <a:endParaRPr lang="en-IN" sz="3600" dirty="0"/>
                    </a:p>
                  </a:txBody>
                  <a:tcPr/>
                </a:tc>
                <a:tc>
                  <a:txBody>
                    <a:bodyPr/>
                    <a:lstStyle/>
                    <a:p>
                      <a:r>
                        <a:rPr lang="en-US" sz="3600" dirty="0"/>
                        <a:t>R-squared</a:t>
                      </a:r>
                      <a:endParaRPr lang="en-IN" sz="3600" dirty="0"/>
                    </a:p>
                  </a:txBody>
                  <a:tcPr/>
                </a:tc>
                <a:tc>
                  <a:txBody>
                    <a:bodyPr/>
                    <a:lstStyle/>
                    <a:p>
                      <a:r>
                        <a:rPr lang="en-US" sz="3600" dirty="0"/>
                        <a:t>Mean Squared Error</a:t>
                      </a:r>
                      <a:endParaRPr lang="en-IN" sz="3600" dirty="0"/>
                    </a:p>
                  </a:txBody>
                  <a:tcPr/>
                </a:tc>
                <a:extLst>
                  <a:ext uri="{0D108BD9-81ED-4DB2-BD59-A6C34878D82A}">
                    <a16:rowId xmlns:a16="http://schemas.microsoft.com/office/drawing/2014/main" val="3177986556"/>
                  </a:ext>
                </a:extLst>
              </a:tr>
              <a:tr h="767122">
                <a:tc>
                  <a:txBody>
                    <a:bodyPr/>
                    <a:lstStyle/>
                    <a:p>
                      <a:r>
                        <a:rPr lang="en-US" sz="3600" dirty="0"/>
                        <a:t>ARIMA</a:t>
                      </a:r>
                      <a:endParaRPr lang="en-IN" sz="3600" dirty="0"/>
                    </a:p>
                  </a:txBody>
                  <a:tcPr/>
                </a:tc>
                <a:tc>
                  <a:txBody>
                    <a:bodyPr/>
                    <a:lstStyle/>
                    <a:p>
                      <a:r>
                        <a:rPr lang="en-US" sz="3600" dirty="0"/>
                        <a:t>-0.19</a:t>
                      </a:r>
                      <a:endParaRPr lang="en-IN"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42199.93</a:t>
                      </a:r>
                      <a:endParaRPr lang="en-IN" sz="3600" dirty="0"/>
                    </a:p>
                  </a:txBody>
                  <a:tcPr/>
                </a:tc>
                <a:extLst>
                  <a:ext uri="{0D108BD9-81ED-4DB2-BD59-A6C34878D82A}">
                    <a16:rowId xmlns:a16="http://schemas.microsoft.com/office/drawing/2014/main" val="2592786322"/>
                  </a:ext>
                </a:extLst>
              </a:tr>
              <a:tr h="767122">
                <a:tc>
                  <a:txBody>
                    <a:bodyPr/>
                    <a:lstStyle/>
                    <a:p>
                      <a:r>
                        <a:rPr lang="en-US" sz="3600" dirty="0"/>
                        <a:t>SARIMA</a:t>
                      </a:r>
                      <a:endParaRPr lang="en-IN" sz="3600" dirty="0"/>
                    </a:p>
                  </a:txBody>
                  <a:tcPr/>
                </a:tc>
                <a:tc>
                  <a:txBody>
                    <a:bodyPr/>
                    <a:lstStyle/>
                    <a:p>
                      <a:r>
                        <a:rPr lang="en-US" sz="3600" dirty="0"/>
                        <a:t>-1.15</a:t>
                      </a:r>
                      <a:endParaRPr lang="en-IN" sz="3600" dirty="0"/>
                    </a:p>
                  </a:txBody>
                  <a:tcPr/>
                </a:tc>
                <a:tc>
                  <a:txBody>
                    <a:bodyPr/>
                    <a:lstStyle/>
                    <a:p>
                      <a:r>
                        <a:rPr lang="en-US" sz="3600" dirty="0"/>
                        <a:t>75829.18</a:t>
                      </a:r>
                      <a:endParaRPr lang="en-IN" sz="3600" dirty="0"/>
                    </a:p>
                  </a:txBody>
                  <a:tcPr/>
                </a:tc>
                <a:extLst>
                  <a:ext uri="{0D108BD9-81ED-4DB2-BD59-A6C34878D82A}">
                    <a16:rowId xmlns:a16="http://schemas.microsoft.com/office/drawing/2014/main" val="2170296560"/>
                  </a:ext>
                </a:extLst>
              </a:tr>
              <a:tr h="444445">
                <a:tc>
                  <a:txBody>
                    <a:bodyPr/>
                    <a:lstStyle/>
                    <a:p>
                      <a:r>
                        <a:rPr lang="en-US" sz="3600" dirty="0"/>
                        <a:t>GRU</a:t>
                      </a:r>
                      <a:endParaRPr lang="en-IN" sz="3600" dirty="0"/>
                    </a:p>
                  </a:txBody>
                  <a:tcPr/>
                </a:tc>
                <a:tc>
                  <a:txBody>
                    <a:bodyPr/>
                    <a:lstStyle/>
                    <a:p>
                      <a:r>
                        <a:rPr lang="en-US" sz="3600" dirty="0"/>
                        <a:t>0.468</a:t>
                      </a:r>
                      <a:endParaRPr lang="en-IN"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18856.15</a:t>
                      </a:r>
                      <a:endParaRPr lang="en-IN" sz="3600" dirty="0"/>
                    </a:p>
                  </a:txBody>
                  <a:tcPr/>
                </a:tc>
                <a:extLst>
                  <a:ext uri="{0D108BD9-81ED-4DB2-BD59-A6C34878D82A}">
                    <a16:rowId xmlns:a16="http://schemas.microsoft.com/office/drawing/2014/main" val="3255202897"/>
                  </a:ext>
                </a:extLst>
              </a:tr>
              <a:tr h="444445">
                <a:tc>
                  <a:txBody>
                    <a:bodyPr/>
                    <a:lstStyle/>
                    <a:p>
                      <a:r>
                        <a:rPr lang="en-US" sz="3600" dirty="0"/>
                        <a:t>LSTM</a:t>
                      </a:r>
                      <a:endParaRPr lang="en-IN" sz="3600" dirty="0"/>
                    </a:p>
                  </a:txBody>
                  <a:tcPr/>
                </a:tc>
                <a:tc>
                  <a:txBody>
                    <a:bodyPr/>
                    <a:lstStyle/>
                    <a:p>
                      <a:r>
                        <a:rPr lang="en-US" sz="3600" dirty="0"/>
                        <a:t>0.403</a:t>
                      </a:r>
                      <a:endParaRPr lang="en-IN" sz="3600" dirty="0"/>
                    </a:p>
                  </a:txBody>
                  <a:tcPr/>
                </a:tc>
                <a:tc>
                  <a:txBody>
                    <a:bodyPr/>
                    <a:lstStyle/>
                    <a:p>
                      <a:r>
                        <a:rPr lang="en-US" sz="3600" dirty="0"/>
                        <a:t>20845.28</a:t>
                      </a:r>
                      <a:endParaRPr lang="en-IN" sz="3600" dirty="0"/>
                    </a:p>
                  </a:txBody>
                  <a:tcPr/>
                </a:tc>
                <a:extLst>
                  <a:ext uri="{0D108BD9-81ED-4DB2-BD59-A6C34878D82A}">
                    <a16:rowId xmlns:a16="http://schemas.microsoft.com/office/drawing/2014/main" val="3563783873"/>
                  </a:ext>
                </a:extLst>
              </a:tr>
            </a:tbl>
          </a:graphicData>
        </a:graphic>
      </p:graphicFrame>
    </p:spTree>
    <p:extLst>
      <p:ext uri="{BB962C8B-B14F-4D97-AF65-F5344CB8AC3E}">
        <p14:creationId xmlns:p14="http://schemas.microsoft.com/office/powerpoint/2010/main" val="939096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54624-A0E4-1BC1-76BC-31F9774249DD}"/>
              </a:ext>
            </a:extLst>
          </p:cNvPr>
          <p:cNvSpPr>
            <a:spLocks noGrp="1"/>
          </p:cNvSpPr>
          <p:nvPr>
            <p:ph type="title"/>
          </p:nvPr>
        </p:nvSpPr>
        <p:spPr/>
        <p:txBody>
          <a:bodyPr/>
          <a:lstStyle/>
          <a:p>
            <a:r>
              <a:rPr lang="en-US" b="1" dirty="0">
                <a:latin typeface="+mn-lt"/>
                <a:cs typeface="Mongolian Baiti" panose="03000500000000000000" pitchFamily="66" charset="0"/>
              </a:rPr>
              <a:t>Future Enhancement</a:t>
            </a:r>
            <a:endParaRPr lang="en-IN" b="1" dirty="0">
              <a:latin typeface="+mn-lt"/>
              <a:cs typeface="Mongolian Baiti" panose="03000500000000000000" pitchFamily="66" charset="0"/>
            </a:endParaRPr>
          </a:p>
        </p:txBody>
      </p:sp>
      <p:sp>
        <p:nvSpPr>
          <p:cNvPr id="3" name="Content Placeholder 2">
            <a:extLst>
              <a:ext uri="{FF2B5EF4-FFF2-40B4-BE49-F238E27FC236}">
                <a16:creationId xmlns:a16="http://schemas.microsoft.com/office/drawing/2014/main" id="{8F3BC757-742B-E48E-B5C8-A5CE7781326C}"/>
              </a:ext>
            </a:extLst>
          </p:cNvPr>
          <p:cNvSpPr>
            <a:spLocks noGrp="1"/>
          </p:cNvSpPr>
          <p:nvPr>
            <p:ph idx="1"/>
          </p:nvPr>
        </p:nvSpPr>
        <p:spPr/>
        <p:txBody>
          <a:bodyPr/>
          <a:lstStyle/>
          <a:p>
            <a:pPr marL="0" indent="0">
              <a:buNone/>
            </a:pPr>
            <a:r>
              <a:rPr lang="en-US" dirty="0"/>
              <a:t>In the future, I plan to enhance data quality by exploring alternatives to dropping rows or using methods like forward filling for missing data. Since GRU and LSTM models have shown promise in capturing stock market trends, I aim to fine-tune their hyperparameters to achieve more accurate predictions. From my review of research papers, I discovered that hybridizing these two RNN models can be highly effective, as each has distinct strengths and weaknesses.</a:t>
            </a:r>
            <a:r>
              <a:rPr lang="en-US" dirty="0">
                <a:cs typeface="Mongolian Baiti" panose="03000500000000000000" pitchFamily="66" charset="0"/>
              </a:rPr>
              <a:t> </a:t>
            </a:r>
            <a:r>
              <a:rPr lang="en-US" dirty="0"/>
              <a:t>Additionally, as market sentiment is a stronger indicator of stock price movements than one-dimensional numerical data, I also intend to integrate sentiment-driven analysis into the predictive framework.</a:t>
            </a:r>
            <a:endParaRPr lang="en-IN" dirty="0">
              <a:cs typeface="Mongolian Baiti" panose="03000500000000000000" pitchFamily="66" charset="0"/>
            </a:endParaRPr>
          </a:p>
        </p:txBody>
      </p:sp>
      <p:sp>
        <p:nvSpPr>
          <p:cNvPr id="4" name="Footer Placeholder 3">
            <a:extLst>
              <a:ext uri="{FF2B5EF4-FFF2-40B4-BE49-F238E27FC236}">
                <a16:creationId xmlns:a16="http://schemas.microsoft.com/office/drawing/2014/main" id="{C8F84CE4-61FB-6B4C-CF0B-904FCEE03FF8}"/>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962C4935-CC4C-880A-EB23-4E00C8315E3C}"/>
              </a:ext>
            </a:extLst>
          </p:cNvPr>
          <p:cNvSpPr>
            <a:spLocks noGrp="1"/>
          </p:cNvSpPr>
          <p:nvPr>
            <p:ph type="sldNum" sz="quarter" idx="12"/>
          </p:nvPr>
        </p:nvSpPr>
        <p:spPr/>
        <p:txBody>
          <a:bodyPr/>
          <a:lstStyle/>
          <a:p>
            <a:fld id="{90EDC104-672A-4227-99C4-0E2CC007FDBA}" type="slidenum">
              <a:rPr lang="en-IN" smtClean="0"/>
              <a:t>34</a:t>
            </a:fld>
            <a:endParaRPr lang="en-IN"/>
          </a:p>
        </p:txBody>
      </p:sp>
    </p:spTree>
    <p:extLst>
      <p:ext uri="{BB962C8B-B14F-4D97-AF65-F5344CB8AC3E}">
        <p14:creationId xmlns:p14="http://schemas.microsoft.com/office/powerpoint/2010/main" val="1235683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Conclusion</a:t>
            </a:r>
            <a:endParaRPr lang="en-IN" b="1" dirty="0">
              <a:latin typeface="Arial Narrow" panose="020B0606020202030204" pitchFamily="34" charset="0"/>
              <a:cs typeface="Mongolian Baiti" panose="03000500000000000000" pitchFamily="66" charset="0"/>
            </a:endParaRPr>
          </a:p>
        </p:txBody>
      </p:sp>
      <p:sp>
        <p:nvSpPr>
          <p:cNvPr id="3" name="Content Placeholder 2"/>
          <p:cNvSpPr>
            <a:spLocks noGrp="1"/>
          </p:cNvSpPr>
          <p:nvPr>
            <p:ph idx="1"/>
          </p:nvPr>
        </p:nvSpPr>
        <p:spPr/>
        <p:txBody>
          <a:bodyPr>
            <a:normAutofit/>
          </a:bodyPr>
          <a:lstStyle/>
          <a:p>
            <a:pPr marL="0" indent="0">
              <a:buNone/>
            </a:pPr>
            <a:r>
              <a:rPr lang="en-US" dirty="0"/>
              <a:t>Predicting market movements is challenging due to financial data's volatile and non-linear nature. Traditional models like ARIMA and SARIMA struggle with multivariate data and overfitting. However, GRU and LSTM models significantly improve predictive performance by integrating multiple features and leveraging sequential dependencies. These models' flexibility in hyperparameter optimization and handling external influences enables them to capture complex patterns effectively. This project showcases the superiority of RNNs, highlighting their potential for reliable stock market predictions through data preprocessing and model tuning.</a:t>
            </a:r>
            <a:endParaRPr lang="en-IN" dirty="0"/>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35</a:t>
            </a:fld>
            <a:endParaRPr lang="en-IN"/>
          </a:p>
        </p:txBody>
      </p:sp>
    </p:spTree>
    <p:extLst>
      <p:ext uri="{BB962C8B-B14F-4D97-AF65-F5344CB8AC3E}">
        <p14:creationId xmlns:p14="http://schemas.microsoft.com/office/powerpoint/2010/main" val="597937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2E879-FCCA-DC59-0616-3CCAC30F6114}"/>
              </a:ext>
            </a:extLst>
          </p:cNvPr>
          <p:cNvSpPr>
            <a:spLocks noGrp="1"/>
          </p:cNvSpPr>
          <p:nvPr>
            <p:ph type="title"/>
          </p:nvPr>
        </p:nvSpPr>
        <p:spPr/>
        <p:txBody>
          <a:bodyPr/>
          <a:lstStyle/>
          <a:p>
            <a:r>
              <a:rPr lang="en-US" b="1" dirty="0">
                <a:latin typeface="Arial Narrow" panose="020B0606020202030204" pitchFamily="34" charset="0"/>
                <a:cs typeface="Mongolian Baiti" panose="03000500000000000000" pitchFamily="66" charset="0"/>
              </a:rPr>
              <a:t>References</a:t>
            </a:r>
            <a:r>
              <a:rPr lang="en-US" b="1" dirty="0">
                <a:latin typeface="Mongolian Baiti" panose="03000500000000000000" pitchFamily="66" charset="0"/>
                <a:cs typeface="Mongolian Baiti" panose="03000500000000000000" pitchFamily="66" charset="0"/>
              </a:rPr>
              <a:t> </a:t>
            </a:r>
            <a:endParaRPr lang="en-IN" dirty="0"/>
          </a:p>
        </p:txBody>
      </p:sp>
      <p:sp>
        <p:nvSpPr>
          <p:cNvPr id="3" name="Content Placeholder 2">
            <a:extLst>
              <a:ext uri="{FF2B5EF4-FFF2-40B4-BE49-F238E27FC236}">
                <a16:creationId xmlns:a16="http://schemas.microsoft.com/office/drawing/2014/main" id="{EA06D948-B8AE-6FB6-B0B3-EF8A6ED2A4C4}"/>
              </a:ext>
            </a:extLst>
          </p:cNvPr>
          <p:cNvSpPr>
            <a:spLocks noGrp="1"/>
          </p:cNvSpPr>
          <p:nvPr>
            <p:ph idx="1"/>
          </p:nvPr>
        </p:nvSpPr>
        <p:spPr/>
        <p:txBody>
          <a:bodyPr>
            <a:normAutofit fontScale="47500" lnSpcReduction="20000"/>
          </a:bodyPr>
          <a:lstStyle/>
          <a:p>
            <a:r>
              <a:rPr lang="en-US" b="1" dirty="0">
                <a:latin typeface="Arial Narrow" panose="020B0606020202030204" pitchFamily="34" charset="0"/>
              </a:rPr>
              <a:t>Base Paper:</a:t>
            </a:r>
          </a:p>
          <a:p>
            <a:pPr lvl="1"/>
            <a:r>
              <a:rPr lang="en-US" b="1" i="0" dirty="0">
                <a:effectLst/>
                <a:latin typeface="ui-sans-serif"/>
              </a:rPr>
              <a:t>Mohan, B., Yadav, A., Toleti, J., Reddy, D. S. S., Ahmed, R. K., &amp; </a:t>
            </a:r>
            <a:r>
              <a:rPr lang="en-US" b="1" i="0" dirty="0" err="1">
                <a:effectLst/>
                <a:latin typeface="ui-sans-serif"/>
              </a:rPr>
              <a:t>Koushitha</a:t>
            </a:r>
            <a:r>
              <a:rPr lang="en-US" b="1" i="0" dirty="0">
                <a:effectLst/>
                <a:latin typeface="ui-sans-serif"/>
              </a:rPr>
              <a:t>, G. (2024).</a:t>
            </a:r>
            <a:r>
              <a:rPr lang="en-US" b="0" i="0" dirty="0">
                <a:effectLst/>
                <a:latin typeface="ui-sans-serif"/>
              </a:rPr>
              <a:t> Sentiment-driven predictive models for Nifty 50 stock market fluctuations: A time series analysis perspective. </a:t>
            </a:r>
            <a:r>
              <a:rPr lang="en-US" b="0" i="1" dirty="0">
                <a:effectLst/>
                <a:latin typeface="ui-sans-serif"/>
              </a:rPr>
              <a:t>IEEE International Conference on Information Technology, Electronics and Intelligent Communication Systems (ICITEICS)</a:t>
            </a:r>
            <a:r>
              <a:rPr lang="en-US" b="0" i="0" dirty="0">
                <a:effectLst/>
                <a:latin typeface="ui-sans-serif"/>
              </a:rPr>
              <a:t>, 70, 1–8</a:t>
            </a:r>
            <a:r>
              <a:rPr lang="en-US" b="0" i="0" dirty="0">
                <a:solidFill>
                  <a:srgbClr val="ECECEC"/>
                </a:solidFill>
                <a:effectLst/>
                <a:latin typeface="ui-sans-serif"/>
              </a:rPr>
              <a:t>. </a:t>
            </a:r>
            <a:r>
              <a:rPr lang="en-US" b="0" i="0" u="none" strike="noStrike" dirty="0">
                <a:solidFill>
                  <a:srgbClr val="ECECEC"/>
                </a:solidFill>
                <a:effectLst/>
                <a:latin typeface="ui-sans-serif"/>
                <a:hlinkClick r:id="rId2"/>
              </a:rPr>
              <a:t>https://doi.org/10.1109/iciteics61368.2024.10625537</a:t>
            </a:r>
            <a:endParaRPr lang="en-US" b="0" i="0" u="none" strike="noStrike" dirty="0">
              <a:solidFill>
                <a:srgbClr val="ECECEC"/>
              </a:solidFill>
              <a:effectLst/>
              <a:latin typeface="ui-sans-serif"/>
            </a:endParaRPr>
          </a:p>
          <a:p>
            <a:pPr lvl="1"/>
            <a:r>
              <a:rPr lang="en-US" dirty="0">
                <a:hlinkClick r:id="rId3"/>
              </a:rPr>
              <a:t>Link to Paper</a:t>
            </a:r>
            <a:endParaRPr lang="en-US" b="1" dirty="0">
              <a:latin typeface="Arial Narrow" panose="020B0606020202030204" pitchFamily="34" charset="0"/>
            </a:endParaRPr>
          </a:p>
          <a:p>
            <a:r>
              <a:rPr lang="en-US" b="1" dirty="0">
                <a:latin typeface="Arial Narrow" panose="020B0606020202030204" pitchFamily="34" charset="0"/>
              </a:rPr>
              <a:t>Paper I:</a:t>
            </a:r>
          </a:p>
          <a:p>
            <a:pPr lvl="1"/>
            <a:r>
              <a:rPr lang="en-US" b="1" i="0" dirty="0">
                <a:effectLst/>
                <a:latin typeface="ui-sans-serif"/>
              </a:rPr>
              <a:t>Panchal, S. A., </a:t>
            </a:r>
            <a:r>
              <a:rPr lang="en-US" b="1" i="0" dirty="0" err="1">
                <a:effectLst/>
                <a:latin typeface="ui-sans-serif"/>
              </a:rPr>
              <a:t>Ferdouse</a:t>
            </a:r>
            <a:r>
              <a:rPr lang="en-US" b="1" i="0" dirty="0">
                <a:effectLst/>
                <a:latin typeface="ui-sans-serif"/>
              </a:rPr>
              <a:t>, L., &amp; Sultana, A. (2024).</a:t>
            </a:r>
            <a:r>
              <a:rPr lang="en-US" b="0" i="0" dirty="0">
                <a:effectLst/>
                <a:latin typeface="ui-sans-serif"/>
              </a:rPr>
              <a:t> Comparative analysis of ARIMA and LSTM models for stock price prediction. </a:t>
            </a:r>
            <a:r>
              <a:rPr lang="en-US" b="0" i="1" dirty="0">
                <a:effectLst/>
                <a:latin typeface="ui-sans-serif"/>
              </a:rPr>
              <a:t>2024 IEEE/ACIS 27th International Conference on Software Engineering, Artificial Intelligence, Networking and Parallel/Distributed Computing (SNPD)</a:t>
            </a:r>
            <a:r>
              <a:rPr lang="en-US" b="0" i="0" dirty="0">
                <a:effectLst/>
                <a:latin typeface="ui-sans-serif"/>
              </a:rPr>
              <a:t>, 240–244. </a:t>
            </a:r>
            <a:r>
              <a:rPr lang="en-US" b="0" i="0" u="none" strike="noStrike" dirty="0">
                <a:solidFill>
                  <a:srgbClr val="ECECEC"/>
                </a:solidFill>
                <a:effectLst/>
                <a:latin typeface="ui-sans-serif"/>
                <a:hlinkClick r:id="rId4"/>
              </a:rPr>
              <a:t>https://doi.org/10.1109/snpd61259.2024.10673919</a:t>
            </a:r>
            <a:endParaRPr lang="en-US" dirty="0">
              <a:hlinkClick r:id="rId5"/>
            </a:endParaRPr>
          </a:p>
          <a:p>
            <a:pPr lvl="1"/>
            <a:r>
              <a:rPr lang="en-US" dirty="0">
                <a:hlinkClick r:id="rId5"/>
              </a:rPr>
              <a:t>Link to Paper</a:t>
            </a:r>
            <a:endParaRPr lang="en-US" b="1" dirty="0">
              <a:latin typeface="Arial Narrow" panose="020B0606020202030204" pitchFamily="34" charset="0"/>
            </a:endParaRPr>
          </a:p>
          <a:p>
            <a:r>
              <a:rPr lang="en-US" b="1" dirty="0">
                <a:latin typeface="Arial Narrow" panose="020B0606020202030204" pitchFamily="34" charset="0"/>
              </a:rPr>
              <a:t>Paper II:</a:t>
            </a:r>
          </a:p>
          <a:p>
            <a:pPr lvl="1"/>
            <a:r>
              <a:rPr lang="en-US" b="1" i="0" dirty="0" err="1">
                <a:effectLst/>
                <a:latin typeface="ui-sans-serif"/>
              </a:rPr>
              <a:t>Rajhans</a:t>
            </a:r>
            <a:r>
              <a:rPr lang="en-US" b="1" i="0" dirty="0">
                <a:effectLst/>
                <a:latin typeface="ui-sans-serif"/>
              </a:rPr>
              <a:t>, A., Das, T., Kumar, A., &amp; Sinha, B. B. (2024).</a:t>
            </a:r>
            <a:r>
              <a:rPr lang="en-US" b="0" i="0" dirty="0">
                <a:effectLst/>
                <a:latin typeface="ui-sans-serif"/>
              </a:rPr>
              <a:t> Exploring the impact of financial news sentiment on stock price forecasting: A comparative deep learning approach. </a:t>
            </a:r>
            <a:r>
              <a:rPr lang="en-US" b="0" i="1" dirty="0">
                <a:effectLst/>
                <a:latin typeface="ui-sans-serif"/>
              </a:rPr>
              <a:t>2024 1st International Conference on Communications and Computer Science (</a:t>
            </a:r>
            <a:r>
              <a:rPr lang="en-US" b="0" i="1" dirty="0" err="1">
                <a:effectLst/>
                <a:latin typeface="ui-sans-serif"/>
              </a:rPr>
              <a:t>InCCCS</a:t>
            </a:r>
            <a:r>
              <a:rPr lang="en-US" b="0" i="1" dirty="0">
                <a:effectLst/>
                <a:latin typeface="ui-sans-serif"/>
              </a:rPr>
              <a:t>)</a:t>
            </a:r>
            <a:r>
              <a:rPr lang="en-US" b="0" i="0" dirty="0">
                <a:effectLst/>
                <a:latin typeface="ui-sans-serif"/>
              </a:rPr>
              <a:t>. </a:t>
            </a:r>
            <a:r>
              <a:rPr lang="en-US" b="0" i="0" u="none" strike="noStrike" dirty="0">
                <a:solidFill>
                  <a:srgbClr val="ECECEC"/>
                </a:solidFill>
                <a:effectLst/>
                <a:latin typeface="ui-sans-serif"/>
                <a:hlinkClick r:id="rId6"/>
              </a:rPr>
              <a:t>https://doi.org/10.1109/incccs60947.2024.10593315</a:t>
            </a:r>
            <a:endParaRPr lang="en-US" b="0" i="0" u="none" strike="noStrike" dirty="0">
              <a:solidFill>
                <a:srgbClr val="ECECEC"/>
              </a:solidFill>
              <a:effectLst/>
              <a:latin typeface="ui-sans-serif"/>
            </a:endParaRPr>
          </a:p>
          <a:p>
            <a:pPr lvl="1"/>
            <a:r>
              <a:rPr lang="en-US" dirty="0">
                <a:hlinkClick r:id="rId7"/>
              </a:rPr>
              <a:t>Link to Paper</a:t>
            </a:r>
            <a:endParaRPr lang="en-US" b="1" dirty="0">
              <a:latin typeface="Arial Narrow" panose="020B0606020202030204" pitchFamily="34" charset="0"/>
            </a:endParaRPr>
          </a:p>
          <a:p>
            <a:r>
              <a:rPr lang="en-US" b="1" dirty="0">
                <a:latin typeface="Arial Narrow" panose="020B0606020202030204" pitchFamily="34" charset="0"/>
              </a:rPr>
              <a:t>Paper III:</a:t>
            </a:r>
          </a:p>
          <a:p>
            <a:pPr lvl="1"/>
            <a:r>
              <a:rPr lang="en-US" b="1" i="0" dirty="0">
                <a:effectLst/>
                <a:latin typeface="ui-sans-serif"/>
              </a:rPr>
              <a:t>Taslim, D. G., </a:t>
            </a:r>
            <a:r>
              <a:rPr lang="en-US" b="1" i="0" dirty="0" err="1">
                <a:effectLst/>
                <a:latin typeface="ui-sans-serif"/>
              </a:rPr>
              <a:t>Tjahyadi</a:t>
            </a:r>
            <a:r>
              <a:rPr lang="en-US" b="1" i="0" dirty="0">
                <a:effectLst/>
                <a:latin typeface="ui-sans-serif"/>
              </a:rPr>
              <a:t>, H., &amp; </a:t>
            </a:r>
            <a:r>
              <a:rPr lang="en-US" b="1" i="0" dirty="0" err="1">
                <a:effectLst/>
                <a:latin typeface="ui-sans-serif"/>
              </a:rPr>
              <a:t>Murwantara</a:t>
            </a:r>
            <a:r>
              <a:rPr lang="en-US" b="1" i="0" dirty="0">
                <a:effectLst/>
                <a:latin typeface="ui-sans-serif"/>
              </a:rPr>
              <a:t>, I. M. (2024).</a:t>
            </a:r>
            <a:r>
              <a:rPr lang="en-US" b="0" i="0" dirty="0">
                <a:effectLst/>
                <a:latin typeface="ui-sans-serif"/>
              </a:rPr>
              <a:t> A study of LSTM </a:t>
            </a:r>
            <a:r>
              <a:rPr lang="en-US" b="0" i="0" dirty="0" err="1">
                <a:effectLst/>
                <a:latin typeface="ui-sans-serif"/>
              </a:rPr>
              <a:t>optimisation</a:t>
            </a:r>
            <a:r>
              <a:rPr lang="en-US" b="0" i="0" dirty="0">
                <a:effectLst/>
                <a:latin typeface="ui-sans-serif"/>
              </a:rPr>
              <a:t> for forecasting volatile time series data. </a:t>
            </a:r>
            <a:r>
              <a:rPr lang="en-US" b="0" i="1" dirty="0">
                <a:effectLst/>
                <a:latin typeface="ui-sans-serif"/>
              </a:rPr>
              <a:t>2024 4th International Conference on Computer Communication and Artificial Intelligence (CCAI)</a:t>
            </a:r>
            <a:r>
              <a:rPr lang="en-US" b="0" i="0" dirty="0">
                <a:effectLst/>
                <a:latin typeface="ui-sans-serif"/>
              </a:rPr>
              <a:t>. </a:t>
            </a:r>
            <a:r>
              <a:rPr lang="en-US" b="0" i="0" u="none" strike="noStrike" dirty="0">
                <a:solidFill>
                  <a:srgbClr val="ECECEC"/>
                </a:solidFill>
                <a:effectLst/>
                <a:latin typeface="ui-sans-serif"/>
                <a:hlinkClick r:id="rId8"/>
              </a:rPr>
              <a:t>https://doi.org/10.1109/ccai61966.2024.10603183</a:t>
            </a:r>
            <a:endParaRPr lang="en-US" b="0" i="0" dirty="0">
              <a:solidFill>
                <a:srgbClr val="ECECEC"/>
              </a:solidFill>
              <a:effectLst/>
              <a:latin typeface="ui-sans-serif"/>
            </a:endParaRPr>
          </a:p>
          <a:p>
            <a:pPr lvl="1"/>
            <a:r>
              <a:rPr lang="en-US" dirty="0">
                <a:hlinkClick r:id="rId9"/>
              </a:rPr>
              <a:t>Link to Paper</a:t>
            </a:r>
            <a:endParaRPr lang="en-US" b="1" dirty="0">
              <a:latin typeface="Arial Narrow" panose="020B0606020202030204" pitchFamily="34" charset="0"/>
            </a:endParaRPr>
          </a:p>
          <a:p>
            <a:r>
              <a:rPr lang="en-US" b="1" dirty="0">
                <a:latin typeface="Arial Narrow" panose="020B0606020202030204" pitchFamily="34" charset="0"/>
              </a:rPr>
              <a:t>Paper IV:</a:t>
            </a:r>
          </a:p>
          <a:p>
            <a:pPr lvl="1"/>
            <a:r>
              <a:rPr lang="en-US" b="1" i="0" dirty="0" err="1">
                <a:effectLst/>
                <a:latin typeface="ui-sans-serif"/>
              </a:rPr>
              <a:t>Amruth</a:t>
            </a:r>
            <a:r>
              <a:rPr lang="en-US" b="1" i="0" dirty="0">
                <a:effectLst/>
                <a:latin typeface="ui-sans-serif"/>
              </a:rPr>
              <a:t>, S. J., </a:t>
            </a:r>
            <a:r>
              <a:rPr lang="en-US" b="1" i="0" dirty="0" err="1">
                <a:effectLst/>
                <a:latin typeface="ui-sans-serif"/>
              </a:rPr>
              <a:t>Nigelesh</a:t>
            </a:r>
            <a:r>
              <a:rPr lang="en-US" b="1" i="0" dirty="0">
                <a:effectLst/>
                <a:latin typeface="ui-sans-serif"/>
              </a:rPr>
              <a:t>, T., </a:t>
            </a:r>
            <a:r>
              <a:rPr lang="en-US" b="1" i="0" dirty="0" err="1">
                <a:effectLst/>
                <a:latin typeface="ui-sans-serif"/>
              </a:rPr>
              <a:t>Shruthik</a:t>
            </a:r>
            <a:r>
              <a:rPr lang="en-US" b="1" i="0" dirty="0">
                <a:effectLst/>
                <a:latin typeface="ui-sans-serif"/>
              </a:rPr>
              <a:t>, V. S., Reddy, V. S., &amp; </a:t>
            </a:r>
            <a:r>
              <a:rPr lang="en-US" b="1" i="0" dirty="0" err="1">
                <a:effectLst/>
                <a:latin typeface="ui-sans-serif"/>
              </a:rPr>
              <a:t>Venugopalan</a:t>
            </a:r>
            <a:r>
              <a:rPr lang="en-US" b="1" i="0" dirty="0">
                <a:effectLst/>
                <a:latin typeface="ui-sans-serif"/>
              </a:rPr>
              <a:t>, M. (2024).</a:t>
            </a:r>
            <a:r>
              <a:rPr lang="en-US" b="0" i="0" dirty="0">
                <a:effectLst/>
                <a:latin typeface="ui-sans-serif"/>
              </a:rPr>
              <a:t> Time-series-based stock market analysis using machine learning. </a:t>
            </a:r>
            <a:r>
              <a:rPr lang="en-US" b="0" i="1" dirty="0">
                <a:effectLst/>
                <a:latin typeface="ui-sans-serif"/>
              </a:rPr>
              <a:t>2024 15th International Conference on Computing Communication and Networking Technologies (ICCCNT)</a:t>
            </a:r>
            <a:r>
              <a:rPr lang="en-US" b="0" i="0" dirty="0">
                <a:effectLst/>
                <a:latin typeface="ui-sans-serif"/>
              </a:rPr>
              <a:t>, 1–7</a:t>
            </a:r>
            <a:r>
              <a:rPr lang="en-US" b="0" i="0" dirty="0">
                <a:solidFill>
                  <a:srgbClr val="ECECEC"/>
                </a:solidFill>
                <a:effectLst/>
                <a:latin typeface="ui-sans-serif"/>
              </a:rPr>
              <a:t>. </a:t>
            </a:r>
            <a:r>
              <a:rPr lang="en-US" b="0" i="0" u="none" strike="noStrike" dirty="0">
                <a:solidFill>
                  <a:srgbClr val="ECECEC"/>
                </a:solidFill>
                <a:effectLst/>
                <a:latin typeface="ui-sans-serif"/>
                <a:hlinkClick r:id="rId10"/>
              </a:rPr>
              <a:t>https://doi.org/10.1109/icccnt61001.2024.10725232</a:t>
            </a:r>
            <a:endParaRPr lang="en-US" b="0" i="0" u="none" strike="noStrike" dirty="0">
              <a:solidFill>
                <a:srgbClr val="ECECEC"/>
              </a:solidFill>
              <a:effectLst/>
              <a:latin typeface="ui-sans-serif"/>
            </a:endParaRPr>
          </a:p>
          <a:p>
            <a:pPr lvl="1"/>
            <a:r>
              <a:rPr lang="en-US" dirty="0">
                <a:hlinkClick r:id="rId11"/>
              </a:rPr>
              <a:t>Link to Paper</a:t>
            </a:r>
            <a:endParaRPr lang="en-US" dirty="0"/>
          </a:p>
          <a:p>
            <a:endParaRPr lang="en-US" dirty="0"/>
          </a:p>
          <a:p>
            <a:endParaRPr lang="en-US" dirty="0"/>
          </a:p>
          <a:p>
            <a:pPr marL="228600" lvl="0" indent="-50800" algn="l" rtl="0">
              <a:lnSpc>
                <a:spcPct val="90000"/>
              </a:lnSpc>
              <a:spcBef>
                <a:spcPts val="0"/>
              </a:spcBef>
              <a:spcAft>
                <a:spcPts val="0"/>
              </a:spcAft>
              <a:buClr>
                <a:schemeClr val="dk1"/>
              </a:buClr>
              <a:buSzPts val="2800"/>
              <a:buNone/>
            </a:pPr>
            <a:endParaRPr lang="en-US" dirty="0"/>
          </a:p>
          <a:p>
            <a:pPr marL="0" indent="0">
              <a:buNone/>
            </a:pPr>
            <a:endParaRPr lang="en-IN" dirty="0"/>
          </a:p>
        </p:txBody>
      </p:sp>
      <p:sp>
        <p:nvSpPr>
          <p:cNvPr id="4" name="Footer Placeholder 3">
            <a:extLst>
              <a:ext uri="{FF2B5EF4-FFF2-40B4-BE49-F238E27FC236}">
                <a16:creationId xmlns:a16="http://schemas.microsoft.com/office/drawing/2014/main" id="{8A5D2E89-4DB5-83EE-42E2-219DD1397A79}"/>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043AE9EC-4D3A-EB02-BC1B-6265A76BB041}"/>
              </a:ext>
            </a:extLst>
          </p:cNvPr>
          <p:cNvSpPr>
            <a:spLocks noGrp="1"/>
          </p:cNvSpPr>
          <p:nvPr>
            <p:ph type="sldNum" sz="quarter" idx="12"/>
          </p:nvPr>
        </p:nvSpPr>
        <p:spPr/>
        <p:txBody>
          <a:bodyPr/>
          <a:lstStyle/>
          <a:p>
            <a:fld id="{90EDC104-672A-4227-99C4-0E2CC007FDBA}" type="slidenum">
              <a:rPr lang="en-IN" smtClean="0"/>
              <a:t>36</a:t>
            </a:fld>
            <a:endParaRPr lang="en-IN"/>
          </a:p>
        </p:txBody>
      </p:sp>
    </p:spTree>
    <p:extLst>
      <p:ext uri="{BB962C8B-B14F-4D97-AF65-F5344CB8AC3E}">
        <p14:creationId xmlns:p14="http://schemas.microsoft.com/office/powerpoint/2010/main" val="728640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3092</TotalTime>
  <Words>3171</Words>
  <Application>Microsoft Office PowerPoint</Application>
  <PresentationFormat>Widescreen</PresentationFormat>
  <Paragraphs>294</Paragraphs>
  <Slides>36</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Arial Narrow</vt:lpstr>
      <vt:lpstr>Calibri</vt:lpstr>
      <vt:lpstr>Calibri Light</vt:lpstr>
      <vt:lpstr>Mongolian Baiti</vt:lpstr>
      <vt:lpstr>Söhne</vt:lpstr>
      <vt:lpstr>Times New Roman</vt:lpstr>
      <vt:lpstr>ui-sans-serif</vt:lpstr>
      <vt:lpstr>Office Theme</vt:lpstr>
      <vt:lpstr>Enhancing Stock Price Prediction for Nifty 50 IT Sector Companies: A Comparative Study of ML Models with Event Data Integration Economics and Finance  </vt:lpstr>
      <vt:lpstr>Abstract</vt:lpstr>
      <vt:lpstr>Introduction</vt:lpstr>
      <vt:lpstr>Need of study</vt:lpstr>
      <vt:lpstr>Problem Statement</vt:lpstr>
      <vt:lpstr>Objectives</vt:lpstr>
      <vt:lpstr>Exploratory Data Analysis</vt:lpstr>
      <vt:lpstr>Exploratory Data Analysis (cont.) </vt:lpstr>
      <vt:lpstr>Exploratory Data Analysis (cont.) </vt:lpstr>
      <vt:lpstr>Exploratory Data Analysis (cont.) </vt:lpstr>
      <vt:lpstr>Related Work</vt:lpstr>
      <vt:lpstr>Related Work</vt:lpstr>
      <vt:lpstr>Related Work</vt:lpstr>
      <vt:lpstr>Related Work</vt:lpstr>
      <vt:lpstr>Related Work</vt:lpstr>
      <vt:lpstr>Proposed Methodology</vt:lpstr>
      <vt:lpstr>PowerPoint Presentation</vt:lpstr>
      <vt:lpstr>Dataset</vt:lpstr>
      <vt:lpstr>Dataset</vt:lpstr>
      <vt:lpstr>Results and Discussion </vt:lpstr>
      <vt:lpstr>Results and Discussion </vt:lpstr>
      <vt:lpstr>Results and Discussion </vt:lpstr>
      <vt:lpstr>Results and Discussion </vt:lpstr>
      <vt:lpstr>Results and Discussion </vt:lpstr>
      <vt:lpstr>Results and Discussion </vt:lpstr>
      <vt:lpstr>Results and Discussion </vt:lpstr>
      <vt:lpstr>Results and Discussion </vt:lpstr>
      <vt:lpstr>Results and Discussion </vt:lpstr>
      <vt:lpstr>Results and Discussion </vt:lpstr>
      <vt:lpstr>Results and Discussion </vt:lpstr>
      <vt:lpstr>Results and Discussion </vt:lpstr>
      <vt:lpstr>Performance Analysis</vt:lpstr>
      <vt:lpstr>Performance Analysis</vt:lpstr>
      <vt:lpstr>Future Enhancement</vt:lpstr>
      <vt:lpstr>Conclusion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Aniket Shinde</cp:lastModifiedBy>
  <cp:revision>29</cp:revision>
  <dcterms:created xsi:type="dcterms:W3CDTF">2023-11-15T14:09:37Z</dcterms:created>
  <dcterms:modified xsi:type="dcterms:W3CDTF">2024-12-13T12:02:30Z</dcterms:modified>
</cp:coreProperties>
</file>