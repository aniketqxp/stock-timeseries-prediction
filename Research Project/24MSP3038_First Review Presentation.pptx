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6" r:id="rId6"/>
    <p:sldId id="260" r:id="rId7"/>
    <p:sldId id="267" r:id="rId8"/>
    <p:sldId id="261" r:id="rId9"/>
    <p:sldId id="262" r:id="rId10"/>
    <p:sldId id="268" r:id="rId11"/>
    <p:sldId id="269" r:id="rId12"/>
    <p:sldId id="270" r:id="rId13"/>
    <p:sldId id="271" r:id="rId14"/>
    <p:sldId id="263" r:id="rId15"/>
    <p:sldId id="264" r:id="rId16"/>
    <p:sldId id="265" r:id="rId17"/>
  </p:sldIdLst>
  <p:sldSz cx="12192000" cy="6858000"/>
  <p:notesSz cx="6858000" cy="9144000"/>
  <p:embeddedFontLst>
    <p:embeddedFont>
      <p:font typeface="Arial Narrow" panose="020B0606020202030204" pitchFamily="3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jgpA3tYX7ecFgO0nqVv4n2HMa+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69248C82-943D-86C5-6644-53F423961776}"/>
            </a:ext>
          </a:extLst>
        </p:cNvPr>
        <p:cNvGrpSpPr/>
        <p:nvPr/>
      </p:nvGrpSpPr>
      <p:grpSpPr>
        <a:xfrm>
          <a:off x="0" y="0"/>
          <a:ext cx="0" cy="0"/>
          <a:chOff x="0" y="0"/>
          <a:chExt cx="0" cy="0"/>
        </a:xfrm>
      </p:grpSpPr>
      <p:sp>
        <p:nvSpPr>
          <p:cNvPr id="112" name="Google Shape;112;p4:notes">
            <a:extLst>
              <a:ext uri="{FF2B5EF4-FFF2-40B4-BE49-F238E27FC236}">
                <a16:creationId xmlns:a16="http://schemas.microsoft.com/office/drawing/2014/main" id="{F15E00C0-EF89-6801-7830-9C9D0B15E6A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4:notes">
            <a:extLst>
              <a:ext uri="{FF2B5EF4-FFF2-40B4-BE49-F238E27FC236}">
                <a16:creationId xmlns:a16="http://schemas.microsoft.com/office/drawing/2014/main" id="{06162BC3-0301-1791-F72F-8519285B93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1747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82D9522C-C16B-D027-D1C3-930096DDB7B1}"/>
            </a:ext>
          </a:extLst>
        </p:cNvPr>
        <p:cNvGrpSpPr/>
        <p:nvPr/>
      </p:nvGrpSpPr>
      <p:grpSpPr>
        <a:xfrm>
          <a:off x="0" y="0"/>
          <a:ext cx="0" cy="0"/>
          <a:chOff x="0" y="0"/>
          <a:chExt cx="0" cy="0"/>
        </a:xfrm>
      </p:grpSpPr>
      <p:sp>
        <p:nvSpPr>
          <p:cNvPr id="120" name="Google Shape;120;p5:notes">
            <a:extLst>
              <a:ext uri="{FF2B5EF4-FFF2-40B4-BE49-F238E27FC236}">
                <a16:creationId xmlns:a16="http://schemas.microsoft.com/office/drawing/2014/main" id="{32275342-56A5-C54C-FAE7-FAD9A94DF5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a:extLst>
              <a:ext uri="{FF2B5EF4-FFF2-40B4-BE49-F238E27FC236}">
                <a16:creationId xmlns:a16="http://schemas.microsoft.com/office/drawing/2014/main" id="{20AFA520-487D-255C-8729-3003D11C21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999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E474C464-B52D-F4EB-4D0F-28FACC5E742C}"/>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54093780-64CF-0319-727E-31C7D6C49F9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FE81E35E-49D4-473F-4F6D-F240C9B5E9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07560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EED9F48A-1F71-E0ED-82BD-FEC4681910F5}"/>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D21F0A8D-8414-299C-A2CE-9A1BA5DE98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382D3605-B655-65A4-C99D-898164A8F0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36864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4AB4E516-19D7-74D6-3CD8-B358E214CBB5}"/>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C8305A73-F723-9D3A-4F18-9308778426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F167B596-706F-B977-A617-3E88845467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946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AF9ACEBC-4137-D93C-D737-E0193A1532AD}"/>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32274509-5B39-1DD6-B2FD-571C336DF3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BE3318CE-FA7D-D218-87F3-EC50FBAA88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26065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0"/>
          <p:cNvSpPr>
            <a:spLocks noGrp="1"/>
          </p:cNvSpPr>
          <p:nvPr>
            <p:ph type="pic" idx="2"/>
          </p:nvPr>
        </p:nvSpPr>
        <p:spPr>
          <a:xfrm>
            <a:off x="5183188" y="987425"/>
            <a:ext cx="6172200" cy="4873625"/>
          </a:xfrm>
          <a:prstGeom prst="rect">
            <a:avLst/>
          </a:prstGeom>
          <a:noFill/>
          <a:ln>
            <a:noFill/>
          </a:ln>
        </p:spPr>
      </p:sp>
      <p:sp>
        <p:nvSpPr>
          <p:cNvPr id="68" name="Google Shape;68;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i.org/10.1109/iciteics61368.2024.10625537"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ranaroussi/yfinance"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ieeexplore.ieee.org/document/10593315" TargetMode="External"/><Relationship Id="rId3" Type="http://schemas.openxmlformats.org/officeDocument/2006/relationships/hyperlink" Target="https://doi.org/10.1109/iciteics61368.2024.10625537" TargetMode="External"/><Relationship Id="rId7" Type="http://schemas.openxmlformats.org/officeDocument/2006/relationships/hyperlink" Target="https://doi.org/10.1109/incccs60947.2024.10593315" TargetMode="External"/><Relationship Id="rId12" Type="http://schemas.openxmlformats.org/officeDocument/2006/relationships/hyperlink" Target="https://ieeexplore.ieee.org/document/10725232"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ieeexplore.ieee.org/document/10673919" TargetMode="External"/><Relationship Id="rId11" Type="http://schemas.openxmlformats.org/officeDocument/2006/relationships/hyperlink" Target="https://doi.org/10.1109/icccnt61001.2024.10725232" TargetMode="External"/><Relationship Id="rId5" Type="http://schemas.openxmlformats.org/officeDocument/2006/relationships/hyperlink" Target="https://doi.org/10.1109/snpd61259.2024.10673919" TargetMode="External"/><Relationship Id="rId10" Type="http://schemas.openxmlformats.org/officeDocument/2006/relationships/hyperlink" Target="https://ieeexplore.ieee.org/document/10603183" TargetMode="External"/><Relationship Id="rId4" Type="http://schemas.openxmlformats.org/officeDocument/2006/relationships/hyperlink" Target="https://ieeexplore.ieee.org/document/10625537" TargetMode="External"/><Relationship Id="rId9" Type="http://schemas.openxmlformats.org/officeDocument/2006/relationships/hyperlink" Target="https://doi.org/10.1109/ccai61966.2024.1060318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62523" y="1315989"/>
            <a:ext cx="12129477" cy="4124194"/>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Arial Narrow"/>
              <a:buNone/>
            </a:pPr>
            <a:r>
              <a:rPr lang="en-US" sz="4000" dirty="0">
                <a:latin typeface="Arial Narrow" panose="020B0606020202030204" pitchFamily="34" charset="0"/>
              </a:rPr>
              <a:t>Enhancing Stock Price Prediction for Nifty 50 IT Sector Companies: A Comparative Study of ML Models with Feature Selection and Event Data Integration</a:t>
            </a:r>
            <a:br>
              <a:rPr lang="en-US" dirty="0">
                <a:latin typeface="Arial Narrow"/>
                <a:ea typeface="Arial Narrow"/>
                <a:cs typeface="Arial Narrow"/>
                <a:sym typeface="Arial Narrow"/>
              </a:rPr>
            </a:br>
            <a:r>
              <a:rPr lang="en-US" sz="3200" dirty="0">
                <a:solidFill>
                  <a:schemeClr val="tx1">
                    <a:lumMod val="50000"/>
                    <a:lumOff val="50000"/>
                  </a:schemeClr>
                </a:solidFill>
                <a:latin typeface="Arial Narrow" panose="020B0606020202030204" pitchFamily="34" charset="0"/>
              </a:rPr>
              <a:t>Economics and Finance</a:t>
            </a:r>
            <a:br>
              <a:rPr lang="en-US" dirty="0">
                <a:latin typeface="Arial Narrow"/>
                <a:ea typeface="Arial Narrow"/>
                <a:cs typeface="Arial Narrow"/>
                <a:sym typeface="Arial Narrow"/>
              </a:rPr>
            </a:br>
            <a:r>
              <a:rPr lang="en-US" dirty="0">
                <a:latin typeface="Arial Narrow"/>
                <a:ea typeface="Arial Narrow"/>
                <a:cs typeface="Arial Narrow"/>
                <a:sym typeface="Arial Narrow"/>
              </a:rPr>
              <a:t> </a:t>
            </a:r>
            <a:endParaRPr dirty="0">
              <a:latin typeface="Arial Narrow"/>
              <a:ea typeface="Arial Narrow"/>
              <a:cs typeface="Arial Narrow"/>
              <a:sym typeface="Arial Narrow"/>
            </a:endParaRPr>
          </a:p>
        </p:txBody>
      </p:sp>
      <p:sp>
        <p:nvSpPr>
          <p:cNvPr id="89" name="Google Shape;89;p1"/>
          <p:cNvSpPr txBox="1">
            <a:spLocks noGrp="1"/>
          </p:cNvSpPr>
          <p:nvPr>
            <p:ph type="subTitle" idx="1"/>
          </p:nvPr>
        </p:nvSpPr>
        <p:spPr>
          <a:xfrm>
            <a:off x="689548" y="4921173"/>
            <a:ext cx="10952813" cy="1655762"/>
          </a:xfrm>
          <a:prstGeom prst="rect">
            <a:avLst/>
          </a:prstGeom>
          <a:noFill/>
          <a:ln>
            <a:noFill/>
          </a:ln>
        </p:spPr>
        <p:txBody>
          <a:bodyPr spcFirstLastPara="1" wrap="square" lIns="91425" tIns="45700" rIns="91425" bIns="45700" anchor="t" anchorCtr="0">
            <a:normAutofit/>
          </a:bodyPr>
          <a:lstStyle/>
          <a:p>
            <a:pPr algn="r"/>
            <a:r>
              <a:rPr lang="en-US" dirty="0">
                <a:latin typeface="Arial Narrow" panose="020B0606020202030204" pitchFamily="34" charset="0"/>
              </a:rPr>
              <a:t>24MSP3038</a:t>
            </a:r>
          </a:p>
          <a:p>
            <a:pPr algn="r"/>
            <a:r>
              <a:rPr lang="en-US" dirty="0">
                <a:latin typeface="Arial Narrow" panose="020B0606020202030204" pitchFamily="34" charset="0"/>
              </a:rPr>
              <a:t>Aniket Shinde</a:t>
            </a:r>
          </a:p>
          <a:p>
            <a:pPr algn="r"/>
            <a:r>
              <a:rPr lang="en-US" dirty="0">
                <a:latin typeface="Arial Narrow" panose="020B0606020202030204" pitchFamily="34" charset="0"/>
              </a:rPr>
              <a:t>22/11/2024</a:t>
            </a:r>
            <a:endParaRPr lang="en-IN" dirty="0">
              <a:latin typeface="Arial Narrow" panose="020B0606020202030204" pitchFamily="34" charset="0"/>
            </a:endParaRPr>
          </a:p>
        </p:txBody>
      </p:sp>
      <p:pic>
        <p:nvPicPr>
          <p:cNvPr id="90" name="Google Shape;90;p1"/>
          <p:cNvPicPr preferRelativeResize="0"/>
          <p:nvPr/>
        </p:nvPicPr>
        <p:blipFill rotWithShape="1">
          <a:blip r:embed="rId3">
            <a:alphaModFix/>
          </a:blip>
          <a:srcRect/>
          <a:stretch/>
        </p:blipFill>
        <p:spPr>
          <a:xfrm>
            <a:off x="2285468" y="0"/>
            <a:ext cx="7621064" cy="1695687"/>
          </a:xfrm>
          <a:prstGeom prst="rect">
            <a:avLst/>
          </a:prstGeom>
          <a:noFill/>
          <a:ln>
            <a:noFill/>
          </a:ln>
        </p:spPr>
      </p:pic>
      <p:sp>
        <p:nvSpPr>
          <p:cNvPr id="91" name="Google Shape;91;p1"/>
          <p:cNvSpPr/>
          <p:nvPr/>
        </p:nvSpPr>
        <p:spPr>
          <a:xfrm>
            <a:off x="4227227" y="1816676"/>
            <a:ext cx="3507698" cy="58461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i="0" u="none" strike="noStrike" cap="none">
                <a:solidFill>
                  <a:schemeClr val="dk1"/>
                </a:solidFill>
                <a:latin typeface="Arial Narrow"/>
                <a:ea typeface="Arial Narrow"/>
                <a:cs typeface="Arial Narrow"/>
                <a:sym typeface="Arial Narrow"/>
              </a:rPr>
              <a:t>First Review</a:t>
            </a:r>
            <a:endParaRPr sz="3200" b="1" i="0" u="none" strike="noStrike" cap="none">
              <a:solidFill>
                <a:schemeClr val="dk1"/>
              </a:solidFill>
              <a:latin typeface="Arial Narrow"/>
              <a:ea typeface="Arial Narrow"/>
              <a:cs typeface="Arial Narrow"/>
              <a:sym typeface="Arial Narrow"/>
            </a:endParaRPr>
          </a:p>
        </p:txBody>
      </p:sp>
      <p:sp>
        <p:nvSpPr>
          <p:cNvPr id="92" name="Google Shape;92;p1"/>
          <p:cNvSpPr/>
          <p:nvPr/>
        </p:nvSpPr>
        <p:spPr>
          <a:xfrm>
            <a:off x="239843" y="4781862"/>
            <a:ext cx="4916773" cy="1795073"/>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i="0" u="none" strike="noStrike" cap="none">
                <a:solidFill>
                  <a:schemeClr val="dk1"/>
                </a:solidFill>
                <a:latin typeface="Arial Narrow"/>
                <a:ea typeface="Arial Narrow"/>
                <a:cs typeface="Arial Narrow"/>
                <a:sym typeface="Arial Narrow"/>
              </a:rPr>
              <a:t>Course Code: </a:t>
            </a:r>
            <a:r>
              <a:rPr lang="en-US" sz="1800" b="0" i="0" u="none" strike="noStrike" cap="none">
                <a:solidFill>
                  <a:schemeClr val="dk1"/>
                </a:solidFill>
                <a:latin typeface="Arial Narrow"/>
                <a:ea typeface="Arial Narrow"/>
                <a:cs typeface="Arial Narrow"/>
                <a:sym typeface="Arial Narrow"/>
              </a:rPr>
              <a:t>CS6510</a:t>
            </a:r>
            <a:endParaRPr/>
          </a:p>
          <a:p>
            <a:pPr marL="0" marR="0" lvl="0" indent="0" algn="l" rtl="0">
              <a:spcBef>
                <a:spcPts val="0"/>
              </a:spcBef>
              <a:spcAft>
                <a:spcPts val="0"/>
              </a:spcAft>
              <a:buNone/>
            </a:pPr>
            <a:r>
              <a:rPr lang="en-US" sz="1800" b="1">
                <a:solidFill>
                  <a:schemeClr val="dk1"/>
                </a:solidFill>
                <a:latin typeface="Arial Narrow"/>
                <a:ea typeface="Arial Narrow"/>
                <a:cs typeface="Arial Narrow"/>
                <a:sym typeface="Arial Narrow"/>
              </a:rPr>
              <a:t>Course Title:  </a:t>
            </a:r>
            <a:r>
              <a:rPr lang="en-US" sz="1800">
                <a:solidFill>
                  <a:schemeClr val="dk1"/>
                </a:solidFill>
                <a:latin typeface="Arial Narrow"/>
                <a:ea typeface="Arial Narrow"/>
                <a:cs typeface="Arial Narrow"/>
                <a:sym typeface="Arial Narrow"/>
              </a:rPr>
              <a:t>Project 1</a:t>
            </a:r>
            <a:endParaRPr sz="1800">
              <a:solidFill>
                <a:schemeClr val="dk1"/>
              </a:solidFill>
              <a:latin typeface="Arial Narrow"/>
              <a:ea typeface="Arial Narrow"/>
              <a:cs typeface="Arial Narrow"/>
              <a:sym typeface="Arial Narrow"/>
            </a:endParaRPr>
          </a:p>
        </p:txBody>
      </p:sp>
      <p:sp>
        <p:nvSpPr>
          <p:cNvPr id="93" name="Google Shape;9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Arial Narrow"/>
                <a:ea typeface="Arial Narrow"/>
                <a:cs typeface="Arial Narrow"/>
                <a:sym typeface="Arial Narrow"/>
              </a:rPr>
              <a:t>CS6501 Project I , PGP, ICER, VIT Bangalore</a:t>
            </a:r>
            <a:endParaRPr b="1">
              <a:latin typeface="Arial Narrow"/>
              <a:ea typeface="Arial Narrow"/>
              <a:cs typeface="Arial Narrow"/>
              <a:sym typeface="Arial Narrow"/>
            </a:endParaRPr>
          </a:p>
        </p:txBody>
      </p:sp>
      <p:sp>
        <p:nvSpPr>
          <p:cNvPr id="94" name="Google Shape;9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dirty="0">
                <a:latin typeface="Arial Narrow"/>
                <a:ea typeface="Arial Narrow"/>
                <a:cs typeface="Arial Narrow"/>
                <a:sym typeface="Arial Narrow"/>
              </a:rPr>
              <a:t>Problem Statement</a:t>
            </a:r>
            <a:endParaRPr b="1" dirty="0">
              <a:latin typeface="Arial Narrow"/>
              <a:ea typeface="Arial Narrow"/>
              <a:cs typeface="Arial Narrow"/>
              <a:sym typeface="Arial Narrow"/>
            </a:endParaRPr>
          </a:p>
        </p:txBody>
      </p:sp>
      <p:sp>
        <p:nvSpPr>
          <p:cNvPr id="100" name="Google Shape;100;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dirty="0"/>
              <a:t>Predicting stock prices in the Nifty 50 IT sector is challenging due to high volatility and the impact of market-moving events, making it necessary to use models that integrate event-driven data for improved accuracy</a:t>
            </a:r>
            <a:endParaRPr dirty="0"/>
          </a:p>
        </p:txBody>
      </p:sp>
      <p:sp>
        <p:nvSpPr>
          <p:cNvPr id="101" name="Google Shape;101;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02" name="Google Shape;102;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dirty="0">
                <a:latin typeface="Arial Narrow"/>
                <a:ea typeface="Arial Narrow"/>
                <a:cs typeface="Arial Narrow"/>
                <a:sym typeface="Arial Narrow"/>
              </a:rPr>
              <a:t>Objectives</a:t>
            </a:r>
            <a:endParaRPr dirty="0">
              <a:latin typeface="Arial Narrow"/>
              <a:ea typeface="Arial Narrow"/>
              <a:cs typeface="Arial Narrow"/>
              <a:sym typeface="Arial Narrow"/>
            </a:endParaRPr>
          </a:p>
        </p:txBody>
      </p:sp>
      <p:sp>
        <p:nvSpPr>
          <p:cNvPr id="109" name="Google Shape;10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10" name="Google Shape;11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2" name="Text Placeholder 1">
            <a:extLst>
              <a:ext uri="{FF2B5EF4-FFF2-40B4-BE49-F238E27FC236}">
                <a16:creationId xmlns:a16="http://schemas.microsoft.com/office/drawing/2014/main" id="{7B840E7E-ED41-ABAA-518E-364DDC1A34DC}"/>
              </a:ext>
            </a:extLst>
          </p:cNvPr>
          <p:cNvSpPr>
            <a:spLocks noGrp="1" noChangeArrowheads="1"/>
          </p:cNvSpPr>
          <p:nvPr>
            <p:ph type="body" idx="1"/>
          </p:nvPr>
        </p:nvSpPr>
        <p:spPr bwMode="auto">
          <a:xfrm>
            <a:off x="273538" y="1027906"/>
            <a:ext cx="1097866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Develop a predictive framework for Nifty 50 IT sector stock prices.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Integrate event-driven data to improve forecasting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Compare ARIMA, SARIMA, GRU, and LSTM models on multiple metrics.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Identify impactful features through optimized feature selection.</a:t>
            </a: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latin typeface="+mj-lt"/>
              </a:rPr>
              <a:t>  Draw meaningful insights into market movements and forecasting techniques to  support informed investment decisions.</a:t>
            </a:r>
            <a:r>
              <a:rPr kumimoji="0" lang="en-US" altLang="en-US" b="0" i="0" u="none" strike="noStrike" cap="none" normalizeH="0" baseline="0" dirty="0">
                <a:ln>
                  <a:noFill/>
                </a:ln>
                <a:solidFill>
                  <a:schemeClr val="tx1"/>
                </a:solidFill>
                <a:effectLst/>
                <a:latin typeface="+mj-lt"/>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dirty="0">
                <a:latin typeface="Arial Narrow"/>
                <a:ea typeface="Arial Narrow"/>
                <a:cs typeface="Arial Narrow"/>
                <a:sym typeface="Arial Narrow"/>
              </a:rPr>
              <a:t>Review of Related Literature</a:t>
            </a:r>
            <a:endParaRPr b="1" dirty="0">
              <a:latin typeface="Arial Narrow"/>
              <a:ea typeface="Arial Narrow"/>
              <a:cs typeface="Arial Narrow"/>
              <a:sym typeface="Arial Narrow"/>
            </a:endParaRPr>
          </a:p>
        </p:txBody>
      </p:sp>
      <p:sp>
        <p:nvSpPr>
          <p:cNvPr id="117" name="Google Shape;11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18" name="Google Shape;11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3" name="Text Placeholder 2">
            <a:extLst>
              <a:ext uri="{FF2B5EF4-FFF2-40B4-BE49-F238E27FC236}">
                <a16:creationId xmlns:a16="http://schemas.microsoft.com/office/drawing/2014/main" id="{998C814F-B8F5-730A-C89C-8A07E8F25768}"/>
              </a:ext>
            </a:extLst>
          </p:cNvPr>
          <p:cNvSpPr>
            <a:spLocks noGrp="1"/>
          </p:cNvSpPr>
          <p:nvPr>
            <p:ph type="body" idx="1"/>
          </p:nvPr>
        </p:nvSpPr>
        <p:spPr/>
        <p:txBody>
          <a:bodyPr/>
          <a:lstStyle/>
          <a:p>
            <a:r>
              <a:rPr lang="en-IN" b="1" dirty="0"/>
              <a:t>Base Paper</a:t>
            </a:r>
            <a:r>
              <a:rPr lang="en-IN" dirty="0"/>
              <a:t>: </a:t>
            </a:r>
            <a:r>
              <a:rPr lang="en-IN" dirty="0">
                <a:hlinkClick r:id="rId3"/>
              </a:rPr>
              <a:t>https://doi.org/10.1109/iciteics61368.2024.10625537</a:t>
            </a:r>
            <a:endParaRPr lang="en-IN" i="1" dirty="0"/>
          </a:p>
          <a:p>
            <a:r>
              <a:rPr lang="en-IN" b="1" dirty="0"/>
              <a:t>Author Names: </a:t>
            </a:r>
            <a:r>
              <a:rPr lang="en-IN" dirty="0"/>
              <a:t>Mohan, B., Yadav, A., Toleti, J., Reddy, D. S. S., Ahmed, R. K., &amp; </a:t>
            </a:r>
            <a:r>
              <a:rPr lang="en-IN" dirty="0" err="1"/>
              <a:t>Koushitha</a:t>
            </a:r>
            <a:r>
              <a:rPr lang="en-IN" dirty="0"/>
              <a:t>, G.</a:t>
            </a:r>
          </a:p>
          <a:p>
            <a:r>
              <a:rPr lang="en-IN" b="1" dirty="0"/>
              <a:t>Title of the paper: </a:t>
            </a:r>
            <a:r>
              <a:rPr lang="en-IN" i="1" dirty="0"/>
              <a:t>Sentiment-driven predictive models for Nifty 50 stock market fluctuations: A time series analysis perspective</a:t>
            </a:r>
          </a:p>
          <a:p>
            <a:r>
              <a:rPr lang="en-IN" b="1" dirty="0"/>
              <a:t>Journal Title: </a:t>
            </a:r>
            <a:r>
              <a:rPr lang="en-IN" dirty="0"/>
              <a:t>IEEE International Conference on Information Technology, Electronics and Intelligent Communication Systems (ICITEICS)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7D6030EC-0A75-A2A1-F052-6086D57EA1D2}"/>
            </a:ext>
          </a:extLst>
        </p:cNvPr>
        <p:cNvGrpSpPr/>
        <p:nvPr/>
      </p:nvGrpSpPr>
      <p:grpSpPr>
        <a:xfrm>
          <a:off x="0" y="0"/>
          <a:ext cx="0" cy="0"/>
          <a:chOff x="0" y="0"/>
          <a:chExt cx="0" cy="0"/>
        </a:xfrm>
      </p:grpSpPr>
      <p:sp>
        <p:nvSpPr>
          <p:cNvPr id="115" name="Google Shape;115;p4">
            <a:extLst>
              <a:ext uri="{FF2B5EF4-FFF2-40B4-BE49-F238E27FC236}">
                <a16:creationId xmlns:a16="http://schemas.microsoft.com/office/drawing/2014/main" id="{79895B6E-AC07-3E50-F1AB-F95BB358C6CD}"/>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dirty="0">
                <a:latin typeface="Arial Narrow"/>
                <a:ea typeface="Arial Narrow"/>
                <a:cs typeface="Arial Narrow"/>
                <a:sym typeface="Arial Narrow"/>
              </a:rPr>
              <a:t>Review of Related Literature (cont.)</a:t>
            </a:r>
            <a:endParaRPr b="1" dirty="0">
              <a:latin typeface="Arial Narrow"/>
              <a:ea typeface="Arial Narrow"/>
              <a:cs typeface="Arial Narrow"/>
              <a:sym typeface="Arial Narrow"/>
            </a:endParaRPr>
          </a:p>
        </p:txBody>
      </p:sp>
      <p:sp>
        <p:nvSpPr>
          <p:cNvPr id="117" name="Google Shape;117;p4">
            <a:extLst>
              <a:ext uri="{FF2B5EF4-FFF2-40B4-BE49-F238E27FC236}">
                <a16:creationId xmlns:a16="http://schemas.microsoft.com/office/drawing/2014/main" id="{B4FCCEC3-B542-F4BC-6D6A-08387BCC14F7}"/>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18" name="Google Shape;118;p4">
            <a:extLst>
              <a:ext uri="{FF2B5EF4-FFF2-40B4-BE49-F238E27FC236}">
                <a16:creationId xmlns:a16="http://schemas.microsoft.com/office/drawing/2014/main" id="{7F927AB1-1405-077C-44EE-003ED41F749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3" name="Text Placeholder 2">
            <a:extLst>
              <a:ext uri="{FF2B5EF4-FFF2-40B4-BE49-F238E27FC236}">
                <a16:creationId xmlns:a16="http://schemas.microsoft.com/office/drawing/2014/main" id="{2A35FC9B-96E6-AF1E-100E-8832CE6E6494}"/>
              </a:ext>
            </a:extLst>
          </p:cNvPr>
          <p:cNvSpPr>
            <a:spLocks noGrp="1"/>
          </p:cNvSpPr>
          <p:nvPr>
            <p:ph type="body" idx="1"/>
          </p:nvPr>
        </p:nvSpPr>
        <p:spPr/>
        <p:txBody>
          <a:bodyPr/>
          <a:lstStyle/>
          <a:p>
            <a:r>
              <a:rPr lang="en-IN" b="1" dirty="0"/>
              <a:t>Outcomes</a:t>
            </a:r>
          </a:p>
          <a:p>
            <a:pPr lvl="1"/>
            <a:r>
              <a:rPr lang="en-US" dirty="0"/>
              <a:t>LSTM achieved effective predictions with MSE of 24.4 and RMSE of 4.9.</a:t>
            </a:r>
          </a:p>
          <a:p>
            <a:pPr lvl="1"/>
            <a:r>
              <a:rPr lang="en-US" dirty="0"/>
              <a:t>Highlighted the importance of integrating sentiment-driven data for improved forecasting.</a:t>
            </a:r>
          </a:p>
          <a:p>
            <a:r>
              <a:rPr lang="en-US" b="1" dirty="0"/>
              <a:t>Points Taken into Consideration for Methodology</a:t>
            </a:r>
          </a:p>
          <a:p>
            <a:pPr lvl="1"/>
            <a:r>
              <a:rPr lang="en-US" dirty="0"/>
              <a:t>Incorporate sentiment analysis to capture market changes.</a:t>
            </a:r>
          </a:p>
          <a:p>
            <a:pPr lvl="1"/>
            <a:r>
              <a:rPr lang="en-US" dirty="0"/>
              <a:t>Evaluate multiple models, including hybrid approaches.</a:t>
            </a:r>
          </a:p>
          <a:p>
            <a:pPr lvl="1"/>
            <a:r>
              <a:rPr lang="en-US" dirty="0"/>
              <a:t>Experiment with data sources and optimize hyperparameters.</a:t>
            </a:r>
            <a:endParaRPr lang="en-IN" dirty="0"/>
          </a:p>
        </p:txBody>
      </p:sp>
    </p:spTree>
    <p:extLst>
      <p:ext uri="{BB962C8B-B14F-4D97-AF65-F5344CB8AC3E}">
        <p14:creationId xmlns:p14="http://schemas.microsoft.com/office/powerpoint/2010/main" val="2827285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a:latin typeface="Arial Narrow"/>
                <a:ea typeface="Arial Narrow"/>
                <a:cs typeface="Arial Narrow"/>
                <a:sym typeface="Arial Narrow"/>
              </a:rPr>
              <a:t>Dataset</a:t>
            </a:r>
            <a:endParaRPr b="1">
              <a:latin typeface="Arial Narrow"/>
              <a:ea typeface="Arial Narrow"/>
              <a:cs typeface="Arial Narrow"/>
              <a:sym typeface="Arial Narrow"/>
            </a:endParaRPr>
          </a:p>
        </p:txBody>
      </p:sp>
      <p:sp>
        <p:nvSpPr>
          <p:cNvPr id="124" name="Google Shape;124;p5"/>
          <p:cNvSpPr txBox="1">
            <a:spLocks noGrp="1"/>
          </p:cNvSpPr>
          <p:nvPr>
            <p:ph type="body" idx="1"/>
          </p:nvPr>
        </p:nvSpPr>
        <p:spPr>
          <a:xfrm>
            <a:off x="838200" y="1383527"/>
            <a:ext cx="10515600" cy="4793436"/>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ts val="2800"/>
              <a:buChar char="•"/>
            </a:pPr>
            <a:r>
              <a:rPr lang="en-US" dirty="0">
                <a:latin typeface="Arial Narrow"/>
                <a:ea typeface="Arial Narrow"/>
                <a:cs typeface="Arial Narrow"/>
                <a:sym typeface="Arial Narrow"/>
              </a:rPr>
              <a:t>Source of the Dataset: </a:t>
            </a:r>
            <a:r>
              <a:rPr lang="en-US" dirty="0">
                <a:latin typeface="Arial Narrow" panose="020B0606020202030204" pitchFamily="34" charset="0"/>
                <a:hlinkClick r:id="rId3"/>
              </a:rPr>
              <a:t>Yahoo Finance API</a:t>
            </a:r>
            <a:endParaRPr dirty="0"/>
          </a:p>
          <a:p>
            <a:pPr marL="228600" lvl="0" indent="-228600" algn="l" rtl="0">
              <a:lnSpc>
                <a:spcPct val="90000"/>
              </a:lnSpc>
              <a:spcBef>
                <a:spcPts val="1000"/>
              </a:spcBef>
              <a:spcAft>
                <a:spcPts val="0"/>
              </a:spcAft>
              <a:buClr>
                <a:schemeClr val="dk1"/>
              </a:buClr>
              <a:buSzPts val="2800"/>
              <a:buChar char="•"/>
            </a:pPr>
            <a:r>
              <a:rPr lang="en-US" dirty="0">
                <a:latin typeface="Arial Narrow"/>
                <a:ea typeface="Arial Narrow"/>
                <a:cs typeface="Arial Narrow"/>
                <a:sym typeface="Arial Narrow"/>
              </a:rPr>
              <a:t>No. of Observations: 4495</a:t>
            </a:r>
            <a:endParaRPr dirty="0"/>
          </a:p>
          <a:p>
            <a:pPr marL="228600" lvl="0" indent="-228600" algn="l" rtl="0">
              <a:lnSpc>
                <a:spcPct val="90000"/>
              </a:lnSpc>
              <a:spcBef>
                <a:spcPts val="1000"/>
              </a:spcBef>
              <a:spcAft>
                <a:spcPts val="0"/>
              </a:spcAft>
              <a:buClr>
                <a:schemeClr val="dk1"/>
              </a:buClr>
              <a:buSzPts val="2800"/>
              <a:buChar char="•"/>
            </a:pPr>
            <a:r>
              <a:rPr lang="en-US" dirty="0">
                <a:latin typeface="Arial Narrow"/>
                <a:ea typeface="Arial Narrow"/>
                <a:cs typeface="Arial Narrow"/>
                <a:sym typeface="Arial Narrow"/>
              </a:rPr>
              <a:t>Column/Feature Details: </a:t>
            </a:r>
            <a:r>
              <a:rPr lang="en-IN" sz="2200" dirty="0"/>
              <a:t>Date, HCLTECH.NS_Adj Close, INFY.NS_Adj Close, TCS.NS_Adj Close, TECHM.NS_Adj Close, WIPRO.NS_Adj Close, HCLTECH.NS_Close, INFY.NS_Close, TCS.NS_Close, TECHM.NS_Close, WIPRO.NS_Close, HCLTECH.NS_High, INFY.NS_High, TCS.NS_High, TECHM.NS_High, WIPRO.NS_High, HCLTECH.NS_Low, INFY.NS_Low, TCS.NS_Low, TECHM.NS_Low, WIPRO.NS_Low, HCLTECH.NS_Open, INFY.NS_Open, TCS.NS_Open, TECHM.NS_Open, WIPRO.NS_Open, HCLTECH.NS_Volume, INFY.NS_Volume, TCS.NS_Volume, TECHM.NS_Volume, </a:t>
            </a:r>
            <a:r>
              <a:rPr lang="en-IN" sz="2200" dirty="0" err="1"/>
              <a:t>WIPRO.NS_Volume</a:t>
            </a:r>
            <a:endParaRPr sz="2200" dirty="0"/>
          </a:p>
          <a:p>
            <a:pPr marL="228600" lvl="0" indent="-228600" algn="l" rtl="0">
              <a:lnSpc>
                <a:spcPct val="90000"/>
              </a:lnSpc>
              <a:spcBef>
                <a:spcPts val="1000"/>
              </a:spcBef>
              <a:spcAft>
                <a:spcPts val="0"/>
              </a:spcAft>
              <a:buClr>
                <a:schemeClr val="dk1"/>
              </a:buClr>
              <a:buSzPts val="2800"/>
              <a:buChar char="•"/>
            </a:pPr>
            <a:r>
              <a:rPr lang="en-US" dirty="0">
                <a:latin typeface="Arial Narrow"/>
                <a:ea typeface="Arial Narrow"/>
                <a:cs typeface="Arial Narrow"/>
                <a:sym typeface="Arial Narrow"/>
              </a:rPr>
              <a:t>Details about the columns:</a:t>
            </a:r>
          </a:p>
          <a:p>
            <a:pPr marL="685800" lvl="1" indent="-228600">
              <a:spcBef>
                <a:spcPts val="1000"/>
              </a:spcBef>
              <a:buSzPts val="2800"/>
            </a:pPr>
            <a:r>
              <a:rPr lang="en-US" dirty="0">
                <a:latin typeface="Arial Narrow"/>
                <a:ea typeface="Arial Narrow"/>
                <a:cs typeface="Arial Narrow"/>
                <a:sym typeface="Arial Narrow"/>
              </a:rPr>
              <a:t>Date: Discrete (time-series feature)</a:t>
            </a:r>
          </a:p>
          <a:p>
            <a:pPr marL="685800" lvl="1" indent="-228600">
              <a:spcBef>
                <a:spcPts val="1000"/>
              </a:spcBef>
              <a:buSzPts val="2800"/>
            </a:pPr>
            <a:r>
              <a:rPr lang="en-US" dirty="0">
                <a:latin typeface="Arial Narrow"/>
                <a:ea typeface="Arial Narrow"/>
                <a:cs typeface="Arial Narrow"/>
                <a:sym typeface="Arial Narrow"/>
              </a:rPr>
              <a:t>Price-related columns (Adj Close, Close, High, Low, Open): Continuous</a:t>
            </a:r>
          </a:p>
          <a:p>
            <a:pPr marL="685800" lvl="1" indent="-228600">
              <a:spcBef>
                <a:spcPts val="1000"/>
              </a:spcBef>
              <a:buSzPts val="2800"/>
            </a:pPr>
            <a:r>
              <a:rPr lang="en-US" dirty="0">
                <a:latin typeface="Arial Narrow"/>
                <a:ea typeface="Arial Narrow"/>
                <a:cs typeface="Arial Narrow"/>
                <a:sym typeface="Arial Narrow"/>
              </a:rPr>
              <a:t>Volume columns: Discrete (countable values)</a:t>
            </a:r>
          </a:p>
        </p:txBody>
      </p:sp>
      <p:sp>
        <p:nvSpPr>
          <p:cNvPr id="125" name="Google Shape;12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26" name="Google Shape;12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486EBC6A-8172-EE80-F41D-424715DE766E}"/>
            </a:ext>
          </a:extLst>
        </p:cNvPr>
        <p:cNvGrpSpPr/>
        <p:nvPr/>
      </p:nvGrpSpPr>
      <p:grpSpPr>
        <a:xfrm>
          <a:off x="0" y="0"/>
          <a:ext cx="0" cy="0"/>
          <a:chOff x="0" y="0"/>
          <a:chExt cx="0" cy="0"/>
        </a:xfrm>
      </p:grpSpPr>
      <p:sp>
        <p:nvSpPr>
          <p:cNvPr id="123" name="Google Shape;123;p5">
            <a:extLst>
              <a:ext uri="{FF2B5EF4-FFF2-40B4-BE49-F238E27FC236}">
                <a16:creationId xmlns:a16="http://schemas.microsoft.com/office/drawing/2014/main" id="{677623F3-E24C-4B0D-68C7-10957455C909}"/>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a:latin typeface="Arial Narrow"/>
                <a:ea typeface="Arial Narrow"/>
                <a:cs typeface="Arial Narrow"/>
                <a:sym typeface="Arial Narrow"/>
              </a:rPr>
              <a:t>Dataset</a:t>
            </a:r>
            <a:endParaRPr b="1">
              <a:latin typeface="Arial Narrow"/>
              <a:ea typeface="Arial Narrow"/>
              <a:cs typeface="Arial Narrow"/>
              <a:sym typeface="Arial Narrow"/>
            </a:endParaRPr>
          </a:p>
        </p:txBody>
      </p:sp>
      <p:sp>
        <p:nvSpPr>
          <p:cNvPr id="124" name="Google Shape;124;p5">
            <a:extLst>
              <a:ext uri="{FF2B5EF4-FFF2-40B4-BE49-F238E27FC236}">
                <a16:creationId xmlns:a16="http://schemas.microsoft.com/office/drawing/2014/main" id="{E537EEDE-3B54-153F-6CA9-DE8656DB6991}"/>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latin typeface="Arial Narrow"/>
                <a:ea typeface="Arial Narrow"/>
                <a:cs typeface="Arial Narrow"/>
                <a:sym typeface="Arial Narrow"/>
              </a:rPr>
              <a:t>Screenshot of the dataset</a:t>
            </a:r>
            <a:endParaRPr dirty="0">
              <a:latin typeface="Arial Narrow"/>
              <a:ea typeface="Arial Narrow"/>
              <a:cs typeface="Arial Narrow"/>
              <a:sym typeface="Arial Narrow"/>
            </a:endParaRPr>
          </a:p>
        </p:txBody>
      </p:sp>
      <p:sp>
        <p:nvSpPr>
          <p:cNvPr id="125" name="Google Shape;125;p5">
            <a:extLst>
              <a:ext uri="{FF2B5EF4-FFF2-40B4-BE49-F238E27FC236}">
                <a16:creationId xmlns:a16="http://schemas.microsoft.com/office/drawing/2014/main" id="{2CB66629-195B-4FCF-C83F-F9505AB966E9}"/>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26" name="Google Shape;126;p5">
            <a:extLst>
              <a:ext uri="{FF2B5EF4-FFF2-40B4-BE49-F238E27FC236}">
                <a16:creationId xmlns:a16="http://schemas.microsoft.com/office/drawing/2014/main" id="{37DE3FC6-69E7-DB66-C5F1-39A833DC4BA4}"/>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3" name="Picture 2">
            <a:extLst>
              <a:ext uri="{FF2B5EF4-FFF2-40B4-BE49-F238E27FC236}">
                <a16:creationId xmlns:a16="http://schemas.microsoft.com/office/drawing/2014/main" id="{0993E1D9-926C-C799-9AC2-FFAD6A745D89}"/>
              </a:ext>
            </a:extLst>
          </p:cNvPr>
          <p:cNvPicPr>
            <a:picLocks noChangeAspect="1"/>
          </p:cNvPicPr>
          <p:nvPr/>
        </p:nvPicPr>
        <p:blipFill>
          <a:blip r:embed="rId3"/>
          <a:stretch>
            <a:fillRect/>
          </a:stretch>
        </p:blipFill>
        <p:spPr>
          <a:xfrm>
            <a:off x="625502" y="2485797"/>
            <a:ext cx="10940995" cy="3691166"/>
          </a:xfrm>
          <a:prstGeom prst="rect">
            <a:avLst/>
          </a:prstGeom>
        </p:spPr>
      </p:pic>
    </p:spTree>
    <p:extLst>
      <p:ext uri="{BB962C8B-B14F-4D97-AF65-F5344CB8AC3E}">
        <p14:creationId xmlns:p14="http://schemas.microsoft.com/office/powerpoint/2010/main" val="3570079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dirty="0">
                <a:latin typeface="Arial Narrow"/>
                <a:ea typeface="Arial Narrow"/>
                <a:cs typeface="Arial Narrow"/>
                <a:sym typeface="Arial Narrow"/>
              </a:rPr>
              <a:t>Proposed Methodology</a:t>
            </a:r>
            <a:endParaRPr b="1" dirty="0">
              <a:latin typeface="Arial Narrow"/>
              <a:ea typeface="Arial Narrow"/>
              <a:cs typeface="Arial Narrow"/>
              <a:sym typeface="Arial Narrow"/>
            </a:endParaRPr>
          </a:p>
        </p:txBody>
      </p:sp>
      <p:sp>
        <p:nvSpPr>
          <p:cNvPr id="133" name="Google Shape;13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34" name="Google Shape;13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3" name="Picture 2">
            <a:extLst>
              <a:ext uri="{FF2B5EF4-FFF2-40B4-BE49-F238E27FC236}">
                <a16:creationId xmlns:a16="http://schemas.microsoft.com/office/drawing/2014/main" id="{290811D6-C67E-F3F7-1D69-433577899FE2}"/>
              </a:ext>
            </a:extLst>
          </p:cNvPr>
          <p:cNvPicPr>
            <a:picLocks noChangeAspect="1"/>
          </p:cNvPicPr>
          <p:nvPr/>
        </p:nvPicPr>
        <p:blipFill>
          <a:blip r:embed="rId3"/>
          <a:stretch>
            <a:fillRect/>
          </a:stretch>
        </p:blipFill>
        <p:spPr>
          <a:xfrm>
            <a:off x="2663687" y="1545720"/>
            <a:ext cx="5831577" cy="433994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Exploratory Data Analysis </a:t>
            </a:r>
            <a:endParaRPr/>
          </a:p>
        </p:txBody>
      </p:sp>
      <p:sp>
        <p:nvSpPr>
          <p:cNvPr id="140" name="Google Shape;140;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Screenshot of code: </a:t>
            </a:r>
            <a:endParaRPr dirty="0"/>
          </a:p>
          <a:p>
            <a:pPr marL="228600" lvl="0" indent="-228600" algn="l" rtl="0">
              <a:lnSpc>
                <a:spcPct val="90000"/>
              </a:lnSpc>
              <a:spcBef>
                <a:spcPts val="1000"/>
              </a:spcBef>
              <a:spcAft>
                <a:spcPts val="0"/>
              </a:spcAft>
              <a:buClr>
                <a:schemeClr val="dk1"/>
              </a:buClr>
              <a:buSzPts val="2800"/>
              <a:buChar char="•"/>
            </a:pPr>
            <a:endParaRPr lang="en-US" dirty="0"/>
          </a:p>
          <a:p>
            <a:pPr marL="228600" lvl="0" indent="-228600" algn="l" rtl="0">
              <a:lnSpc>
                <a:spcPct val="90000"/>
              </a:lnSpc>
              <a:spcBef>
                <a:spcPts val="1000"/>
              </a:spcBef>
              <a:spcAft>
                <a:spcPts val="0"/>
              </a:spcAft>
              <a:buClr>
                <a:schemeClr val="dk1"/>
              </a:buClr>
              <a:buSzPts val="2800"/>
              <a:buChar char="•"/>
            </a:pPr>
            <a:endParaRPr lang="en-US" dirty="0"/>
          </a:p>
          <a:p>
            <a:pPr marL="228600" lvl="0" indent="-228600" algn="l" rtl="0">
              <a:lnSpc>
                <a:spcPct val="90000"/>
              </a:lnSpc>
              <a:spcBef>
                <a:spcPts val="1000"/>
              </a:spcBef>
              <a:spcAft>
                <a:spcPts val="0"/>
              </a:spcAft>
              <a:buClr>
                <a:schemeClr val="dk1"/>
              </a:buClr>
              <a:buSzPts val="2800"/>
              <a:buChar char="•"/>
            </a:pPr>
            <a:endParaRPr lang="en-US" dirty="0"/>
          </a:p>
          <a:p>
            <a:pPr marL="228600" lvl="0" indent="-228600" algn="l" rtl="0">
              <a:lnSpc>
                <a:spcPct val="90000"/>
              </a:lnSpc>
              <a:spcBef>
                <a:spcPts val="1000"/>
              </a:spcBef>
              <a:spcAft>
                <a:spcPts val="0"/>
              </a:spcAft>
              <a:buClr>
                <a:schemeClr val="dk1"/>
              </a:buClr>
              <a:buSzPts val="2800"/>
              <a:buChar char="•"/>
            </a:pPr>
            <a:r>
              <a:rPr lang="en-US" dirty="0"/>
              <a:t>Output: </a:t>
            </a:r>
            <a:endParaRPr dirty="0"/>
          </a:p>
          <a:p>
            <a:pPr marL="228600" lvl="0" indent="-228600" algn="l" rtl="0">
              <a:lnSpc>
                <a:spcPct val="90000"/>
              </a:lnSpc>
              <a:spcBef>
                <a:spcPts val="1000"/>
              </a:spcBef>
              <a:spcAft>
                <a:spcPts val="0"/>
              </a:spcAft>
              <a:buClr>
                <a:schemeClr val="dk1"/>
              </a:buClr>
              <a:buSzPts val="2800"/>
              <a:buChar char="•"/>
            </a:pPr>
            <a:endParaRPr lang="en-US" dirty="0"/>
          </a:p>
        </p:txBody>
      </p:sp>
      <p:sp>
        <p:nvSpPr>
          <p:cNvPr id="141" name="Google Shape;14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pic>
        <p:nvPicPr>
          <p:cNvPr id="3" name="Picture 2">
            <a:extLst>
              <a:ext uri="{FF2B5EF4-FFF2-40B4-BE49-F238E27FC236}">
                <a16:creationId xmlns:a16="http://schemas.microsoft.com/office/drawing/2014/main" id="{42D9ABE4-E180-38D7-F927-F883F96488F4}"/>
              </a:ext>
            </a:extLst>
          </p:cNvPr>
          <p:cNvPicPr>
            <a:picLocks noChangeAspect="1"/>
          </p:cNvPicPr>
          <p:nvPr/>
        </p:nvPicPr>
        <p:blipFill>
          <a:blip r:embed="rId3"/>
          <a:stretch>
            <a:fillRect/>
          </a:stretch>
        </p:blipFill>
        <p:spPr>
          <a:xfrm>
            <a:off x="4152278" y="1870075"/>
            <a:ext cx="4458322" cy="1790950"/>
          </a:xfrm>
          <a:prstGeom prst="rect">
            <a:avLst/>
          </a:prstGeom>
        </p:spPr>
      </p:pic>
      <p:pic>
        <p:nvPicPr>
          <p:cNvPr id="7" name="Picture 6">
            <a:extLst>
              <a:ext uri="{FF2B5EF4-FFF2-40B4-BE49-F238E27FC236}">
                <a16:creationId xmlns:a16="http://schemas.microsoft.com/office/drawing/2014/main" id="{AD83547A-3DD9-C606-8750-9735A745E090}"/>
              </a:ext>
            </a:extLst>
          </p:cNvPr>
          <p:cNvPicPr>
            <a:picLocks noChangeAspect="1"/>
          </p:cNvPicPr>
          <p:nvPr/>
        </p:nvPicPr>
        <p:blipFill>
          <a:blip r:embed="rId4"/>
          <a:stretch>
            <a:fillRect/>
          </a:stretch>
        </p:blipFill>
        <p:spPr>
          <a:xfrm>
            <a:off x="2313109" y="3702769"/>
            <a:ext cx="3197146" cy="975752"/>
          </a:xfrm>
          <a:prstGeom prst="rect">
            <a:avLst/>
          </a:prstGeom>
        </p:spPr>
      </p:pic>
      <p:pic>
        <p:nvPicPr>
          <p:cNvPr id="9" name="Picture 8">
            <a:extLst>
              <a:ext uri="{FF2B5EF4-FFF2-40B4-BE49-F238E27FC236}">
                <a16:creationId xmlns:a16="http://schemas.microsoft.com/office/drawing/2014/main" id="{2AAF1DEA-1CC3-C7EC-EBA4-4773E2B4B6FA}"/>
              </a:ext>
            </a:extLst>
          </p:cNvPr>
          <p:cNvPicPr>
            <a:picLocks noChangeAspect="1"/>
          </p:cNvPicPr>
          <p:nvPr/>
        </p:nvPicPr>
        <p:blipFill>
          <a:blip r:embed="rId5"/>
          <a:stretch>
            <a:fillRect/>
          </a:stretch>
        </p:blipFill>
        <p:spPr>
          <a:xfrm>
            <a:off x="5510255" y="3711738"/>
            <a:ext cx="3494684" cy="966783"/>
          </a:xfrm>
          <a:prstGeom prst="rect">
            <a:avLst/>
          </a:prstGeom>
        </p:spPr>
      </p:pic>
      <p:pic>
        <p:nvPicPr>
          <p:cNvPr id="11" name="Picture 10">
            <a:extLst>
              <a:ext uri="{FF2B5EF4-FFF2-40B4-BE49-F238E27FC236}">
                <a16:creationId xmlns:a16="http://schemas.microsoft.com/office/drawing/2014/main" id="{1AF6C37E-DAE3-0AFA-27AA-97DE4248732C}"/>
              </a:ext>
            </a:extLst>
          </p:cNvPr>
          <p:cNvPicPr>
            <a:picLocks noChangeAspect="1"/>
          </p:cNvPicPr>
          <p:nvPr/>
        </p:nvPicPr>
        <p:blipFill>
          <a:blip r:embed="rId6"/>
          <a:stretch>
            <a:fillRect/>
          </a:stretch>
        </p:blipFill>
        <p:spPr>
          <a:xfrm>
            <a:off x="8968553" y="3738477"/>
            <a:ext cx="3270680" cy="904336"/>
          </a:xfrm>
          <a:prstGeom prst="rect">
            <a:avLst/>
          </a:prstGeom>
        </p:spPr>
      </p:pic>
      <p:pic>
        <p:nvPicPr>
          <p:cNvPr id="13" name="Picture 12">
            <a:extLst>
              <a:ext uri="{FF2B5EF4-FFF2-40B4-BE49-F238E27FC236}">
                <a16:creationId xmlns:a16="http://schemas.microsoft.com/office/drawing/2014/main" id="{F258FDAA-49A5-60AB-52DA-CE18BF4ACE00}"/>
              </a:ext>
            </a:extLst>
          </p:cNvPr>
          <p:cNvPicPr>
            <a:picLocks noChangeAspect="1"/>
          </p:cNvPicPr>
          <p:nvPr/>
        </p:nvPicPr>
        <p:blipFill>
          <a:blip r:embed="rId7"/>
          <a:stretch>
            <a:fillRect/>
          </a:stretch>
        </p:blipFill>
        <p:spPr>
          <a:xfrm>
            <a:off x="222068" y="4678521"/>
            <a:ext cx="3332166" cy="815759"/>
          </a:xfrm>
          <a:prstGeom prst="rect">
            <a:avLst/>
          </a:prstGeom>
        </p:spPr>
      </p:pic>
      <p:pic>
        <p:nvPicPr>
          <p:cNvPr id="15" name="Picture 14">
            <a:extLst>
              <a:ext uri="{FF2B5EF4-FFF2-40B4-BE49-F238E27FC236}">
                <a16:creationId xmlns:a16="http://schemas.microsoft.com/office/drawing/2014/main" id="{247FE8F1-DD95-AB9B-C011-3E17A3CADE5D}"/>
              </a:ext>
            </a:extLst>
          </p:cNvPr>
          <p:cNvPicPr>
            <a:picLocks noChangeAspect="1"/>
          </p:cNvPicPr>
          <p:nvPr/>
        </p:nvPicPr>
        <p:blipFill>
          <a:blip r:embed="rId8"/>
          <a:stretch>
            <a:fillRect/>
          </a:stretch>
        </p:blipFill>
        <p:spPr>
          <a:xfrm>
            <a:off x="3554234" y="4652853"/>
            <a:ext cx="3991554" cy="885316"/>
          </a:xfrm>
          <a:prstGeom prst="rect">
            <a:avLst/>
          </a:prstGeom>
        </p:spPr>
      </p:pic>
      <p:pic>
        <p:nvPicPr>
          <p:cNvPr id="17" name="Picture 16">
            <a:extLst>
              <a:ext uri="{FF2B5EF4-FFF2-40B4-BE49-F238E27FC236}">
                <a16:creationId xmlns:a16="http://schemas.microsoft.com/office/drawing/2014/main" id="{D30483A9-A898-BA9F-1593-FCD8665C9CAE}"/>
              </a:ext>
            </a:extLst>
          </p:cNvPr>
          <p:cNvPicPr>
            <a:picLocks noChangeAspect="1"/>
          </p:cNvPicPr>
          <p:nvPr/>
        </p:nvPicPr>
        <p:blipFill>
          <a:blip r:embed="rId9"/>
          <a:stretch>
            <a:fillRect/>
          </a:stretch>
        </p:blipFill>
        <p:spPr>
          <a:xfrm>
            <a:off x="7545788" y="4669552"/>
            <a:ext cx="3415172" cy="833683"/>
          </a:xfrm>
          <a:prstGeom prst="rect">
            <a:avLst/>
          </a:prstGeom>
        </p:spPr>
      </p:pic>
      <p:pic>
        <p:nvPicPr>
          <p:cNvPr id="19" name="Picture 18">
            <a:extLst>
              <a:ext uri="{FF2B5EF4-FFF2-40B4-BE49-F238E27FC236}">
                <a16:creationId xmlns:a16="http://schemas.microsoft.com/office/drawing/2014/main" id="{1A40592B-A8AB-BB71-5742-B7D951CED785}"/>
              </a:ext>
            </a:extLst>
          </p:cNvPr>
          <p:cNvPicPr>
            <a:picLocks noChangeAspect="1"/>
          </p:cNvPicPr>
          <p:nvPr/>
        </p:nvPicPr>
        <p:blipFill>
          <a:blip r:embed="rId10"/>
          <a:stretch>
            <a:fillRect/>
          </a:stretch>
        </p:blipFill>
        <p:spPr>
          <a:xfrm>
            <a:off x="1482875" y="5532528"/>
            <a:ext cx="3685518" cy="823822"/>
          </a:xfrm>
          <a:prstGeom prst="rect">
            <a:avLst/>
          </a:prstGeom>
        </p:spPr>
      </p:pic>
      <p:pic>
        <p:nvPicPr>
          <p:cNvPr id="21" name="Picture 20">
            <a:extLst>
              <a:ext uri="{FF2B5EF4-FFF2-40B4-BE49-F238E27FC236}">
                <a16:creationId xmlns:a16="http://schemas.microsoft.com/office/drawing/2014/main" id="{222004C7-C482-4EF8-5C79-38A7A1452577}"/>
              </a:ext>
            </a:extLst>
          </p:cNvPr>
          <p:cNvPicPr>
            <a:picLocks noChangeAspect="1"/>
          </p:cNvPicPr>
          <p:nvPr/>
        </p:nvPicPr>
        <p:blipFill>
          <a:blip r:embed="rId11"/>
          <a:stretch>
            <a:fillRect/>
          </a:stretch>
        </p:blipFill>
        <p:spPr>
          <a:xfrm>
            <a:off x="5181747" y="5538169"/>
            <a:ext cx="2490777" cy="91665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E03622C6-EED8-0D5B-CAD5-BFE38289DFC3}"/>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1CDF36CC-FA46-2D80-118A-42DF1118FB7F}"/>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Exploratory Data Analysis (cont.) </a:t>
            </a:r>
            <a:endParaRPr dirty="0"/>
          </a:p>
        </p:txBody>
      </p:sp>
      <p:sp>
        <p:nvSpPr>
          <p:cNvPr id="141" name="Google Shape;141;p7">
            <a:extLst>
              <a:ext uri="{FF2B5EF4-FFF2-40B4-BE49-F238E27FC236}">
                <a16:creationId xmlns:a16="http://schemas.microsoft.com/office/drawing/2014/main" id="{5F4E21B6-726D-8924-2620-3CFC4B0D1955}"/>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72A1AC5C-8AAF-A8E5-9F91-29EB57445F7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pic>
        <p:nvPicPr>
          <p:cNvPr id="3" name="Picture 2">
            <a:extLst>
              <a:ext uri="{FF2B5EF4-FFF2-40B4-BE49-F238E27FC236}">
                <a16:creationId xmlns:a16="http://schemas.microsoft.com/office/drawing/2014/main" id="{1F8F0A66-D024-5A8D-B835-4D4573FAF2DB}"/>
              </a:ext>
            </a:extLst>
          </p:cNvPr>
          <p:cNvPicPr>
            <a:picLocks noChangeAspect="1"/>
          </p:cNvPicPr>
          <p:nvPr/>
        </p:nvPicPr>
        <p:blipFill>
          <a:blip r:embed="rId3"/>
          <a:srcRect l="798" t="515"/>
          <a:stretch/>
        </p:blipFill>
        <p:spPr>
          <a:xfrm>
            <a:off x="3433864" y="1342416"/>
            <a:ext cx="8511617" cy="5023661"/>
          </a:xfrm>
          <a:prstGeom prst="rect">
            <a:avLst/>
          </a:prstGeom>
        </p:spPr>
      </p:pic>
      <p:sp>
        <p:nvSpPr>
          <p:cNvPr id="5" name="TextBox 4">
            <a:extLst>
              <a:ext uri="{FF2B5EF4-FFF2-40B4-BE49-F238E27FC236}">
                <a16:creationId xmlns:a16="http://schemas.microsoft.com/office/drawing/2014/main" id="{2E4C0850-7D0D-9DBC-490B-5E54DC77D463}"/>
              </a:ext>
            </a:extLst>
          </p:cNvPr>
          <p:cNvSpPr txBox="1"/>
          <p:nvPr/>
        </p:nvSpPr>
        <p:spPr>
          <a:xfrm>
            <a:off x="222637" y="1510748"/>
            <a:ext cx="3093057" cy="2246769"/>
          </a:xfrm>
          <a:prstGeom prst="rect">
            <a:avLst/>
          </a:prstGeom>
          <a:noFill/>
        </p:spPr>
        <p:txBody>
          <a:bodyPr wrap="square" rtlCol="0">
            <a:spAutoFit/>
          </a:bodyPr>
          <a:lstStyle/>
          <a:p>
            <a:r>
              <a:rPr lang="en-US" dirty="0"/>
              <a:t>The time series plot shows an overall upward trend in the adjusted closing prices of major Indian IT companies, with significant growth after 2020 and notable divergence between companies. Key events include a dip during the 2008 financial crisis and a sharp drop and recovery during the COVID-19 pandemic.</a:t>
            </a:r>
            <a:endParaRPr lang="en-IN" dirty="0"/>
          </a:p>
        </p:txBody>
      </p:sp>
    </p:spTree>
    <p:extLst>
      <p:ext uri="{BB962C8B-B14F-4D97-AF65-F5344CB8AC3E}">
        <p14:creationId xmlns:p14="http://schemas.microsoft.com/office/powerpoint/2010/main" val="1725157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59ECB967-5256-FFD0-7149-F97AA41A17AE}"/>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CFF87C8F-7A03-E417-93E5-EE3BB77D986B}"/>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Exploratory Data Analysis (cont.) </a:t>
            </a:r>
            <a:endParaRPr dirty="0"/>
          </a:p>
        </p:txBody>
      </p:sp>
      <p:sp>
        <p:nvSpPr>
          <p:cNvPr id="141" name="Google Shape;141;p7">
            <a:extLst>
              <a:ext uri="{FF2B5EF4-FFF2-40B4-BE49-F238E27FC236}">
                <a16:creationId xmlns:a16="http://schemas.microsoft.com/office/drawing/2014/main" id="{94A2D996-E12B-1DB6-DE9A-5FCF0DD9DA95}"/>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BFF9060D-A1ED-6E0A-C07C-CCAAB919190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pic>
        <p:nvPicPr>
          <p:cNvPr id="1026" name="Picture 2">
            <a:extLst>
              <a:ext uri="{FF2B5EF4-FFF2-40B4-BE49-F238E27FC236}">
                <a16:creationId xmlns:a16="http://schemas.microsoft.com/office/drawing/2014/main" id="{27D332AD-A0C3-4BC7-792E-E7654342B3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8073" y="1379303"/>
            <a:ext cx="7482852" cy="497704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DB06990-A32F-C494-6F52-E56E3093E342}"/>
              </a:ext>
            </a:extLst>
          </p:cNvPr>
          <p:cNvSpPr txBox="1"/>
          <p:nvPr/>
        </p:nvSpPr>
        <p:spPr>
          <a:xfrm>
            <a:off x="357809" y="1526650"/>
            <a:ext cx="3983603" cy="1169551"/>
          </a:xfrm>
          <a:prstGeom prst="rect">
            <a:avLst/>
          </a:prstGeom>
          <a:noFill/>
        </p:spPr>
        <p:txBody>
          <a:bodyPr wrap="square" rtlCol="0">
            <a:spAutoFit/>
          </a:bodyPr>
          <a:lstStyle/>
          <a:p>
            <a:r>
              <a:rPr lang="en-US" dirty="0"/>
              <a:t>The histograms of daily returns for all stocks show a bell-shaped distribution centered near zero, indicating that small daily price changes are most common, with rare extreme movements.</a:t>
            </a:r>
            <a:endParaRPr lang="en-IN" dirty="0"/>
          </a:p>
        </p:txBody>
      </p:sp>
    </p:spTree>
    <p:extLst>
      <p:ext uri="{BB962C8B-B14F-4D97-AF65-F5344CB8AC3E}">
        <p14:creationId xmlns:p14="http://schemas.microsoft.com/office/powerpoint/2010/main" val="437508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D453EB0F-124F-7B3C-C17D-A6B484BE9744}"/>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44FAC4E6-D771-6299-4E72-EE73A615F8F1}"/>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Exploratory Data Analysis (cont.) </a:t>
            </a:r>
            <a:endParaRPr dirty="0"/>
          </a:p>
        </p:txBody>
      </p:sp>
      <p:sp>
        <p:nvSpPr>
          <p:cNvPr id="141" name="Google Shape;141;p7">
            <a:extLst>
              <a:ext uri="{FF2B5EF4-FFF2-40B4-BE49-F238E27FC236}">
                <a16:creationId xmlns:a16="http://schemas.microsoft.com/office/drawing/2014/main" id="{12944249-069F-9850-C5AF-22E009C7959E}"/>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D123092D-718B-7290-0477-1A90DAC0559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pic>
        <p:nvPicPr>
          <p:cNvPr id="2050" name="Picture 2">
            <a:extLst>
              <a:ext uri="{FF2B5EF4-FFF2-40B4-BE49-F238E27FC236}">
                <a16:creationId xmlns:a16="http://schemas.microsoft.com/office/drawing/2014/main" id="{7A9FBC70-9084-7F1D-E6D5-9B1AC401D9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6929" y="1270193"/>
            <a:ext cx="7134515" cy="501891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62A0431-157D-FB12-D165-CB71A2653368}"/>
              </a:ext>
            </a:extLst>
          </p:cNvPr>
          <p:cNvSpPr txBox="1"/>
          <p:nvPr/>
        </p:nvSpPr>
        <p:spPr>
          <a:xfrm>
            <a:off x="286247" y="1590261"/>
            <a:ext cx="4206240" cy="1169551"/>
          </a:xfrm>
          <a:prstGeom prst="rect">
            <a:avLst/>
          </a:prstGeom>
          <a:noFill/>
        </p:spPr>
        <p:txBody>
          <a:bodyPr wrap="square" rtlCol="0">
            <a:spAutoFit/>
          </a:bodyPr>
          <a:lstStyle/>
          <a:p>
            <a:r>
              <a:rPr lang="en-US" dirty="0"/>
              <a:t>The correlation matrix shows moderate to strong positive relationships between the stocks of major Indian IT companies, with Infosys and Tata Consultancy Services exhibiting the highest correlation at 0.61.</a:t>
            </a:r>
            <a:endParaRPr lang="en-IN" dirty="0"/>
          </a:p>
        </p:txBody>
      </p:sp>
    </p:spTree>
    <p:extLst>
      <p:ext uri="{BB962C8B-B14F-4D97-AF65-F5344CB8AC3E}">
        <p14:creationId xmlns:p14="http://schemas.microsoft.com/office/powerpoint/2010/main" val="2454180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B9EFACFC-3627-3B25-6094-E8CBF7EC8821}"/>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8AA6D58A-D903-ACD2-BE84-DBF7CE15E810}"/>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Exploratory Data Analysis (cont.) </a:t>
            </a:r>
            <a:endParaRPr dirty="0"/>
          </a:p>
        </p:txBody>
      </p:sp>
      <p:sp>
        <p:nvSpPr>
          <p:cNvPr id="141" name="Google Shape;141;p7">
            <a:extLst>
              <a:ext uri="{FF2B5EF4-FFF2-40B4-BE49-F238E27FC236}">
                <a16:creationId xmlns:a16="http://schemas.microsoft.com/office/drawing/2014/main" id="{4F0C8F80-DB01-BD24-F017-61C5C2A17983}"/>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EC1797D3-DA72-4941-5353-4A2897C24F4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pic>
        <p:nvPicPr>
          <p:cNvPr id="3074" name="Picture 2">
            <a:extLst>
              <a:ext uri="{FF2B5EF4-FFF2-40B4-BE49-F238E27FC236}">
                <a16:creationId xmlns:a16="http://schemas.microsoft.com/office/drawing/2014/main" id="{8605FD58-A5DE-A330-A6F9-CEF45ED563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6769" y="1320208"/>
            <a:ext cx="8618800" cy="49016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EBB051D-A787-BB6B-AAEC-3ABEA68513C1}"/>
              </a:ext>
            </a:extLst>
          </p:cNvPr>
          <p:cNvSpPr txBox="1"/>
          <p:nvPr/>
        </p:nvSpPr>
        <p:spPr>
          <a:xfrm>
            <a:off x="230588" y="1582310"/>
            <a:ext cx="3101009" cy="954107"/>
          </a:xfrm>
          <a:prstGeom prst="rect">
            <a:avLst/>
          </a:prstGeom>
          <a:noFill/>
        </p:spPr>
        <p:txBody>
          <a:bodyPr wrap="square" rtlCol="0">
            <a:spAutoFit/>
          </a:bodyPr>
          <a:lstStyle/>
          <a:p>
            <a:r>
              <a:rPr lang="en-US" dirty="0"/>
              <a:t>This 30-day rolling volatility plot highlights the uncertainty in the stock market around the time of the COVID-19 pandemic lockdowns.</a:t>
            </a:r>
            <a:endParaRPr lang="en-IN" dirty="0"/>
          </a:p>
        </p:txBody>
      </p:sp>
    </p:spTree>
    <p:extLst>
      <p:ext uri="{BB962C8B-B14F-4D97-AF65-F5344CB8AC3E}">
        <p14:creationId xmlns:p14="http://schemas.microsoft.com/office/powerpoint/2010/main" val="352600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Next Step of Research Focus</a:t>
            </a:r>
            <a:endParaRPr dirty="0"/>
          </a:p>
        </p:txBody>
      </p:sp>
      <p:sp>
        <p:nvSpPr>
          <p:cNvPr id="148" name="Google Shape;148;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dirty="0"/>
              <a:t>The next phase involves setting up various machine learning models, performing feature selection to identify the most relevant predictors. Following model training and evaluation, event data will be integrated to further refine predictions and capture potential patterns influenced by external factors.</a:t>
            </a:r>
            <a:endParaRPr dirty="0"/>
          </a:p>
        </p:txBody>
      </p:sp>
      <p:sp>
        <p:nvSpPr>
          <p:cNvPr id="149" name="Google Shape;14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50" name="Google Shape;15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Conclusion</a:t>
            </a:r>
            <a:endParaRPr dirty="0"/>
          </a:p>
        </p:txBody>
      </p:sp>
      <p:sp>
        <p:nvSpPr>
          <p:cNvPr id="156" name="Google Shape;156;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dirty="0"/>
              <a:t>This study aims to enhance stock price prediction for Nifty 50 IT sector companies by leveraging machine learning models and event-driven data. Through exploratory data analysis, we have identified key trends, correlations, and periods of market volatility, providing valuable insights into the dataset. The next steps involve model development, feature selection, and the integration of external event data to refine predictions and improve accuracy. Ultimately, this research will contribute to more informed investment decisions and a deeper understanding of market dynamics in the Indian IT sector.</a:t>
            </a:r>
            <a:endParaRPr dirty="0"/>
          </a:p>
        </p:txBody>
      </p:sp>
      <p:sp>
        <p:nvSpPr>
          <p:cNvPr id="157" name="Google Shape;15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58" name="Google Shape;15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References : APA format</a:t>
            </a:r>
            <a:endParaRPr/>
          </a:p>
        </p:txBody>
      </p:sp>
      <p:sp>
        <p:nvSpPr>
          <p:cNvPr id="164" name="Google Shape;164;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47500" lnSpcReduction="20000"/>
          </a:bodyPr>
          <a:lstStyle/>
          <a:p>
            <a:r>
              <a:rPr lang="en-US" b="1" dirty="0">
                <a:latin typeface="Arial Narrow" panose="020B0606020202030204" pitchFamily="34" charset="0"/>
              </a:rPr>
              <a:t>Base Paper:</a:t>
            </a:r>
          </a:p>
          <a:p>
            <a:pPr lvl="1"/>
            <a:r>
              <a:rPr lang="en-IN" b="1" i="0" dirty="0">
                <a:effectLst/>
                <a:latin typeface="ui-sans-serif"/>
              </a:rPr>
              <a:t>Mohan, B., Yadav, A., Toleti, J., Reddy, D. S. S., Ahmed, R. K., &amp; </a:t>
            </a:r>
            <a:r>
              <a:rPr lang="en-IN" b="1" i="0" dirty="0" err="1">
                <a:effectLst/>
                <a:latin typeface="ui-sans-serif"/>
              </a:rPr>
              <a:t>Koushitha</a:t>
            </a:r>
            <a:r>
              <a:rPr lang="en-IN" b="1" i="0" dirty="0">
                <a:effectLst/>
                <a:latin typeface="ui-sans-serif"/>
              </a:rPr>
              <a:t>, G. (2024).</a:t>
            </a:r>
            <a:r>
              <a:rPr lang="en-IN" b="0" i="0" dirty="0">
                <a:effectLst/>
                <a:latin typeface="ui-sans-serif"/>
              </a:rPr>
              <a:t> Sentiment-driven predictive models for Nifty 50 stock market fluctuations: A time series analysis perspective. </a:t>
            </a:r>
            <a:r>
              <a:rPr lang="en-IN" b="0" i="1" dirty="0">
                <a:effectLst/>
                <a:latin typeface="ui-sans-serif"/>
              </a:rPr>
              <a:t>IEEE International Conference on Information Technology, Electronics and Intelligent Communication Systems (ICITEICS)</a:t>
            </a:r>
            <a:r>
              <a:rPr lang="en-IN" b="0" i="0" dirty="0">
                <a:effectLst/>
                <a:latin typeface="ui-sans-serif"/>
              </a:rPr>
              <a:t>, 70, 1–8</a:t>
            </a:r>
            <a:r>
              <a:rPr lang="en-IN" b="0" i="0" dirty="0">
                <a:solidFill>
                  <a:srgbClr val="ECECEC"/>
                </a:solidFill>
                <a:effectLst/>
                <a:latin typeface="ui-sans-serif"/>
              </a:rPr>
              <a:t>. </a:t>
            </a:r>
            <a:r>
              <a:rPr lang="en-IN" b="0" i="0" u="none" strike="noStrike" dirty="0">
                <a:solidFill>
                  <a:srgbClr val="ECECEC"/>
                </a:solidFill>
                <a:effectLst/>
                <a:latin typeface="ui-sans-serif"/>
                <a:hlinkClick r:id="rId3"/>
              </a:rPr>
              <a:t>https://doi.org/10.1109/iciteics61368.2024.10625537</a:t>
            </a:r>
            <a:endParaRPr lang="en-IN" b="0" i="0" u="none" strike="noStrike" dirty="0">
              <a:solidFill>
                <a:srgbClr val="ECECEC"/>
              </a:solidFill>
              <a:effectLst/>
              <a:latin typeface="ui-sans-serif"/>
            </a:endParaRPr>
          </a:p>
          <a:p>
            <a:pPr lvl="1"/>
            <a:r>
              <a:rPr lang="en-US" dirty="0">
                <a:hlinkClick r:id="rId4"/>
              </a:rPr>
              <a:t>Link to Paper</a:t>
            </a:r>
            <a:endParaRPr lang="en-US" b="1" dirty="0">
              <a:latin typeface="Arial Narrow" panose="020B0606020202030204" pitchFamily="34" charset="0"/>
            </a:endParaRPr>
          </a:p>
          <a:p>
            <a:r>
              <a:rPr lang="en-US" b="1" dirty="0">
                <a:latin typeface="Arial Narrow" panose="020B0606020202030204" pitchFamily="34" charset="0"/>
              </a:rPr>
              <a:t>Paper I:</a:t>
            </a:r>
          </a:p>
          <a:p>
            <a:pPr lvl="1"/>
            <a:r>
              <a:rPr lang="en-IN" b="1" i="0" dirty="0">
                <a:effectLst/>
                <a:latin typeface="ui-sans-serif"/>
              </a:rPr>
              <a:t>Panchal, S. A., </a:t>
            </a:r>
            <a:r>
              <a:rPr lang="en-IN" b="1" i="0" dirty="0" err="1">
                <a:effectLst/>
                <a:latin typeface="ui-sans-serif"/>
              </a:rPr>
              <a:t>Ferdouse</a:t>
            </a:r>
            <a:r>
              <a:rPr lang="en-IN" b="1" i="0" dirty="0">
                <a:effectLst/>
                <a:latin typeface="ui-sans-serif"/>
              </a:rPr>
              <a:t>, L., &amp; Sultana, A. (2024).</a:t>
            </a:r>
            <a:r>
              <a:rPr lang="en-IN" b="0" i="0" dirty="0">
                <a:effectLst/>
                <a:latin typeface="ui-sans-serif"/>
              </a:rPr>
              <a:t> Comparative analysis of ARIMA and LSTM models for stock price prediction. </a:t>
            </a:r>
            <a:r>
              <a:rPr lang="en-IN" b="0" i="1" dirty="0">
                <a:effectLst/>
                <a:latin typeface="ui-sans-serif"/>
              </a:rPr>
              <a:t>2024 IEEE/ACIS 27th International Conference on Software Engineering, Artificial Intelligence, Networking and Parallel/Distributed Computing (SNPD)</a:t>
            </a:r>
            <a:r>
              <a:rPr lang="en-IN" b="0" i="0" dirty="0">
                <a:effectLst/>
                <a:latin typeface="ui-sans-serif"/>
              </a:rPr>
              <a:t>, 240–244. </a:t>
            </a:r>
            <a:r>
              <a:rPr lang="en-IN" b="0" i="0" u="none" strike="noStrike" dirty="0">
                <a:solidFill>
                  <a:srgbClr val="ECECEC"/>
                </a:solidFill>
                <a:effectLst/>
                <a:latin typeface="ui-sans-serif"/>
                <a:hlinkClick r:id="rId5"/>
              </a:rPr>
              <a:t>https://doi.org/10.1109/snpd61259.2024.10673919</a:t>
            </a:r>
            <a:endParaRPr lang="en-US" dirty="0">
              <a:hlinkClick r:id="rId6"/>
            </a:endParaRPr>
          </a:p>
          <a:p>
            <a:pPr lvl="1"/>
            <a:r>
              <a:rPr lang="en-US" dirty="0">
                <a:hlinkClick r:id="rId6"/>
              </a:rPr>
              <a:t>Link to Paper</a:t>
            </a:r>
            <a:endParaRPr lang="en-US" b="1" dirty="0">
              <a:latin typeface="Arial Narrow" panose="020B0606020202030204" pitchFamily="34" charset="0"/>
            </a:endParaRPr>
          </a:p>
          <a:p>
            <a:r>
              <a:rPr lang="en-US" b="1" dirty="0">
                <a:latin typeface="Arial Narrow" panose="020B0606020202030204" pitchFamily="34" charset="0"/>
              </a:rPr>
              <a:t>Paper II:</a:t>
            </a:r>
          </a:p>
          <a:p>
            <a:pPr lvl="1"/>
            <a:r>
              <a:rPr lang="en-US" b="1" i="0" dirty="0" err="1">
                <a:effectLst/>
                <a:latin typeface="ui-sans-serif"/>
              </a:rPr>
              <a:t>Rajhans</a:t>
            </a:r>
            <a:r>
              <a:rPr lang="en-US" b="1" i="0" dirty="0">
                <a:effectLst/>
                <a:latin typeface="ui-sans-serif"/>
              </a:rPr>
              <a:t>, A., Das, T., Kumar, A., &amp; Sinha, B. B. (2024).</a:t>
            </a:r>
            <a:r>
              <a:rPr lang="en-US" b="0" i="0" dirty="0">
                <a:effectLst/>
                <a:latin typeface="ui-sans-serif"/>
              </a:rPr>
              <a:t> Exploring the impact of financial news sentiment on stock price forecasting: A comparative deep learning approach. </a:t>
            </a:r>
            <a:r>
              <a:rPr lang="en-US" b="0" i="1" dirty="0">
                <a:effectLst/>
                <a:latin typeface="ui-sans-serif"/>
              </a:rPr>
              <a:t>2024 1st International Conference on Communications and Computer Science (</a:t>
            </a:r>
            <a:r>
              <a:rPr lang="en-US" b="0" i="1" dirty="0" err="1">
                <a:effectLst/>
                <a:latin typeface="ui-sans-serif"/>
              </a:rPr>
              <a:t>InCCCS</a:t>
            </a:r>
            <a:r>
              <a:rPr lang="en-US" b="0" i="1" dirty="0">
                <a:effectLst/>
                <a:latin typeface="ui-sans-serif"/>
              </a:rPr>
              <a:t>)</a:t>
            </a:r>
            <a:r>
              <a:rPr lang="en-US" b="0" i="0" dirty="0">
                <a:effectLst/>
                <a:latin typeface="ui-sans-serif"/>
              </a:rPr>
              <a:t>. </a:t>
            </a:r>
            <a:r>
              <a:rPr lang="en-US" b="0" i="0" u="none" strike="noStrike" dirty="0">
                <a:solidFill>
                  <a:srgbClr val="ECECEC"/>
                </a:solidFill>
                <a:effectLst/>
                <a:latin typeface="ui-sans-serif"/>
                <a:hlinkClick r:id="rId7"/>
              </a:rPr>
              <a:t>https://doi.org/10.1109/incccs60947.2024.10593315</a:t>
            </a:r>
            <a:endParaRPr lang="en-US" b="0" i="0" u="none" strike="noStrike" dirty="0">
              <a:solidFill>
                <a:srgbClr val="ECECEC"/>
              </a:solidFill>
              <a:effectLst/>
              <a:latin typeface="ui-sans-serif"/>
            </a:endParaRPr>
          </a:p>
          <a:p>
            <a:pPr lvl="1"/>
            <a:r>
              <a:rPr lang="en-US" dirty="0">
                <a:hlinkClick r:id="rId8"/>
              </a:rPr>
              <a:t>Link to Paper</a:t>
            </a:r>
            <a:endParaRPr lang="en-US" b="1" dirty="0">
              <a:latin typeface="Arial Narrow" panose="020B0606020202030204" pitchFamily="34" charset="0"/>
            </a:endParaRPr>
          </a:p>
          <a:p>
            <a:r>
              <a:rPr lang="en-US" b="1" dirty="0">
                <a:latin typeface="Arial Narrow" panose="020B0606020202030204" pitchFamily="34" charset="0"/>
              </a:rPr>
              <a:t>Paper III:</a:t>
            </a:r>
          </a:p>
          <a:p>
            <a:pPr lvl="1"/>
            <a:r>
              <a:rPr lang="en-US" b="1" i="0" dirty="0">
                <a:effectLst/>
                <a:latin typeface="ui-sans-serif"/>
              </a:rPr>
              <a:t>Taslim, D. G., </a:t>
            </a:r>
            <a:r>
              <a:rPr lang="en-US" b="1" i="0" dirty="0" err="1">
                <a:effectLst/>
                <a:latin typeface="ui-sans-serif"/>
              </a:rPr>
              <a:t>Tjahyadi</a:t>
            </a:r>
            <a:r>
              <a:rPr lang="en-US" b="1" i="0" dirty="0">
                <a:effectLst/>
                <a:latin typeface="ui-sans-serif"/>
              </a:rPr>
              <a:t>, H., &amp; </a:t>
            </a:r>
            <a:r>
              <a:rPr lang="en-US" b="1" i="0" dirty="0" err="1">
                <a:effectLst/>
                <a:latin typeface="ui-sans-serif"/>
              </a:rPr>
              <a:t>Murwantara</a:t>
            </a:r>
            <a:r>
              <a:rPr lang="en-US" b="1" i="0" dirty="0">
                <a:effectLst/>
                <a:latin typeface="ui-sans-serif"/>
              </a:rPr>
              <a:t>, I. M. (2024).</a:t>
            </a:r>
            <a:r>
              <a:rPr lang="en-US" b="0" i="0" dirty="0">
                <a:effectLst/>
                <a:latin typeface="ui-sans-serif"/>
              </a:rPr>
              <a:t> A study of LSTM </a:t>
            </a:r>
            <a:r>
              <a:rPr lang="en-US" b="0" i="0" dirty="0" err="1">
                <a:effectLst/>
                <a:latin typeface="ui-sans-serif"/>
              </a:rPr>
              <a:t>optimisation</a:t>
            </a:r>
            <a:r>
              <a:rPr lang="en-US" b="0" i="0" dirty="0">
                <a:effectLst/>
                <a:latin typeface="ui-sans-serif"/>
              </a:rPr>
              <a:t> for forecasting volatile time series data. </a:t>
            </a:r>
            <a:r>
              <a:rPr lang="en-US" b="0" i="1" dirty="0">
                <a:effectLst/>
                <a:latin typeface="ui-sans-serif"/>
              </a:rPr>
              <a:t>2024 4th International Conference on Computer Communication and Artificial Intelligence (CCAI)</a:t>
            </a:r>
            <a:r>
              <a:rPr lang="en-US" b="0" i="0" dirty="0">
                <a:effectLst/>
                <a:latin typeface="ui-sans-serif"/>
              </a:rPr>
              <a:t>. </a:t>
            </a:r>
            <a:r>
              <a:rPr lang="en-US" b="0" i="0" u="none" strike="noStrike" dirty="0">
                <a:solidFill>
                  <a:srgbClr val="ECECEC"/>
                </a:solidFill>
                <a:effectLst/>
                <a:latin typeface="ui-sans-serif"/>
                <a:hlinkClick r:id="rId9"/>
              </a:rPr>
              <a:t>https://doi.org/10.1109/ccai61966.2024.10603183</a:t>
            </a:r>
            <a:endParaRPr lang="en-US" b="0" i="0" dirty="0">
              <a:solidFill>
                <a:srgbClr val="ECECEC"/>
              </a:solidFill>
              <a:effectLst/>
              <a:latin typeface="ui-sans-serif"/>
            </a:endParaRPr>
          </a:p>
          <a:p>
            <a:pPr lvl="1"/>
            <a:r>
              <a:rPr lang="en-US" dirty="0">
                <a:hlinkClick r:id="rId10"/>
              </a:rPr>
              <a:t>Link to Paper</a:t>
            </a:r>
            <a:endParaRPr lang="en-US" b="1" dirty="0">
              <a:latin typeface="Arial Narrow" panose="020B0606020202030204" pitchFamily="34" charset="0"/>
            </a:endParaRPr>
          </a:p>
          <a:p>
            <a:r>
              <a:rPr lang="en-US" b="1" dirty="0">
                <a:latin typeface="Arial Narrow" panose="020B0606020202030204" pitchFamily="34" charset="0"/>
              </a:rPr>
              <a:t>Paper IV:</a:t>
            </a:r>
          </a:p>
          <a:p>
            <a:pPr lvl="1"/>
            <a:r>
              <a:rPr lang="en-US" b="1" i="0" dirty="0" err="1">
                <a:effectLst/>
                <a:latin typeface="ui-sans-serif"/>
              </a:rPr>
              <a:t>Amruth</a:t>
            </a:r>
            <a:r>
              <a:rPr lang="en-US" b="1" i="0" dirty="0">
                <a:effectLst/>
                <a:latin typeface="ui-sans-serif"/>
              </a:rPr>
              <a:t>, S. J., </a:t>
            </a:r>
            <a:r>
              <a:rPr lang="en-US" b="1" i="0" dirty="0" err="1">
                <a:effectLst/>
                <a:latin typeface="ui-sans-serif"/>
              </a:rPr>
              <a:t>Nigelesh</a:t>
            </a:r>
            <a:r>
              <a:rPr lang="en-US" b="1" i="0" dirty="0">
                <a:effectLst/>
                <a:latin typeface="ui-sans-serif"/>
              </a:rPr>
              <a:t>, T., </a:t>
            </a:r>
            <a:r>
              <a:rPr lang="en-US" b="1" i="0" dirty="0" err="1">
                <a:effectLst/>
                <a:latin typeface="ui-sans-serif"/>
              </a:rPr>
              <a:t>Shruthik</a:t>
            </a:r>
            <a:r>
              <a:rPr lang="en-US" b="1" i="0" dirty="0">
                <a:effectLst/>
                <a:latin typeface="ui-sans-serif"/>
              </a:rPr>
              <a:t>, V. S., Reddy, V. S., &amp; </a:t>
            </a:r>
            <a:r>
              <a:rPr lang="en-US" b="1" i="0" dirty="0" err="1">
                <a:effectLst/>
                <a:latin typeface="ui-sans-serif"/>
              </a:rPr>
              <a:t>Venugopalan</a:t>
            </a:r>
            <a:r>
              <a:rPr lang="en-US" b="1" i="0" dirty="0">
                <a:effectLst/>
                <a:latin typeface="ui-sans-serif"/>
              </a:rPr>
              <a:t>, M. (2024).</a:t>
            </a:r>
            <a:r>
              <a:rPr lang="en-US" b="0" i="0" dirty="0">
                <a:effectLst/>
                <a:latin typeface="ui-sans-serif"/>
              </a:rPr>
              <a:t> Time-series-based stock market analysis using machine learning. </a:t>
            </a:r>
            <a:r>
              <a:rPr lang="en-US" b="0" i="1" dirty="0">
                <a:effectLst/>
                <a:latin typeface="ui-sans-serif"/>
              </a:rPr>
              <a:t>2024 15th International Conference on Computing Communication and Networking Technologies (ICCCNT)</a:t>
            </a:r>
            <a:r>
              <a:rPr lang="en-US" b="0" i="0" dirty="0">
                <a:effectLst/>
                <a:latin typeface="ui-sans-serif"/>
              </a:rPr>
              <a:t>, 1–7</a:t>
            </a:r>
            <a:r>
              <a:rPr lang="en-US" b="0" i="0" dirty="0">
                <a:solidFill>
                  <a:srgbClr val="ECECEC"/>
                </a:solidFill>
                <a:effectLst/>
                <a:latin typeface="ui-sans-serif"/>
              </a:rPr>
              <a:t>. </a:t>
            </a:r>
            <a:r>
              <a:rPr lang="en-US" b="0" i="0" u="none" strike="noStrike" dirty="0">
                <a:solidFill>
                  <a:srgbClr val="ECECEC"/>
                </a:solidFill>
                <a:effectLst/>
                <a:latin typeface="ui-sans-serif"/>
                <a:hlinkClick r:id="rId11"/>
              </a:rPr>
              <a:t>https://doi.org/10.1109/icccnt61001.2024.10725232</a:t>
            </a:r>
            <a:endParaRPr lang="en-US" b="0" i="0" u="none" strike="noStrike" dirty="0">
              <a:solidFill>
                <a:srgbClr val="ECECEC"/>
              </a:solidFill>
              <a:effectLst/>
              <a:latin typeface="ui-sans-serif"/>
            </a:endParaRPr>
          </a:p>
          <a:p>
            <a:pPr lvl="1"/>
            <a:r>
              <a:rPr lang="en-US" dirty="0">
                <a:hlinkClick r:id="rId12"/>
              </a:rPr>
              <a:t>Link to Paper</a:t>
            </a:r>
            <a:endParaRPr lang="en-US" dirty="0"/>
          </a:p>
          <a:p>
            <a:endParaRPr lang="en-US" dirty="0"/>
          </a:p>
          <a:p>
            <a:endParaRPr lang="en-IN" dirty="0"/>
          </a:p>
          <a:p>
            <a:pPr marL="228600" lvl="0" indent="-50800" algn="l" rtl="0">
              <a:lnSpc>
                <a:spcPct val="90000"/>
              </a:lnSpc>
              <a:spcBef>
                <a:spcPts val="0"/>
              </a:spcBef>
              <a:spcAft>
                <a:spcPts val="0"/>
              </a:spcAft>
              <a:buClr>
                <a:schemeClr val="dk1"/>
              </a:buClr>
              <a:buSzPts val="2800"/>
              <a:buNone/>
            </a:pPr>
            <a:endParaRPr dirty="0"/>
          </a:p>
        </p:txBody>
      </p:sp>
      <p:sp>
        <p:nvSpPr>
          <p:cNvPr id="165" name="Google Shape;16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66" name="Google Shape;16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657</TotalTime>
  <Words>1373</Words>
  <Application>Microsoft Office PowerPoint</Application>
  <PresentationFormat>Widescreen</PresentationFormat>
  <Paragraphs>107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ui-sans-serif</vt:lpstr>
      <vt:lpstr>Calibri</vt:lpstr>
      <vt:lpstr>Arial Narrow</vt:lpstr>
      <vt:lpstr>Office Theme</vt:lpstr>
      <vt:lpstr>Enhancing Stock Price Prediction for Nifty 50 IT Sector Companies: A Comparative Study of ML Models with Feature Selection and Event Data Integration Economics and Finance  </vt:lpstr>
      <vt:lpstr>Problem Statement</vt:lpstr>
      <vt:lpstr>Objectives</vt:lpstr>
      <vt:lpstr>Review of Related Literature</vt:lpstr>
      <vt:lpstr>Review of Related Literature (cont.)</vt:lpstr>
      <vt:lpstr>Dataset</vt:lpstr>
      <vt:lpstr>Dataset</vt:lpstr>
      <vt:lpstr>Proposed Methodology</vt:lpstr>
      <vt:lpstr>Exploratory Data Analysis </vt:lpstr>
      <vt:lpstr>Exploratory Data Analysis (cont.) </vt:lpstr>
      <vt:lpstr>Exploratory Data Analysis (cont.) </vt:lpstr>
      <vt:lpstr>Exploratory Data Analysis (cont.) </vt:lpstr>
      <vt:lpstr>Exploratory Data Analysis (cont.) </vt:lpstr>
      <vt:lpstr>Next Step of Research Focus</vt:lpstr>
      <vt:lpstr>Conclusion</vt:lpstr>
      <vt:lpstr>References : APA format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Angay</dc:creator>
  <cp:lastModifiedBy>Aniket Shinde</cp:lastModifiedBy>
  <cp:revision>3</cp:revision>
  <dcterms:created xsi:type="dcterms:W3CDTF">2023-11-15T14:09:37Z</dcterms:created>
  <dcterms:modified xsi:type="dcterms:W3CDTF">2024-11-22T10:22:15Z</dcterms:modified>
</cp:coreProperties>
</file>