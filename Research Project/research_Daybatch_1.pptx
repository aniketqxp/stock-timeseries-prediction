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57" r:id="rId4"/>
    <p:sldId id="259" r:id="rId5"/>
    <p:sldId id="258" r:id="rId6"/>
    <p:sldId id="260" r:id="rId7"/>
    <p:sldId id="272" r:id="rId8"/>
    <p:sldId id="273" r:id="rId9"/>
    <p:sldId id="267" r:id="rId10"/>
    <p:sldId id="268" r:id="rId11"/>
    <p:sldId id="269" r:id="rId12"/>
    <p:sldId id="270" r:id="rId13"/>
    <p:sldId id="271" r:id="rId14"/>
    <p:sldId id="261" r:id="rId15"/>
    <p:sldId id="262" r:id="rId16"/>
    <p:sldId id="256" r:id="rId17"/>
    <p:sldId id="263" r:id="rId18"/>
    <p:sldId id="264" r:id="rId19"/>
    <p:sldId id="265" r:id="rId20"/>
    <p:sldId id="266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10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4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793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82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2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67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70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88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76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57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9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39329-D01A-47DC-9EBB-58870F0687E4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A0295-686F-458A-8975-36D6A35C0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" TargetMode="External"/><Relationship Id="rId3" Type="http://schemas.openxmlformats.org/officeDocument/2006/relationships/hyperlink" Target="https://www.springeropen.com/books" TargetMode="External"/><Relationship Id="rId7" Type="http://schemas.openxmlformats.org/officeDocument/2006/relationships/hyperlink" Target="https://sci-hub.se/" TargetMode="External"/><Relationship Id="rId2" Type="http://schemas.openxmlformats.org/officeDocument/2006/relationships/hyperlink" Target="https://www.elsevier.com/en-in/open-access/open-access-journals/search?meta_t=&amp;query=&amp;meta_s=Computer+Scie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holar.google.com/" TargetMode="External"/><Relationship Id="rId5" Type="http://schemas.openxmlformats.org/officeDocument/2006/relationships/hyperlink" Target="https://open.ieee.org/" TargetMode="External"/><Relationship Id="rId4" Type="http://schemas.openxmlformats.org/officeDocument/2006/relationships/hyperlink" Target="https://link.springer.com/search?package=openaccess&amp;facet-content-type=%22Book%22&amp;utm_source=sn&amp;utm_medium=referral_RM&amp;utm_campaign=BBKK_1_CE02_GermanPagetoSL" TargetMode="External"/><Relationship Id="rId9" Type="http://schemas.openxmlformats.org/officeDocument/2006/relationships/hyperlink" Target="https://docs.lib.purdue.edu/cstech/?_ga=2.247716551.1353792408.1694691713-1691778508.1694691713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998" y="323368"/>
            <a:ext cx="7621064" cy="1695687"/>
          </a:xfrm>
        </p:spPr>
      </p:pic>
      <p:sp>
        <p:nvSpPr>
          <p:cNvPr id="5" name="Rounded Rectangle 4"/>
          <p:cNvSpPr/>
          <p:nvPr/>
        </p:nvSpPr>
        <p:spPr>
          <a:xfrm>
            <a:off x="2691268" y="2278505"/>
            <a:ext cx="6820524" cy="29080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 Narrow" panose="020B0606020202030204" pitchFamily="34" charset="0"/>
              </a:rPr>
              <a:t>The Scholar's Toolkit: Reviewing Literature and Preparing Impactful Presentations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7375161" y="5446047"/>
            <a:ext cx="4557010" cy="1176728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Arial Narrow" panose="020B0606020202030204" pitchFamily="34" charset="0"/>
              </a:rPr>
              <a:t>Dr. S. </a:t>
            </a:r>
            <a:r>
              <a:rPr lang="en-US" sz="2400" b="1" dirty="0" err="1" smtClean="0">
                <a:latin typeface="Arial Narrow" panose="020B0606020202030204" pitchFamily="34" charset="0"/>
              </a:rPr>
              <a:t>Angayarkanni</a:t>
            </a:r>
            <a:endParaRPr lang="en-US" sz="2400" b="1" dirty="0" smtClean="0">
              <a:latin typeface="Arial Narrow" panose="020B0606020202030204" pitchFamily="34" charset="0"/>
            </a:endParaRPr>
          </a:p>
          <a:p>
            <a:pPr algn="ctr"/>
            <a:r>
              <a:rPr lang="en-US" sz="2400" b="1" dirty="0" smtClean="0">
                <a:latin typeface="Arial Narrow" panose="020B0606020202030204" pitchFamily="34" charset="0"/>
              </a:rPr>
              <a:t>Professor</a:t>
            </a:r>
          </a:p>
          <a:p>
            <a:pPr algn="ctr"/>
            <a:r>
              <a:rPr lang="en-US" sz="2400" b="1" dirty="0" smtClean="0">
                <a:latin typeface="Arial Narrow" panose="020B0606020202030204" pitchFamily="34" charset="0"/>
              </a:rPr>
              <a:t>VIT Bangalore</a:t>
            </a:r>
            <a:endParaRPr lang="en-IN" sz="24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35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490" y="1813092"/>
            <a:ext cx="1081136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"The journey of a thousand miles begins with a single step – and a thorough literature review."</a:t>
            </a:r>
            <a:endParaRPr lang="en-US" sz="4400" b="1" cap="none" spc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6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377" y="0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STRUCTURE OF RESEARCH PAPER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Research Paper: Definition, Structure, Characteristics, and Types – Wr1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790" y="886272"/>
            <a:ext cx="7187211" cy="597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50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ournal Article : Civil and Environmental Engineering Communication La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69" y="479644"/>
            <a:ext cx="9416373" cy="616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ABSTRACT</a:t>
            </a:r>
            <a:endParaRPr lang="en-IN" b="1" dirty="0">
              <a:latin typeface="Arial Narrow" panose="020B0606020202030204" pitchFamily="34" charset="0"/>
            </a:endParaRPr>
          </a:p>
        </p:txBody>
      </p:sp>
      <p:pic>
        <p:nvPicPr>
          <p:cNvPr id="2050" name="Picture 2" descr="Journal Article: Abstract : Broad Institute of MIT and Harv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380" y="365125"/>
            <a:ext cx="5972644" cy="618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01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ow to read and understand a scientific paper: a guide for non-scientists |  Impact of Social Scien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145" y="0"/>
            <a:ext cx="918897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55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Sample paper</a:t>
            </a:r>
            <a:endParaRPr lang="en-IN" b="1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383170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8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35" y="239843"/>
            <a:ext cx="10638842" cy="641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0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390" y="824460"/>
            <a:ext cx="2953062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atin typeface="Arial Narrow" panose="020B0606020202030204" pitchFamily="34" charset="0"/>
              </a:rPr>
              <a:t>Preliminary Skim</a:t>
            </a:r>
            <a:endParaRPr lang="en-IN" sz="3200" dirty="0">
              <a:latin typeface="Arial Narrow" panose="020B0606020202030204" pitchFamily="34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407108" y="4671935"/>
            <a:ext cx="986852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581992" y="188626"/>
            <a:ext cx="7462604" cy="299803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smtClean="0">
                <a:latin typeface="Arial Narrow" panose="020B0606020202030204" pitchFamily="34" charset="0"/>
              </a:rPr>
              <a:t>•</a:t>
            </a:r>
            <a:r>
              <a:rPr lang="en-US" sz="2800" b="1" dirty="0" smtClean="0">
                <a:latin typeface="Arial Narrow" panose="020B0606020202030204" pitchFamily="34" charset="0"/>
              </a:rPr>
              <a:t>Title</a:t>
            </a:r>
            <a:r>
              <a:rPr lang="en-US" sz="2800" b="1" dirty="0">
                <a:latin typeface="Arial Narrow" panose="020B0606020202030204" pitchFamily="34" charset="0"/>
              </a:rPr>
              <a:t>: </a:t>
            </a:r>
            <a:r>
              <a:rPr lang="en-US" sz="2800" dirty="0">
                <a:latin typeface="Arial Narrow" panose="020B0606020202030204" pitchFamily="34" charset="0"/>
              </a:rPr>
              <a:t>Gives you a general idea about the topic.</a:t>
            </a:r>
          </a:p>
          <a:p>
            <a:r>
              <a:rPr lang="en-US" sz="2800" dirty="0" smtClean="0">
                <a:latin typeface="Arial Narrow" panose="020B0606020202030204" pitchFamily="34" charset="0"/>
              </a:rPr>
              <a:t>•</a:t>
            </a:r>
            <a:r>
              <a:rPr lang="en-US" sz="2800" b="1" dirty="0" smtClean="0">
                <a:latin typeface="Arial Narrow" panose="020B0606020202030204" pitchFamily="34" charset="0"/>
              </a:rPr>
              <a:t>Abstract</a:t>
            </a:r>
            <a:r>
              <a:rPr lang="en-US" sz="2800" b="1" dirty="0">
                <a:latin typeface="Arial Narrow" panose="020B0606020202030204" pitchFamily="34" charset="0"/>
              </a:rPr>
              <a:t>: </a:t>
            </a:r>
            <a:r>
              <a:rPr lang="en-US" sz="2800" dirty="0">
                <a:latin typeface="Arial Narrow" panose="020B0606020202030204" pitchFamily="34" charset="0"/>
              </a:rPr>
              <a:t>Provides a concise summary of the study's objective, methods, results, and conclusions.</a:t>
            </a:r>
          </a:p>
          <a:p>
            <a:r>
              <a:rPr lang="en-US" sz="2800" dirty="0" smtClean="0">
                <a:latin typeface="Arial Narrow" panose="020B0606020202030204" pitchFamily="34" charset="0"/>
              </a:rPr>
              <a:t>•</a:t>
            </a:r>
            <a:r>
              <a:rPr lang="en-US" sz="2800" b="1" dirty="0" smtClean="0">
                <a:latin typeface="Arial Narrow" panose="020B0606020202030204" pitchFamily="34" charset="0"/>
              </a:rPr>
              <a:t>Conclusion</a:t>
            </a:r>
            <a:r>
              <a:rPr lang="en-US" sz="2800" b="1" dirty="0">
                <a:latin typeface="Arial Narrow" panose="020B0606020202030204" pitchFamily="34" charset="0"/>
              </a:rPr>
              <a:t>: </a:t>
            </a:r>
            <a:r>
              <a:rPr lang="en-US" sz="2800" dirty="0">
                <a:latin typeface="Arial Narrow" panose="020B0606020202030204" pitchFamily="34" charset="0"/>
              </a:rPr>
              <a:t>Helps you understand the primary outcomes of the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390" y="4319667"/>
            <a:ext cx="4239718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 smtClean="0">
                <a:latin typeface="Arial Narrow" panose="020B0606020202030204" pitchFamily="34" charset="0"/>
              </a:rPr>
              <a:t>Determine Relevance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120452" y="1176728"/>
            <a:ext cx="1461540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5393960" y="3540178"/>
            <a:ext cx="6665627" cy="299803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sz="2800" dirty="0" smtClean="0">
                <a:latin typeface="Arial Narrow" panose="020B0606020202030204" pitchFamily="34" charset="0"/>
              </a:rPr>
              <a:t>•</a:t>
            </a:r>
            <a:r>
              <a:rPr lang="en-IN" sz="2800" b="1" dirty="0">
                <a:latin typeface="Arial Narrow" panose="020B0606020202030204" pitchFamily="34" charset="0"/>
              </a:rPr>
              <a:t>Ask yourself: </a:t>
            </a:r>
            <a:r>
              <a:rPr lang="en-IN" sz="2800" dirty="0">
                <a:latin typeface="Arial Narrow" panose="020B0606020202030204" pitchFamily="34" charset="0"/>
              </a:rPr>
              <a:t>This article address what type research question or contribute to the area of interest?</a:t>
            </a:r>
          </a:p>
        </p:txBody>
      </p:sp>
    </p:spTree>
    <p:extLst>
      <p:ext uri="{BB962C8B-B14F-4D97-AF65-F5344CB8AC3E}">
        <p14:creationId xmlns:p14="http://schemas.microsoft.com/office/powerpoint/2010/main" val="400945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390" y="824460"/>
            <a:ext cx="2953062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atin typeface="Arial Narrow" panose="020B0606020202030204" pitchFamily="34" charset="0"/>
              </a:rPr>
              <a:t>Read the Introduction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407108" y="4671935"/>
            <a:ext cx="986852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581992" y="188626"/>
            <a:ext cx="7462604" cy="299803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800" b="1" dirty="0" smtClean="0">
                <a:latin typeface="Arial Narrow" panose="020B0606020202030204" pitchFamily="34" charset="0"/>
              </a:rPr>
              <a:t>Background</a:t>
            </a:r>
            <a:r>
              <a:rPr lang="en-IN" sz="2800" b="1" dirty="0">
                <a:latin typeface="Arial Narrow" panose="020B0606020202030204" pitchFamily="34" charset="0"/>
              </a:rPr>
              <a:t>: </a:t>
            </a:r>
            <a:r>
              <a:rPr lang="en-IN" sz="2800" dirty="0">
                <a:latin typeface="Arial Narrow" panose="020B0606020202030204" pitchFamily="34" charset="0"/>
              </a:rPr>
              <a:t>Understand the context and significance of the study.</a:t>
            </a:r>
          </a:p>
          <a:p>
            <a:r>
              <a:rPr lang="en-IN" sz="2800" b="1" dirty="0">
                <a:latin typeface="Arial Narrow" panose="020B0606020202030204" pitchFamily="34" charset="0"/>
              </a:rPr>
              <a:t>Objectives: </a:t>
            </a:r>
            <a:r>
              <a:rPr lang="en-IN" sz="2800" dirty="0">
                <a:latin typeface="Arial Narrow" panose="020B0606020202030204" pitchFamily="34" charset="0"/>
              </a:rPr>
              <a:t>Identify the main research question or hypothesis.</a:t>
            </a:r>
          </a:p>
          <a:p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7390" y="4319666"/>
            <a:ext cx="4239718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atin typeface="Arial Narrow" panose="020B0606020202030204" pitchFamily="34" charset="0"/>
              </a:rPr>
              <a:t>Examine the Methodology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0452" y="1176728"/>
            <a:ext cx="1461540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5393960" y="3540178"/>
            <a:ext cx="6665627" cy="299803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sz="2800" dirty="0" smtClean="0">
                <a:latin typeface="Arial Narrow" panose="020B0606020202030204" pitchFamily="34" charset="0"/>
              </a:rPr>
              <a:t>•</a:t>
            </a:r>
            <a:r>
              <a:rPr lang="en-US" sz="2800" b="1" dirty="0" smtClean="0">
                <a:latin typeface="Arial Narrow" panose="020B0606020202030204" pitchFamily="34" charset="0"/>
              </a:rPr>
              <a:t>Participants</a:t>
            </a:r>
            <a:r>
              <a:rPr lang="en-US" sz="2800" dirty="0">
                <a:latin typeface="Arial Narrow" panose="020B0606020202030204" pitchFamily="34" charset="0"/>
              </a:rPr>
              <a:t>: Who were the </a:t>
            </a:r>
            <a:r>
              <a:rPr lang="en-US" sz="2800" dirty="0" smtClean="0">
                <a:latin typeface="Arial Narrow" panose="020B0606020202030204" pitchFamily="34" charset="0"/>
              </a:rPr>
              <a:t>subjects/dataset? </a:t>
            </a:r>
            <a:r>
              <a:rPr lang="en-US" sz="2800" dirty="0">
                <a:latin typeface="Arial Narrow" panose="020B0606020202030204" pitchFamily="34" charset="0"/>
              </a:rPr>
              <a:t>How were they selected?</a:t>
            </a:r>
          </a:p>
          <a:p>
            <a:pPr lvl="0"/>
            <a:r>
              <a:rPr lang="en-US" sz="2800" dirty="0" smtClean="0">
                <a:latin typeface="Arial Narrow" panose="020B0606020202030204" pitchFamily="34" charset="0"/>
              </a:rPr>
              <a:t>•</a:t>
            </a:r>
            <a:r>
              <a:rPr lang="en-US" sz="2800" b="1" dirty="0" smtClean="0">
                <a:latin typeface="Arial Narrow" panose="020B0606020202030204" pitchFamily="34" charset="0"/>
              </a:rPr>
              <a:t>Procedure</a:t>
            </a:r>
            <a:r>
              <a:rPr lang="en-US" sz="2800" b="1" dirty="0">
                <a:latin typeface="Arial Narrow" panose="020B0606020202030204" pitchFamily="34" charset="0"/>
              </a:rPr>
              <a:t>: </a:t>
            </a:r>
            <a:r>
              <a:rPr lang="en-US" sz="2800" dirty="0">
                <a:latin typeface="Arial Narrow" panose="020B0606020202030204" pitchFamily="34" charset="0"/>
              </a:rPr>
              <a:t>How was the research conducted?</a:t>
            </a:r>
          </a:p>
          <a:p>
            <a:pPr lvl="0"/>
            <a:r>
              <a:rPr lang="en-US" sz="2800" dirty="0" smtClean="0">
                <a:latin typeface="Arial Narrow" panose="020B0606020202030204" pitchFamily="34" charset="0"/>
              </a:rPr>
              <a:t>•</a:t>
            </a:r>
            <a:r>
              <a:rPr lang="en-US" sz="2800" b="1" dirty="0" smtClean="0">
                <a:latin typeface="Arial Narrow" panose="020B0606020202030204" pitchFamily="34" charset="0"/>
              </a:rPr>
              <a:t>Tools </a:t>
            </a:r>
            <a:r>
              <a:rPr lang="en-US" sz="2800" b="1" dirty="0">
                <a:latin typeface="Arial Narrow" panose="020B0606020202030204" pitchFamily="34" charset="0"/>
              </a:rPr>
              <a:t>&amp; Measures: </a:t>
            </a:r>
            <a:r>
              <a:rPr lang="en-US" sz="2800" dirty="0">
                <a:latin typeface="Arial Narrow" panose="020B0606020202030204" pitchFamily="34" charset="0"/>
              </a:rPr>
              <a:t>Were the instruments valid and reliable?</a:t>
            </a:r>
          </a:p>
          <a:p>
            <a:pPr lvl="0"/>
            <a:endParaRPr lang="en-IN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390" y="798850"/>
            <a:ext cx="2953062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atin typeface="Arial Narrow" panose="020B0606020202030204" pitchFamily="34" charset="0"/>
              </a:rPr>
              <a:t>Understand the Results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12562" y="4671934"/>
            <a:ext cx="986852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581992" y="188626"/>
            <a:ext cx="7462604" cy="24496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Narrow" panose="020B0606020202030204" pitchFamily="34" charset="0"/>
              </a:rPr>
              <a:t>Data Presentation: </a:t>
            </a:r>
            <a:r>
              <a:rPr lang="en-IN" sz="2800" dirty="0">
                <a:latin typeface="Arial Narrow" panose="020B0606020202030204" pitchFamily="34" charset="0"/>
              </a:rPr>
              <a:t>Review tables, figures, and graphs for key findings.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Narrow" panose="020B0606020202030204" pitchFamily="34" charset="0"/>
              </a:rPr>
              <a:t>Statistical Analysis: </a:t>
            </a:r>
            <a:r>
              <a:rPr lang="en-IN" sz="2800" dirty="0">
                <a:latin typeface="Arial Narrow" panose="020B0606020202030204" pitchFamily="34" charset="0"/>
              </a:rPr>
              <a:t>Understand the main outcomes, significant differences, and correlations.</a:t>
            </a:r>
          </a:p>
          <a:p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7390" y="4319665"/>
            <a:ext cx="3490210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atin typeface="Arial Narrow" panose="020B0606020202030204" pitchFamily="34" charset="0"/>
              </a:rPr>
              <a:t>Delve into the Discussion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0452" y="1176728"/>
            <a:ext cx="1461540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4699414" y="2948068"/>
            <a:ext cx="7345182" cy="390743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2400" b="1" dirty="0" smtClean="0">
                <a:latin typeface="Arial Narrow" panose="020B0606020202030204" pitchFamily="34" charset="0"/>
              </a:rPr>
              <a:t>Interpretation</a:t>
            </a:r>
            <a:r>
              <a:rPr lang="en-IN" sz="2400" dirty="0">
                <a:latin typeface="Arial Narrow" panose="020B0606020202030204" pitchFamily="34" charset="0"/>
              </a:rPr>
              <a:t>: How does the author interpret the results?</a:t>
            </a:r>
          </a:p>
          <a:p>
            <a:pPr lvl="0"/>
            <a:r>
              <a:rPr lang="en-IN" sz="2400" b="1" dirty="0">
                <a:latin typeface="Arial Narrow" panose="020B0606020202030204" pitchFamily="34" charset="0"/>
              </a:rPr>
              <a:t>Comparison</a:t>
            </a:r>
            <a:r>
              <a:rPr lang="en-IN" sz="2400" dirty="0">
                <a:latin typeface="Arial Narrow" panose="020B0606020202030204" pitchFamily="34" charset="0"/>
              </a:rPr>
              <a:t>: How do the findings align or differ from previous research?</a:t>
            </a:r>
          </a:p>
          <a:p>
            <a:pPr lvl="0"/>
            <a:r>
              <a:rPr lang="en-IN" sz="2400" b="1" dirty="0">
                <a:latin typeface="Arial Narrow" panose="020B0606020202030204" pitchFamily="34" charset="0"/>
              </a:rPr>
              <a:t>Implications</a:t>
            </a:r>
            <a:r>
              <a:rPr lang="en-IN" sz="2400" dirty="0">
                <a:latin typeface="Arial Narrow" panose="020B0606020202030204" pitchFamily="34" charset="0"/>
              </a:rPr>
              <a:t>: What does this mean for the field or real-world applications?</a:t>
            </a:r>
          </a:p>
          <a:p>
            <a:pPr lvl="0"/>
            <a:r>
              <a:rPr lang="en-IN" sz="2400" b="1" dirty="0">
                <a:latin typeface="Arial Narrow" panose="020B0606020202030204" pitchFamily="34" charset="0"/>
              </a:rPr>
              <a:t>Limitations</a:t>
            </a:r>
            <a:r>
              <a:rPr lang="en-IN" sz="2400" dirty="0">
                <a:latin typeface="Arial Narrow" panose="020B0606020202030204" pitchFamily="34" charset="0"/>
              </a:rPr>
              <a:t>: What were the constraints or potential biases in the study?</a:t>
            </a:r>
          </a:p>
          <a:p>
            <a:pPr lvl="0"/>
            <a:endParaRPr lang="en-US" sz="2800" dirty="0">
              <a:latin typeface="Arial Narrow" panose="020B0606020202030204" pitchFamily="34" charset="0"/>
            </a:endParaRPr>
          </a:p>
          <a:p>
            <a:pPr lvl="0"/>
            <a:endParaRPr lang="en-IN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38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390" y="798850"/>
            <a:ext cx="2953062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atin typeface="Arial Narrow" panose="020B0606020202030204" pitchFamily="34" charset="0"/>
              </a:rPr>
              <a:t>Reflect on the Conclusion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12562" y="4671934"/>
            <a:ext cx="986852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581992" y="188626"/>
            <a:ext cx="7462604" cy="24496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Arial Narrow" panose="020B0606020202030204" pitchFamily="34" charset="0"/>
              </a:rPr>
              <a:t>Recap</a:t>
            </a:r>
            <a:r>
              <a:rPr lang="en-US" sz="2800" b="1" dirty="0">
                <a:latin typeface="Arial Narrow" panose="020B0606020202030204" pitchFamily="34" charset="0"/>
              </a:rPr>
              <a:t>: </a:t>
            </a:r>
            <a:r>
              <a:rPr lang="en-US" sz="2800" dirty="0">
                <a:latin typeface="Arial Narrow" panose="020B0606020202030204" pitchFamily="34" charset="0"/>
              </a:rPr>
              <a:t>Revisit the main findings and their significance.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Arial Narrow" panose="020B0606020202030204" pitchFamily="34" charset="0"/>
              </a:rPr>
              <a:t>Future </a:t>
            </a:r>
            <a:r>
              <a:rPr lang="en-US" sz="2800" b="1" dirty="0">
                <a:latin typeface="Arial Narrow" panose="020B0606020202030204" pitchFamily="34" charset="0"/>
              </a:rPr>
              <a:t>Directions: </a:t>
            </a:r>
            <a:r>
              <a:rPr lang="en-US" sz="2800" dirty="0">
                <a:latin typeface="Arial Narrow" panose="020B0606020202030204" pitchFamily="34" charset="0"/>
              </a:rPr>
              <a:t>What further research does the author suggest?</a:t>
            </a:r>
          </a:p>
          <a:p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7390" y="4319665"/>
            <a:ext cx="3490210" cy="1229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latin typeface="Arial Narrow" panose="020B0606020202030204" pitchFamily="34" charset="0"/>
              </a:rPr>
              <a:t>Review References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0452" y="1176728"/>
            <a:ext cx="1461540" cy="5246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4699414" y="2948068"/>
            <a:ext cx="7345182" cy="390743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Narrow" panose="020B0606020202030204" pitchFamily="34" charset="0"/>
              </a:rPr>
              <a:t>Citations: </a:t>
            </a:r>
            <a:r>
              <a:rPr lang="en-IN" sz="2800" dirty="0">
                <a:latin typeface="Arial Narrow" panose="020B0606020202030204" pitchFamily="34" charset="0"/>
              </a:rPr>
              <a:t>Familiarize yourself with foundational studies or major works cited.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Arial Narrow" panose="020B0606020202030204" pitchFamily="34" charset="0"/>
              </a:rPr>
              <a:t>Further Reading: </a:t>
            </a:r>
            <a:r>
              <a:rPr lang="en-IN" sz="2800" dirty="0">
                <a:latin typeface="Arial Narrow" panose="020B0606020202030204" pitchFamily="34" charset="0"/>
              </a:rPr>
              <a:t>References can lead you to other relevant articles.</a:t>
            </a:r>
          </a:p>
          <a:p>
            <a:pPr lvl="0"/>
            <a:endParaRPr lang="en-US" sz="2800" dirty="0">
              <a:latin typeface="Arial Narrow" panose="020B0606020202030204" pitchFamily="34" charset="0"/>
            </a:endParaRPr>
          </a:p>
          <a:p>
            <a:pPr lvl="0"/>
            <a:endParaRPr lang="en-IN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15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813" y="284812"/>
            <a:ext cx="11907187" cy="6573187"/>
          </a:xfrm>
        </p:spPr>
        <p:txBody>
          <a:bodyPr>
            <a:normAutofit fontScale="92500" lnSpcReduction="10000"/>
          </a:bodyPr>
          <a:lstStyle/>
          <a:p>
            <a:r>
              <a:rPr lang="en-IN" sz="3000" b="1" dirty="0">
                <a:latin typeface="Arial Narrow" panose="020B0606020202030204" pitchFamily="34" charset="0"/>
              </a:rPr>
              <a:t>9. Take Notes</a:t>
            </a:r>
            <a:endParaRPr lang="en-IN" sz="3000" dirty="0">
              <a:latin typeface="Arial Narrow" panose="020B0606020202030204" pitchFamily="34" charset="0"/>
            </a:endParaRP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Jot down key points, methodologies, findings, and your personal reflections or criticisms.</a:t>
            </a:r>
          </a:p>
          <a:p>
            <a:r>
              <a:rPr lang="en-IN" sz="3000" b="1" dirty="0">
                <a:latin typeface="Arial Narrow" panose="020B0606020202030204" pitchFamily="34" charset="0"/>
              </a:rPr>
              <a:t>10. Discuss with Peers</a:t>
            </a:r>
            <a:endParaRPr lang="en-IN" sz="3000" dirty="0">
              <a:latin typeface="Arial Narrow" panose="020B0606020202030204" pitchFamily="34" charset="0"/>
            </a:endParaRP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Sharing insights and discussing interpretations can deepen your understanding.</a:t>
            </a:r>
          </a:p>
          <a:p>
            <a:r>
              <a:rPr lang="en-IN" sz="3000" b="1" dirty="0">
                <a:latin typeface="Arial Narrow" panose="020B0606020202030204" pitchFamily="34" charset="0"/>
              </a:rPr>
              <a:t>11. Revisit if Necessary</a:t>
            </a:r>
            <a:endParaRPr lang="en-IN" sz="3000" dirty="0">
              <a:latin typeface="Arial Narrow" panose="020B0606020202030204" pitchFamily="34" charset="0"/>
            </a:endParaRP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It's okay not to grasp everything on the first read. Revisit sections that were challenging.</a:t>
            </a:r>
          </a:p>
          <a:p>
            <a:r>
              <a:rPr lang="en-IN" sz="3000" b="1" dirty="0">
                <a:latin typeface="Arial Narrow" panose="020B0606020202030204" pitchFamily="34" charset="0"/>
              </a:rPr>
              <a:t>12. Stay Critical</a:t>
            </a:r>
            <a:endParaRPr lang="en-IN" sz="3000" dirty="0">
              <a:latin typeface="Arial Narrow" panose="020B0606020202030204" pitchFamily="34" charset="0"/>
            </a:endParaRP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Every study has limitations. Consider biases, the validity of conclusions, and the generalizability of findings.</a:t>
            </a:r>
          </a:p>
          <a:p>
            <a:r>
              <a:rPr lang="en-IN" sz="3000" b="1" dirty="0">
                <a:latin typeface="Arial Narrow" panose="020B0606020202030204" pitchFamily="34" charset="0"/>
              </a:rPr>
              <a:t>13. Apply to Your Work</a:t>
            </a:r>
            <a:endParaRPr lang="en-IN" sz="3000" dirty="0">
              <a:latin typeface="Arial Narrow" panose="020B0606020202030204" pitchFamily="34" charset="0"/>
            </a:endParaRP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Reflect on how the findings can inform your research, studies, or professional practices.</a:t>
            </a:r>
          </a:p>
          <a:p>
            <a:r>
              <a:rPr lang="en-IN" sz="3000" b="1" dirty="0">
                <a:latin typeface="Arial Narrow" panose="020B0606020202030204" pitchFamily="34" charset="0"/>
              </a:rPr>
              <a:t>14. Stay Updated</a:t>
            </a:r>
            <a:endParaRPr lang="en-IN" sz="3000" dirty="0">
              <a:latin typeface="Arial Narrow" panose="020B0606020202030204" pitchFamily="34" charset="0"/>
            </a:endParaRP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Research is continuous. New studies might confirm, expand, or contradict previous findings.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62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ONLINE RESOURCES – E JOURNALS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Open </a:t>
            </a:r>
            <a:r>
              <a:rPr lang="en-IN" b="1" dirty="0" smtClean="0"/>
              <a:t>Access</a:t>
            </a:r>
          </a:p>
          <a:p>
            <a:r>
              <a:rPr lang="en-US" b="1" dirty="0"/>
              <a:t>Preprint Servers</a:t>
            </a:r>
            <a:r>
              <a:rPr lang="en-US" dirty="0"/>
              <a:t>: Before articles are published in peer-reviewed journals, authors might upload them to preprint servers like </a:t>
            </a:r>
            <a:r>
              <a:rPr lang="en-US" dirty="0" err="1"/>
              <a:t>arXiv</a:t>
            </a:r>
            <a:r>
              <a:rPr lang="en-US" dirty="0"/>
              <a:t>, </a:t>
            </a:r>
            <a:r>
              <a:rPr lang="en-US" dirty="0" err="1"/>
              <a:t>bioRxiv</a:t>
            </a:r>
            <a:r>
              <a:rPr lang="en-US" dirty="0"/>
              <a:t>, or </a:t>
            </a:r>
            <a:r>
              <a:rPr lang="en-US" dirty="0" err="1"/>
              <a:t>SocArXiv</a:t>
            </a:r>
            <a:r>
              <a:rPr lang="en-US" dirty="0"/>
              <a:t>. These versions are not peer-reviewed but can provide early access to research findings</a:t>
            </a:r>
            <a:r>
              <a:rPr lang="en-US" dirty="0" smtClean="0"/>
              <a:t>.</a:t>
            </a:r>
          </a:p>
          <a:p>
            <a:r>
              <a:rPr lang="en-IN" b="1" dirty="0" err="1" smtClean="0"/>
              <a:t>ResearchGate</a:t>
            </a:r>
            <a:endParaRPr lang="en-IN" b="1" dirty="0" smtClean="0"/>
          </a:p>
          <a:p>
            <a:r>
              <a:rPr lang="en-IN" b="1" dirty="0"/>
              <a:t>Google </a:t>
            </a:r>
            <a:r>
              <a:rPr lang="en-IN" b="1" dirty="0" smtClean="0"/>
              <a:t>Scholar</a:t>
            </a:r>
          </a:p>
          <a:p>
            <a:r>
              <a:rPr lang="en-IN" b="1" dirty="0" err="1" smtClean="0"/>
              <a:t>Sci</a:t>
            </a:r>
            <a:r>
              <a:rPr lang="en-IN" b="1" dirty="0" smtClean="0"/>
              <a:t>-Hub</a:t>
            </a:r>
          </a:p>
          <a:p>
            <a:r>
              <a:rPr lang="en-IN" b="1" dirty="0"/>
              <a:t>Publisher's </a:t>
            </a:r>
            <a:r>
              <a:rPr lang="en-IN" b="1" dirty="0" smtClean="0"/>
              <a:t>Website</a:t>
            </a:r>
          </a:p>
          <a:p>
            <a:r>
              <a:rPr lang="en-IN" dirty="0"/>
              <a:t>https://www.mendeley.com/?interaction_required=true</a:t>
            </a:r>
          </a:p>
        </p:txBody>
      </p:sp>
    </p:spTree>
    <p:extLst>
      <p:ext uri="{BB962C8B-B14F-4D97-AF65-F5344CB8AC3E}">
        <p14:creationId xmlns:p14="http://schemas.microsoft.com/office/powerpoint/2010/main" val="34848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Link to Open access Journal Page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4" y="1424066"/>
            <a:ext cx="11542426" cy="4752897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hlinkClick r:id="rId2"/>
              </a:rPr>
              <a:t>https://www.elsevier.com/en-in/open-access/open-access-journals/search?meta_t=&amp;query=&amp;meta_s=Computer+Science</a:t>
            </a:r>
            <a:r>
              <a:rPr lang="en-IN" dirty="0" smtClean="0">
                <a:hlinkClick r:id="rId2"/>
              </a:rPr>
              <a:t>#</a:t>
            </a:r>
            <a:endParaRPr lang="en-IN" dirty="0" smtClean="0"/>
          </a:p>
          <a:p>
            <a:r>
              <a:rPr lang="en-IN" dirty="0">
                <a:hlinkClick r:id="rId3"/>
              </a:rPr>
              <a:t>https://www.springeropen.com/books</a:t>
            </a:r>
            <a:r>
              <a:rPr lang="en-IN" dirty="0" smtClean="0"/>
              <a:t>;</a:t>
            </a:r>
          </a:p>
          <a:p>
            <a:r>
              <a:rPr lang="en-IN" dirty="0">
                <a:hlinkClick r:id="rId4"/>
              </a:rPr>
              <a:t>https://link.springer.com/search?package=openaccess&amp;facet-content-type=%</a:t>
            </a:r>
            <a:r>
              <a:rPr lang="en-IN" dirty="0" smtClean="0">
                <a:hlinkClick r:id="rId4"/>
              </a:rPr>
              <a:t>22Book%22&amp;utm_source=sn&amp;utm_medium=referral_RM&amp;utm_campaign=BBKK_1_CE02_GermanPagetoSL</a:t>
            </a:r>
            <a:endParaRPr lang="en-IN" dirty="0" smtClean="0"/>
          </a:p>
          <a:p>
            <a:r>
              <a:rPr lang="en-IN" dirty="0" smtClean="0">
                <a:hlinkClick r:id="rId5"/>
              </a:rPr>
              <a:t>https</a:t>
            </a:r>
            <a:r>
              <a:rPr lang="en-IN" dirty="0">
                <a:hlinkClick r:id="rId5"/>
              </a:rPr>
              <a:t>://open.ieee.org</a:t>
            </a:r>
            <a:r>
              <a:rPr lang="en-IN" dirty="0" smtClean="0">
                <a:hlinkClick r:id="rId5"/>
              </a:rPr>
              <a:t>/</a:t>
            </a:r>
            <a:endParaRPr lang="en-IN" dirty="0" smtClean="0"/>
          </a:p>
          <a:p>
            <a:r>
              <a:rPr lang="en-IN" dirty="0">
                <a:hlinkClick r:id="rId6"/>
              </a:rPr>
              <a:t>https://scholar.google.com</a:t>
            </a:r>
            <a:r>
              <a:rPr lang="en-IN" dirty="0" smtClean="0">
                <a:hlinkClick r:id="rId6"/>
              </a:rPr>
              <a:t>/</a:t>
            </a:r>
            <a:endParaRPr lang="en-IN" dirty="0" smtClean="0"/>
          </a:p>
          <a:p>
            <a:r>
              <a:rPr lang="en-IN" dirty="0">
                <a:hlinkClick r:id="rId7"/>
              </a:rPr>
              <a:t>https://sci-hub.se</a:t>
            </a:r>
            <a:r>
              <a:rPr lang="en-IN" dirty="0" smtClean="0">
                <a:hlinkClick r:id="rId7"/>
              </a:rPr>
              <a:t>/</a:t>
            </a:r>
            <a:endParaRPr lang="en-IN" dirty="0" smtClean="0"/>
          </a:p>
          <a:p>
            <a:r>
              <a:rPr lang="en-IN" dirty="0">
                <a:hlinkClick r:id="rId8"/>
              </a:rPr>
              <a:t>https://www.researchgate.net</a:t>
            </a:r>
            <a:r>
              <a:rPr lang="en-IN" dirty="0" smtClean="0">
                <a:hlinkClick r:id="rId8"/>
              </a:rPr>
              <a:t>/</a:t>
            </a:r>
            <a:endParaRPr lang="en-IN" dirty="0" smtClean="0"/>
          </a:p>
          <a:p>
            <a:r>
              <a:rPr lang="en-IN" dirty="0">
                <a:hlinkClick r:id="rId9"/>
              </a:rPr>
              <a:t>https://docs.lib.purdue.edu/cstech/?_</a:t>
            </a:r>
            <a:r>
              <a:rPr lang="en-IN" dirty="0" smtClean="0">
                <a:hlinkClick r:id="rId9"/>
              </a:rPr>
              <a:t>ga=2.247716551.1353792408.1694691713-1691778508.1694691713</a:t>
            </a:r>
            <a:endParaRPr lang="en-IN" dirty="0" smtClean="0"/>
          </a:p>
          <a:p>
            <a:r>
              <a:rPr lang="en-IN" dirty="0"/>
              <a:t>https://soda.la.psu.edu/research-papers/</a:t>
            </a:r>
          </a:p>
        </p:txBody>
      </p:sp>
    </p:spTree>
    <p:extLst>
      <p:ext uri="{BB962C8B-B14F-4D97-AF65-F5344CB8AC3E}">
        <p14:creationId xmlns:p14="http://schemas.microsoft.com/office/powerpoint/2010/main" val="244089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Custom Research Paper Infographic Template | PosterMyW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05332"/>
            <a:ext cx="9313889" cy="620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37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2 Minute Presentation Format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04030" cy="4351338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Arial Narrow" panose="020B0606020202030204" pitchFamily="34" charset="0"/>
              </a:rPr>
              <a:t>Slide </a:t>
            </a:r>
            <a:r>
              <a:rPr lang="en-US" sz="2400" b="1" dirty="0">
                <a:latin typeface="Arial Narrow" panose="020B0606020202030204" pitchFamily="34" charset="0"/>
              </a:rPr>
              <a:t>1: Title Slide</a:t>
            </a:r>
          </a:p>
          <a:p>
            <a:pPr lvl="1"/>
            <a:r>
              <a:rPr lang="en-US" dirty="0" smtClean="0">
                <a:latin typeface="Arial Narrow" panose="020B0606020202030204" pitchFamily="34" charset="0"/>
              </a:rPr>
              <a:t>    </a:t>
            </a:r>
            <a:r>
              <a:rPr lang="en-US" dirty="0">
                <a:latin typeface="Arial Narrow" panose="020B0606020202030204" pitchFamily="34" charset="0"/>
              </a:rPr>
              <a:t>Title of the Research Article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    Authors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    Journal and Publication </a:t>
            </a:r>
            <a:r>
              <a:rPr lang="en-US" dirty="0" smtClean="0">
                <a:latin typeface="Arial Narrow" panose="020B0606020202030204" pitchFamily="34" charset="0"/>
              </a:rPr>
              <a:t>Date</a:t>
            </a:r>
            <a:endParaRPr lang="en-IN" dirty="0" smtClean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Slide 2: Objective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Briefly state the main objective or purpose of the research.</a:t>
            </a:r>
          </a:p>
          <a:p>
            <a:pPr lvl="1"/>
            <a:r>
              <a:rPr lang="en-US" i="1" dirty="0">
                <a:latin typeface="Arial Narrow" panose="020B0606020202030204" pitchFamily="34" charset="0"/>
              </a:rPr>
              <a:t>Example</a:t>
            </a:r>
            <a:r>
              <a:rPr lang="en-US" dirty="0">
                <a:latin typeface="Arial Narrow" panose="020B0606020202030204" pitchFamily="34" charset="0"/>
              </a:rPr>
              <a:t>: "This study aimed to determine the effects of X on Y</a:t>
            </a:r>
            <a:r>
              <a:rPr lang="en-US" dirty="0" smtClean="0">
                <a:latin typeface="Arial Narrow" panose="020B0606020202030204" pitchFamily="34" charset="0"/>
              </a:rPr>
              <a:t>.“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Slide 3: Background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Why is this research important?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What was previously known or what gap in knowledge does this address?</a:t>
            </a:r>
          </a:p>
          <a:p>
            <a:pPr lvl="1"/>
            <a:endParaRPr lang="en-US" dirty="0"/>
          </a:p>
          <a:p>
            <a:pPr lvl="1"/>
            <a:endParaRPr lang="en-US" dirty="0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66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538" y="119920"/>
            <a:ext cx="11248869" cy="6573187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Slide 4: Methods (Brief)</a:t>
            </a:r>
          </a:p>
          <a:p>
            <a:r>
              <a:rPr lang="en-US" dirty="0">
                <a:latin typeface="Arial Narrow" panose="020B0606020202030204" pitchFamily="34" charset="0"/>
              </a:rPr>
              <a:t>Research design: Experimental, observational, qualitative, etc.</a:t>
            </a:r>
          </a:p>
          <a:p>
            <a:r>
              <a:rPr lang="en-US" dirty="0">
                <a:latin typeface="Arial Narrow" panose="020B0606020202030204" pitchFamily="34" charset="0"/>
              </a:rPr>
              <a:t>Key methods used.</a:t>
            </a:r>
          </a:p>
          <a:p>
            <a:pPr lvl="1"/>
            <a:r>
              <a:rPr lang="en-US" i="1" dirty="0">
                <a:latin typeface="Arial Narrow" panose="020B0606020202030204" pitchFamily="34" charset="0"/>
              </a:rPr>
              <a:t>Example</a:t>
            </a:r>
            <a:r>
              <a:rPr lang="en-US" dirty="0">
                <a:latin typeface="Arial Narrow" panose="020B0606020202030204" pitchFamily="34" charset="0"/>
              </a:rPr>
              <a:t>: "Researchers conducted a double-blind randomized trial with 200 participants</a:t>
            </a:r>
            <a:r>
              <a:rPr lang="en-US" dirty="0" smtClean="0">
                <a:latin typeface="Arial Narrow" panose="020B0606020202030204" pitchFamily="34" charset="0"/>
              </a:rPr>
              <a:t>.“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Slide 5: Key Findings</a:t>
            </a:r>
          </a:p>
          <a:p>
            <a:r>
              <a:rPr lang="en-US" dirty="0">
                <a:latin typeface="Arial Narrow" panose="020B0606020202030204" pitchFamily="34" charset="0"/>
              </a:rPr>
              <a:t>1-3 most important results or findings.</a:t>
            </a:r>
          </a:p>
          <a:p>
            <a:pPr lvl="1"/>
            <a:r>
              <a:rPr lang="en-US" i="1" dirty="0">
                <a:latin typeface="Arial Narrow" panose="020B0606020202030204" pitchFamily="34" charset="0"/>
              </a:rPr>
              <a:t>Example</a:t>
            </a:r>
            <a:r>
              <a:rPr lang="en-US" dirty="0">
                <a:latin typeface="Arial Narrow" panose="020B0606020202030204" pitchFamily="34" charset="0"/>
              </a:rPr>
              <a:t>: "X was found to significantly impact Y</a:t>
            </a:r>
            <a:r>
              <a:rPr lang="en-US" dirty="0" smtClean="0">
                <a:latin typeface="Arial Narrow" panose="020B0606020202030204" pitchFamily="34" charset="0"/>
              </a:rPr>
              <a:t>.“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n-US" sz="2800" b="1" dirty="0">
                <a:latin typeface="Arial Narrow" panose="020B0606020202030204" pitchFamily="34" charset="0"/>
              </a:rPr>
              <a:t>Slide 6: Implications</a:t>
            </a:r>
          </a:p>
          <a:p>
            <a:pPr lvl="1">
              <a:lnSpc>
                <a:spcPct val="110000"/>
              </a:lnSpc>
            </a:pPr>
            <a:r>
              <a:rPr lang="en-US" dirty="0" smtClean="0">
                <a:latin typeface="Arial Narrow" panose="020B0606020202030204" pitchFamily="34" charset="0"/>
              </a:rPr>
              <a:t>    </a:t>
            </a:r>
            <a:r>
              <a:rPr lang="en-US" dirty="0">
                <a:latin typeface="Arial Narrow" panose="020B0606020202030204" pitchFamily="34" charset="0"/>
              </a:rPr>
              <a:t>Why do these findings matter?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    How might they change our understanding or application in the field?</a:t>
            </a:r>
          </a:p>
          <a:p>
            <a:pPr lvl="1"/>
            <a:endParaRPr lang="en-US" dirty="0">
              <a:latin typeface="Arial Narrow" panose="020B0606020202030204" pitchFamily="34" charset="0"/>
            </a:endParaRPr>
          </a:p>
          <a:p>
            <a:pPr marL="228600" lvl="1">
              <a:spcBef>
                <a:spcPts val="1000"/>
              </a:spcBef>
            </a:pPr>
            <a:r>
              <a:rPr lang="en-US" sz="2800" b="1" dirty="0">
                <a:latin typeface="Arial Narrow" panose="020B0606020202030204" pitchFamily="34" charset="0"/>
              </a:rPr>
              <a:t>Slide 7: Conclusion</a:t>
            </a:r>
          </a:p>
          <a:p>
            <a:pPr lvl="1"/>
            <a:r>
              <a:rPr lang="en-US" dirty="0" smtClean="0">
                <a:latin typeface="Arial Narrow" panose="020B0606020202030204" pitchFamily="34" charset="0"/>
              </a:rPr>
              <a:t>    </a:t>
            </a:r>
            <a:r>
              <a:rPr lang="en-US" dirty="0">
                <a:latin typeface="Arial Narrow" panose="020B0606020202030204" pitchFamily="34" charset="0"/>
              </a:rPr>
              <a:t>A brief summary statement about the research and its importance.</a:t>
            </a:r>
            <a:endParaRPr lang="en-US" dirty="0" smtClean="0">
              <a:latin typeface="Arial Narrow" panose="020B0606020202030204" pitchFamily="34" charset="0"/>
            </a:endParaRPr>
          </a:p>
          <a:p>
            <a:pPr lvl="1"/>
            <a:endParaRPr lang="en-US" dirty="0">
              <a:latin typeface="Arial Narrow" panose="020B0606020202030204" pitchFamily="34" charset="0"/>
            </a:endParaRP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61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Slide 8: Questions (Optional)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This </a:t>
            </a:r>
            <a:r>
              <a:rPr lang="en-US" dirty="0">
                <a:latin typeface="Arial Narrow" panose="020B0606020202030204" pitchFamily="34" charset="0"/>
              </a:rPr>
              <a:t>could be a slide prompting the audience for questions or further discussion, though given the brevity of the presentation, there might not be time for questions.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86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Tips for the Students: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Arial Narrow" panose="020B0606020202030204" pitchFamily="34" charset="0"/>
              </a:rPr>
              <a:t>Be </a:t>
            </a:r>
            <a:r>
              <a:rPr lang="en-US" b="1" dirty="0">
                <a:latin typeface="Arial Narrow" panose="020B0606020202030204" pitchFamily="34" charset="0"/>
              </a:rPr>
              <a:t>Concise</a:t>
            </a:r>
            <a:r>
              <a:rPr lang="en-US" dirty="0">
                <a:latin typeface="Arial Narrow" panose="020B0606020202030204" pitchFamily="34" charset="0"/>
              </a:rPr>
              <a:t>: With only 2 minutes, every second counts. Practice the presentation to ensure it fits within the time limit.</a:t>
            </a:r>
          </a:p>
          <a:p>
            <a:pPr algn="just"/>
            <a:r>
              <a:rPr lang="en-US" b="1" dirty="0">
                <a:latin typeface="Arial Narrow" panose="020B0606020202030204" pitchFamily="34" charset="0"/>
              </a:rPr>
              <a:t>Visuals</a:t>
            </a:r>
            <a:r>
              <a:rPr lang="en-US" dirty="0">
                <a:latin typeface="Arial Narrow" panose="020B0606020202030204" pitchFamily="34" charset="0"/>
              </a:rPr>
              <a:t>: Use visuals (graphs, images) to quickly convey complex information.</a:t>
            </a:r>
          </a:p>
          <a:p>
            <a:pPr algn="just"/>
            <a:r>
              <a:rPr lang="en-US" b="1" dirty="0">
                <a:latin typeface="Arial Narrow" panose="020B0606020202030204" pitchFamily="34" charset="0"/>
              </a:rPr>
              <a:t>Avoid Jargon</a:t>
            </a:r>
            <a:r>
              <a:rPr lang="en-US" dirty="0">
                <a:latin typeface="Arial Narrow" panose="020B0606020202030204" pitchFamily="34" charset="0"/>
              </a:rPr>
              <a:t>: Ensure the presentation is understandable to those who might not be familiar with the topic.</a:t>
            </a:r>
          </a:p>
          <a:p>
            <a:pPr algn="just"/>
            <a:r>
              <a:rPr lang="en-US" b="1" dirty="0">
                <a:latin typeface="Arial Narrow" panose="020B0606020202030204" pitchFamily="34" charset="0"/>
              </a:rPr>
              <a:t>Engage the Audience</a:t>
            </a:r>
            <a:r>
              <a:rPr lang="en-US" dirty="0">
                <a:latin typeface="Arial Narrow" panose="020B0606020202030204" pitchFamily="34" charset="0"/>
              </a:rPr>
              <a:t>: Start with a captivating fact or question to grab the audience's attention.</a:t>
            </a:r>
          </a:p>
          <a:p>
            <a:pPr algn="just"/>
            <a:r>
              <a:rPr lang="en-US" b="1" dirty="0">
                <a:latin typeface="Arial Narrow" panose="020B0606020202030204" pitchFamily="34" charset="0"/>
              </a:rPr>
              <a:t>Practice</a:t>
            </a:r>
            <a:r>
              <a:rPr lang="en-US" dirty="0">
                <a:latin typeface="Arial Narrow" panose="020B0606020202030204" pitchFamily="34" charset="0"/>
              </a:rPr>
              <a:t>: It's essential to practice the presentation multiple times to ensure clarity and coherence.</a:t>
            </a:r>
          </a:p>
          <a:p>
            <a:pPr algn="just"/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6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Dates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180909"/>
              </p:ext>
            </p:extLst>
          </p:nvPr>
        </p:nvGraphicFramePr>
        <p:xfrm>
          <a:off x="433465" y="1810634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917802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44088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Arial Narrow" panose="020B0606020202030204" pitchFamily="34" charset="0"/>
                        </a:rPr>
                        <a:t>DATE</a:t>
                      </a:r>
                      <a:endParaRPr lang="en-IN" sz="32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Arial Narrow" panose="020B0606020202030204" pitchFamily="34" charset="0"/>
                        </a:rPr>
                        <a:t>REVIEW DETAILS</a:t>
                      </a:r>
                      <a:endParaRPr lang="en-IN" sz="32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45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NOV 12,</a:t>
                      </a:r>
                      <a:r>
                        <a:rPr lang="en-US" sz="2800" baseline="0" dirty="0" smtClean="0">
                          <a:latin typeface="Arial Narrow" panose="020B0606020202030204" pitchFamily="34" charset="0"/>
                        </a:rPr>
                        <a:t> 2024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ABTSRACT &amp; REVIEW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1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NOV 13, 2024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ZEROTH REVIEW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72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NOV 22, 2024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FIRST REVIEW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24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DEC 3, 2024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SECOND REVIEW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85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DEC 9, 2024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ROUGH DRAFT OF PROJECT REPORT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54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DEC 12, 2024 &amp; DEC 13,2024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Arial Narrow" panose="020B0606020202030204" pitchFamily="34" charset="0"/>
                        </a:rPr>
                        <a:t>FINAL REVIEW</a:t>
                      </a:r>
                      <a:endParaRPr lang="en-IN" sz="2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024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9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888</Words>
  <Application>Microsoft Office PowerPoint</Application>
  <PresentationFormat>Widescreen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  <vt:lpstr>STRUCTURE OF RESEARCH PAPER</vt:lpstr>
      <vt:lpstr>PowerPoint Presentation</vt:lpstr>
      <vt:lpstr>ABSTRACT</vt:lpstr>
      <vt:lpstr>PowerPoint Presentation</vt:lpstr>
      <vt:lpstr>Sample paper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ONLINE RESOURCES – E JOURNALS</vt:lpstr>
      <vt:lpstr>Link to Open access Journal Page</vt:lpstr>
      <vt:lpstr>PowerPoint Presentation</vt:lpstr>
      <vt:lpstr>2 Minute Presentation Format</vt:lpstr>
      <vt:lpstr>PowerPoint Presentation</vt:lpstr>
      <vt:lpstr>PowerPoint Presentation</vt:lpstr>
      <vt:lpstr>Tips for the Students: </vt:lpstr>
      <vt:lpstr>Dates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Angay</dc:creator>
  <cp:lastModifiedBy>Angay</cp:lastModifiedBy>
  <cp:revision>19</cp:revision>
  <dcterms:created xsi:type="dcterms:W3CDTF">2023-09-13T13:48:58Z</dcterms:created>
  <dcterms:modified xsi:type="dcterms:W3CDTF">2024-11-11T05:30:07Z</dcterms:modified>
</cp:coreProperties>
</file>