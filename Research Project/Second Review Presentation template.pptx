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7" r:id="rId3"/>
    <p:sldId id="268" r:id="rId4"/>
    <p:sldId id="272" r:id="rId5"/>
    <p:sldId id="257" r:id="rId6"/>
    <p:sldId id="261" r:id="rId7"/>
    <p:sldId id="269" r:id="rId8"/>
    <p:sldId id="260" r:id="rId9"/>
    <p:sldId id="258" r:id="rId10"/>
    <p:sldId id="263" r:id="rId11"/>
    <p:sldId id="271" r:id="rId12"/>
    <p:sldId id="270" r:id="rId13"/>
    <p:sldId id="265" r:id="rId14"/>
    <p:sldId id="264"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4" d="100"/>
          <a:sy n="64" d="100"/>
        </p:scale>
        <p:origin x="90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02-12-2023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74EFEE0-0CD7-45A5-A730-5EC8BDE0D8D9}" type="datetime1">
              <a:rPr lang="en-IN" smtClean="0"/>
              <a:t>02-12-2023</a:t>
            </a:fld>
            <a:endParaRPr lang="en-IN"/>
          </a:p>
        </p:txBody>
      </p:sp>
      <p:sp>
        <p:nvSpPr>
          <p:cNvPr id="5" name="Footer Placeholder 4"/>
          <p:cNvSpPr>
            <a:spLocks noGrp="1"/>
          </p:cNvSpPr>
          <p:nvPr>
            <p:ph type="ftr" sz="quarter" idx="11"/>
          </p:nvPr>
        </p:nvSpPr>
        <p:spPr/>
        <p:txBody>
          <a:bodyPr/>
          <a:lstStyle/>
          <a:p>
            <a:r>
              <a:rPr lang="en-IN" smtClean="0"/>
              <a:t>CS6501 Project I PGP, ICER, VIT Bangalore</a:t>
            </a:r>
            <a:endParaRPr lang="en-IN"/>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FB7DE58-FC96-420A-ACEA-15241A896A4C}" type="datetime1">
              <a:rPr lang="en-IN" smtClean="0"/>
              <a:t>02-12-2023</a:t>
            </a:fld>
            <a:endParaRPr lang="en-IN"/>
          </a:p>
        </p:txBody>
      </p:sp>
      <p:sp>
        <p:nvSpPr>
          <p:cNvPr id="5" name="Footer Placeholder 4"/>
          <p:cNvSpPr>
            <a:spLocks noGrp="1"/>
          </p:cNvSpPr>
          <p:nvPr>
            <p:ph type="ftr" sz="quarter" idx="11"/>
          </p:nvPr>
        </p:nvSpPr>
        <p:spPr/>
        <p:txBody>
          <a:bodyPr/>
          <a:lstStyle/>
          <a:p>
            <a:r>
              <a:rPr lang="en-IN" smtClean="0"/>
              <a:t>CS6501 Project I PGP, ICER, VIT Bangalore</a:t>
            </a:r>
            <a:endParaRPr lang="en-IN"/>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2649E9C-B3B6-46FE-A568-B9D577388D42}" type="datetime1">
              <a:rPr lang="en-IN" smtClean="0"/>
              <a:t>02-12-2023</a:t>
            </a:fld>
            <a:endParaRPr lang="en-IN"/>
          </a:p>
        </p:txBody>
      </p:sp>
      <p:sp>
        <p:nvSpPr>
          <p:cNvPr id="5" name="Footer Placeholder 4"/>
          <p:cNvSpPr>
            <a:spLocks noGrp="1"/>
          </p:cNvSpPr>
          <p:nvPr>
            <p:ph type="ftr" sz="quarter" idx="11"/>
          </p:nvPr>
        </p:nvSpPr>
        <p:spPr/>
        <p:txBody>
          <a:bodyPr/>
          <a:lstStyle/>
          <a:p>
            <a:r>
              <a:rPr lang="en-IN" smtClean="0"/>
              <a:t>CS6501 Project I PGP, ICER, VIT Bangalore</a:t>
            </a:r>
            <a:endParaRPr lang="en-IN"/>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23CA508-102F-45DB-994A-FCDA0CAE14C8}" type="datetime1">
              <a:rPr lang="en-IN" smtClean="0"/>
              <a:t>02-12-2023</a:t>
            </a:fld>
            <a:endParaRPr lang="en-IN"/>
          </a:p>
        </p:txBody>
      </p:sp>
      <p:sp>
        <p:nvSpPr>
          <p:cNvPr id="6" name="Footer Placeholder 5"/>
          <p:cNvSpPr>
            <a:spLocks noGrp="1"/>
          </p:cNvSpPr>
          <p:nvPr>
            <p:ph type="ftr" sz="quarter" idx="11"/>
          </p:nvPr>
        </p:nvSpPr>
        <p:spPr/>
        <p:txBody>
          <a:bodyPr/>
          <a:lstStyle/>
          <a:p>
            <a:r>
              <a:rPr lang="en-IN" smtClean="0"/>
              <a:t>CS6501 Project I PGP, ICER, VIT Bangalore</a:t>
            </a:r>
            <a:endParaRPr lang="en-IN"/>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2CC774E-B8A2-4F5C-B5FA-D785A0C05A2E}" type="datetime1">
              <a:rPr lang="en-IN" smtClean="0"/>
              <a:t>02-12-2023</a:t>
            </a:fld>
            <a:endParaRPr lang="en-IN"/>
          </a:p>
        </p:txBody>
      </p:sp>
      <p:sp>
        <p:nvSpPr>
          <p:cNvPr id="8" name="Footer Placeholder 7"/>
          <p:cNvSpPr>
            <a:spLocks noGrp="1"/>
          </p:cNvSpPr>
          <p:nvPr>
            <p:ph type="ftr" sz="quarter" idx="11"/>
          </p:nvPr>
        </p:nvSpPr>
        <p:spPr/>
        <p:txBody>
          <a:bodyPr/>
          <a:lstStyle/>
          <a:p>
            <a:r>
              <a:rPr lang="en-IN" smtClean="0"/>
              <a:t>CS6501 Project I PGP, ICER, VIT Bangalore</a:t>
            </a:r>
            <a:endParaRPr lang="en-IN"/>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09F70BE-0155-47E7-8509-A88648CCEC82}" type="datetime1">
              <a:rPr lang="en-IN" smtClean="0"/>
              <a:t>02-12-2023</a:t>
            </a:fld>
            <a:endParaRPr lang="en-IN"/>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7DE71-85FA-4296-BD22-FA3717DCA8E2}" type="datetime1">
              <a:rPr lang="en-IN" smtClean="0"/>
              <a:t>02-12-2023</a:t>
            </a:fld>
            <a:endParaRPr lang="en-IN"/>
          </a:p>
        </p:txBody>
      </p:sp>
      <p:sp>
        <p:nvSpPr>
          <p:cNvPr id="3" name="Footer Placeholder 2"/>
          <p:cNvSpPr>
            <a:spLocks noGrp="1"/>
          </p:cNvSpPr>
          <p:nvPr>
            <p:ph type="ftr" sz="quarter" idx="11"/>
          </p:nvPr>
        </p:nvSpPr>
        <p:spPr/>
        <p:txBody>
          <a:bodyPr/>
          <a:lstStyle/>
          <a:p>
            <a:r>
              <a:rPr lang="en-IN" smtClean="0"/>
              <a:t>CS6501 Project I PGP, ICER, VIT Bangalore</a:t>
            </a:r>
            <a:endParaRPr lang="en-IN"/>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C2EEF0E-D1E3-413E-934B-8549D7D1A21A}" type="datetime1">
              <a:rPr lang="en-IN" smtClean="0"/>
              <a:t>02-12-2023</a:t>
            </a:fld>
            <a:endParaRPr lang="en-IN"/>
          </a:p>
        </p:txBody>
      </p:sp>
      <p:sp>
        <p:nvSpPr>
          <p:cNvPr id="6" name="Footer Placeholder 5"/>
          <p:cNvSpPr>
            <a:spLocks noGrp="1"/>
          </p:cNvSpPr>
          <p:nvPr>
            <p:ph type="ftr" sz="quarter" idx="11"/>
          </p:nvPr>
        </p:nvSpPr>
        <p:spPr/>
        <p:txBody>
          <a:bodyPr/>
          <a:lstStyle/>
          <a:p>
            <a:r>
              <a:rPr lang="en-IN" smtClean="0"/>
              <a:t>CS6501 Project I PGP, ICER, VIT Bangalore</a:t>
            </a:r>
            <a:endParaRPr lang="en-IN"/>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E472768-1913-4B51-9959-F62F8ED684BE}" type="datetime1">
              <a:rPr lang="en-IN" smtClean="0"/>
              <a:t>02-12-2023</a:t>
            </a:fld>
            <a:endParaRPr lang="en-IN"/>
          </a:p>
        </p:txBody>
      </p:sp>
      <p:sp>
        <p:nvSpPr>
          <p:cNvPr id="6" name="Footer Placeholder 5"/>
          <p:cNvSpPr>
            <a:spLocks noGrp="1"/>
          </p:cNvSpPr>
          <p:nvPr>
            <p:ph type="ftr" sz="quarter" idx="11"/>
          </p:nvPr>
        </p:nvSpPr>
        <p:spPr/>
        <p:txBody>
          <a:bodyPr/>
          <a:lstStyle/>
          <a:p>
            <a:r>
              <a:rPr lang="en-IN" smtClean="0"/>
              <a:t>CS6501 Project I PGP, ICER, VIT Bangalore</a:t>
            </a:r>
            <a:endParaRPr lang="en-IN"/>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14653BA-939B-4E91-B3F4-265E71AFADD6}" type="datetime1">
              <a:rPr lang="en-IN" smtClean="0"/>
              <a:t>02-12-2023</a:t>
            </a:fld>
            <a:endParaRPr lang="en-IN"/>
          </a:p>
        </p:txBody>
      </p:sp>
      <p:sp>
        <p:nvSpPr>
          <p:cNvPr id="5" name="Footer Placeholder 4"/>
          <p:cNvSpPr>
            <a:spLocks noGrp="1"/>
          </p:cNvSpPr>
          <p:nvPr>
            <p:ph type="ftr" sz="quarter" idx="11"/>
          </p:nvPr>
        </p:nvSpPr>
        <p:spPr/>
        <p:txBody>
          <a:bodyPr/>
          <a:lstStyle/>
          <a:p>
            <a:r>
              <a:rPr lang="en-IN" smtClean="0"/>
              <a:t>CS6501 Project I PGP, ICER, VIT Bangalore</a:t>
            </a:r>
            <a:endParaRPr lang="en-IN"/>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ACCF933-5EA4-4E01-9CD8-F0B091D3891D}" type="datetime1">
              <a:rPr lang="en-IN" smtClean="0"/>
              <a:t>02-12-2023</a:t>
            </a:fld>
            <a:endParaRPr lang="en-IN"/>
          </a:p>
        </p:txBody>
      </p:sp>
      <p:sp>
        <p:nvSpPr>
          <p:cNvPr id="5" name="Footer Placeholder 4"/>
          <p:cNvSpPr>
            <a:spLocks noGrp="1"/>
          </p:cNvSpPr>
          <p:nvPr>
            <p:ph type="ftr" sz="quarter" idx="11"/>
          </p:nvPr>
        </p:nvSpPr>
        <p:spPr/>
        <p:txBody>
          <a:bodyPr/>
          <a:lstStyle/>
          <a:p>
            <a:r>
              <a:rPr lang="en-IN" smtClean="0"/>
              <a:t>CS6501 Project I PGP, ICER, VIT Bangalore</a:t>
            </a:r>
            <a:endParaRPr lang="en-IN"/>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838B7-DBF2-4351-ADC6-B01D4416F11D}" type="datetime1">
              <a:rPr lang="en-IN" smtClean="0"/>
              <a:t>02-12-2023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CS6501 Project I PGP, ICER, VIT Bangalore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4124194"/>
          </a:xfrm>
        </p:spPr>
        <p:txBody>
          <a:bodyPr/>
          <a:lstStyle/>
          <a:p>
            <a:r>
              <a:rPr lang="en-US" dirty="0" smtClean="0">
                <a:latin typeface="Arial Narrow" panose="020B0606020202030204" pitchFamily="34" charset="0"/>
              </a:rPr>
              <a:t>Project Title:</a:t>
            </a:r>
            <a:br>
              <a:rPr lang="en-US" dirty="0" smtClean="0">
                <a:latin typeface="Arial Narrow" panose="020B0606020202030204" pitchFamily="34" charset="0"/>
              </a:rPr>
            </a:br>
            <a:r>
              <a:rPr lang="en-US" sz="3600" dirty="0" smtClean="0">
                <a:latin typeface="Arial Narrow" panose="020B0606020202030204" pitchFamily="34" charset="0"/>
              </a:rPr>
              <a:t>Domain:</a:t>
            </a:r>
            <a:r>
              <a:rPr lang="en-US" dirty="0" smtClean="0">
                <a:latin typeface="Arial Narrow" panose="020B0606020202030204" pitchFamily="34" charset="0"/>
              </a:rPr>
              <a:t/>
            </a:r>
            <a:br>
              <a:rPr lang="en-US" dirty="0" smtClean="0">
                <a:latin typeface="Arial Narrow" panose="020B0606020202030204" pitchFamily="34" charset="0"/>
              </a:rPr>
            </a:br>
            <a:r>
              <a:rPr lang="en-US" dirty="0" smtClean="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smtClean="0">
                <a:latin typeface="Arial Narrow" panose="020B0606020202030204" pitchFamily="34" charset="0"/>
              </a:rPr>
              <a:t>Register Number:</a:t>
            </a:r>
          </a:p>
          <a:p>
            <a:pPr algn="r"/>
            <a:r>
              <a:rPr lang="en-US" dirty="0" smtClean="0">
                <a:latin typeface="Arial Narrow" panose="020B0606020202030204" pitchFamily="34" charset="0"/>
              </a:rPr>
              <a:t>Name:</a:t>
            </a:r>
          </a:p>
          <a:p>
            <a:pPr algn="r"/>
            <a:r>
              <a:rPr lang="en-US" dirty="0" smtClean="0">
                <a:latin typeface="Arial Narrow" panose="020B0606020202030204" pitchFamily="34" charset="0"/>
              </a:rPr>
              <a:t>Date:</a:t>
            </a: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latin typeface="Arial Narrow" panose="020B0606020202030204" pitchFamily="34" charset="0"/>
              </a:rPr>
              <a:t>Second </a:t>
            </a:r>
            <a:r>
              <a:rPr lang="en-US" sz="3200" b="1" dirty="0" smtClean="0">
                <a:latin typeface="Arial Narrow" panose="020B0606020202030204" pitchFamily="34" charset="0"/>
              </a:rPr>
              <a:t>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smtClean="0">
                <a:latin typeface="Arial Narrow" panose="020B0606020202030204" pitchFamily="34" charset="0"/>
              </a:rPr>
              <a:t>Course Code: </a:t>
            </a:r>
            <a:r>
              <a:rPr lang="en-US" dirty="0" smtClean="0">
                <a:latin typeface="Arial Narrow" panose="020B0606020202030204" pitchFamily="34" charset="0"/>
              </a:rPr>
              <a:t>CS6510</a:t>
            </a:r>
          </a:p>
          <a:p>
            <a:r>
              <a:rPr lang="en-US" b="1" dirty="0" smtClean="0">
                <a:latin typeface="Arial Narrow" panose="020B0606020202030204" pitchFamily="34" charset="0"/>
              </a:rPr>
              <a:t>Course Title:  </a:t>
            </a:r>
            <a:r>
              <a:rPr lang="en-US" smtClean="0">
                <a:latin typeface="Arial Narrow" panose="020B0606020202030204" pitchFamily="34" charset="0"/>
              </a:rPr>
              <a:t>Project 1</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dirty="0" smtClean="0">
                <a:latin typeface="Arial Narrow" panose="020B0606020202030204" pitchFamily="34" charset="0"/>
              </a:rPr>
              <a:t>CS6501 Project I , PGP, ICER, VIT Bangalore</a:t>
            </a:r>
            <a:endParaRPr lang="en-IN" b="1" dirty="0">
              <a:latin typeface="Arial Narrow" panose="020B0606020202030204" pitchFamily="34" charset="0"/>
            </a:endParaRP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Introduction</a:t>
            </a:r>
            <a:endParaRPr lang="en-IN" dirty="0">
              <a:latin typeface="Arial Narrow" panose="020B0606020202030204" pitchFamily="34" charset="0"/>
            </a:endParaRPr>
          </a:p>
        </p:txBody>
      </p:sp>
      <p:sp>
        <p:nvSpPr>
          <p:cNvPr id="3" name="Content Placeholder 2"/>
          <p:cNvSpPr>
            <a:spLocks noGrp="1"/>
          </p:cNvSpPr>
          <p:nvPr>
            <p:ph idx="1"/>
          </p:nvPr>
        </p:nvSpPr>
        <p:spPr/>
        <p:txBody>
          <a:bodyPr/>
          <a:lstStyle/>
          <a:p>
            <a:pPr algn="just"/>
            <a:r>
              <a:rPr lang="en-US" dirty="0" smtClean="0">
                <a:solidFill>
                  <a:srgbClr val="FF0000"/>
                </a:solidFill>
              </a:rPr>
              <a:t>Introduce </a:t>
            </a:r>
            <a:r>
              <a:rPr lang="en-US" dirty="0">
                <a:solidFill>
                  <a:srgbClr val="FF0000"/>
                </a:solidFill>
              </a:rPr>
              <a:t>your problem, and the landscape for why the problem is interesting and what has been done before in this space. Describe your overall plan for approaching the problem, what contributions you expect to make, and why this is interesting in the context of the described landscape.</a:t>
            </a: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328" y="320675"/>
            <a:ext cx="10515600" cy="1325563"/>
          </a:xfrm>
        </p:spPr>
        <p:txBody>
          <a:bodyPr/>
          <a:lstStyle/>
          <a:p>
            <a:r>
              <a:rPr lang="en-US" b="1" dirty="0" smtClean="0">
                <a:latin typeface="Arial Narrow" panose="020B0606020202030204" pitchFamily="34" charset="0"/>
              </a:rPr>
              <a:t>Need of study</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8425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1528763" algn="l"/>
              </a:tabLst>
            </a:pPr>
            <a:r>
              <a:rPr lang="en-US" b="1" dirty="0" smtClean="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28984040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Narrow" panose="020B0606020202030204" pitchFamily="34" charset="0"/>
              </a:rPr>
              <a:t>Objectives</a:t>
            </a:r>
            <a:endParaRPr lang="en-IN"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a:solidFill>
                  <a:srgbClr val="FF0000"/>
                </a:solidFill>
              </a:rPr>
              <a:t>Define the focus of your study</a:t>
            </a:r>
          </a:p>
          <a:p>
            <a:r>
              <a:rPr lang="en-US" dirty="0">
                <a:solidFill>
                  <a:srgbClr val="FF0000"/>
                </a:solidFill>
              </a:rPr>
              <a:t>Clearly identify variables to be measured</a:t>
            </a:r>
          </a:p>
          <a:p>
            <a:r>
              <a:rPr lang="en-US" dirty="0">
                <a:solidFill>
                  <a:srgbClr val="FF0000"/>
                </a:solidFill>
              </a:rPr>
              <a:t>Indicate the various steps to be involved</a:t>
            </a:r>
          </a:p>
          <a:p>
            <a:r>
              <a:rPr lang="en-US" dirty="0">
                <a:solidFill>
                  <a:srgbClr val="FF0000"/>
                </a:solidFill>
              </a:rPr>
              <a:t>Establish the limits of the study</a:t>
            </a:r>
          </a:p>
          <a:p>
            <a:r>
              <a:rPr lang="en-US" dirty="0">
                <a:solidFill>
                  <a:srgbClr val="FF0000"/>
                </a:solidFill>
              </a:rPr>
              <a:t>Avoid collection of any data that is not strictly necessary</a:t>
            </a:r>
            <a:r>
              <a:rPr lang="en-US" dirty="0" smtClean="0">
                <a:solidFill>
                  <a:srgbClr val="FF0000"/>
                </a:solidFill>
              </a:rPr>
              <a:t>.</a:t>
            </a:r>
          </a:p>
          <a:p>
            <a:pPr algn="just"/>
            <a:r>
              <a:rPr lang="en-US" dirty="0">
                <a:solidFill>
                  <a:srgbClr val="FF0000"/>
                </a:solidFill>
              </a:rPr>
              <a:t>The </a:t>
            </a:r>
            <a:r>
              <a:rPr lang="en-US" b="1" dirty="0">
                <a:solidFill>
                  <a:srgbClr val="FF0000"/>
                </a:solidFill>
              </a:rPr>
              <a:t>general objective</a:t>
            </a:r>
            <a:r>
              <a:rPr lang="en-US" dirty="0">
                <a:solidFill>
                  <a:srgbClr val="FF0000"/>
                </a:solidFill>
              </a:rPr>
              <a:t> of your study states what you expect to achieve in general terms. </a:t>
            </a:r>
            <a:r>
              <a:rPr lang="en-US" b="1" dirty="0">
                <a:solidFill>
                  <a:srgbClr val="FF0000"/>
                </a:solidFill>
              </a:rPr>
              <a:t>Specific objectives</a:t>
            </a:r>
            <a:r>
              <a:rPr lang="en-US" dirty="0">
                <a:solidFill>
                  <a:srgbClr val="FF0000"/>
                </a:solidFill>
              </a:rPr>
              <a:t> break down the general objective into smaller, logically connected parts that systematically address the various aspects of the problem. </a:t>
            </a:r>
          </a:p>
          <a:p>
            <a:endParaRPr lang="en-IN" dirty="0"/>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9357227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Arial Narrow" panose="020B0606020202030204" pitchFamily="34" charset="0"/>
              </a:rPr>
              <a:t>Related Work</a:t>
            </a:r>
            <a:endParaRPr lang="en-IN" dirty="0">
              <a:latin typeface="Arial Narrow" panose="020B0606020202030204" pitchFamily="34" charset="0"/>
            </a:endParaRPr>
          </a:p>
        </p:txBody>
      </p:sp>
      <p:sp>
        <p:nvSpPr>
          <p:cNvPr id="3" name="Content Placeholder 2"/>
          <p:cNvSpPr>
            <a:spLocks noGrp="1"/>
          </p:cNvSpPr>
          <p:nvPr>
            <p:ph idx="1"/>
          </p:nvPr>
        </p:nvSpPr>
        <p:spPr/>
        <p:txBody>
          <a:bodyPr/>
          <a:lstStyle/>
          <a:p>
            <a:pPr algn="just"/>
            <a:r>
              <a:rPr lang="en-US" dirty="0">
                <a:solidFill>
                  <a:srgbClr val="FF0000"/>
                </a:solidFill>
              </a:rPr>
              <a:t>Describe in detail existing work related to your problem, how they are related to each other, and how your work relates to these. We expect this to be comprehensive and thorough, and with at least 10 citations discussed and cited accordingly.</a:t>
            </a: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spTree>
    <p:extLst>
      <p:ext uri="{BB962C8B-B14F-4D97-AF65-F5344CB8AC3E}">
        <p14:creationId xmlns:p14="http://schemas.microsoft.com/office/powerpoint/2010/main" val="130640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Proposed </a:t>
            </a:r>
            <a:r>
              <a:rPr lang="en-US" b="1" dirty="0" smtClean="0">
                <a:latin typeface="Arial Narrow" panose="020B0606020202030204" pitchFamily="34" charset="0"/>
              </a:rPr>
              <a:t>Methodology [ Max. 3 Slides ]</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smtClean="0">
                <a:solidFill>
                  <a:srgbClr val="FF0000"/>
                </a:solidFill>
              </a:rPr>
              <a:t>Design/Architecture </a:t>
            </a:r>
            <a:r>
              <a:rPr lang="en-US" dirty="0" smtClean="0">
                <a:solidFill>
                  <a:srgbClr val="FF0000"/>
                </a:solidFill>
              </a:rPr>
              <a:t>Diagram</a:t>
            </a:r>
          </a:p>
          <a:p>
            <a:r>
              <a:rPr lang="en-US" dirty="0" smtClean="0">
                <a:solidFill>
                  <a:srgbClr val="FF0000"/>
                </a:solidFill>
              </a:rPr>
              <a:t>Thoroughly </a:t>
            </a:r>
            <a:r>
              <a:rPr lang="en-US" dirty="0">
                <a:solidFill>
                  <a:srgbClr val="FF0000"/>
                </a:solidFill>
              </a:rPr>
              <a:t>describe the methods that you intended to use in your approach, and the baselines you plan to compare against.</a:t>
            </a: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8</a:t>
            </a:fld>
            <a:endParaRPr lang="en-IN"/>
          </a:p>
        </p:txBody>
      </p:sp>
    </p:spTree>
    <p:extLst>
      <p:ext uri="{BB962C8B-B14F-4D97-AF65-F5344CB8AC3E}">
        <p14:creationId xmlns:p14="http://schemas.microsoft.com/office/powerpoint/2010/main" val="11254287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smtClean="0">
                <a:latin typeface="Arial Narrow" panose="020B0606020202030204" pitchFamily="34" charset="0"/>
              </a:rPr>
              <a:t>Source of the Dataset</a:t>
            </a:r>
          </a:p>
          <a:p>
            <a:r>
              <a:rPr lang="en-US" dirty="0" smtClean="0">
                <a:latin typeface="Arial Narrow" panose="020B0606020202030204" pitchFamily="34" charset="0"/>
              </a:rPr>
              <a:t>No. of Observations</a:t>
            </a:r>
          </a:p>
          <a:p>
            <a:r>
              <a:rPr lang="en-US" dirty="0" smtClean="0">
                <a:latin typeface="Arial Narrow" panose="020B0606020202030204" pitchFamily="34" charset="0"/>
              </a:rPr>
              <a:t>Column/Feature Details</a:t>
            </a:r>
          </a:p>
          <a:p>
            <a:r>
              <a:rPr lang="en-US" dirty="0" smtClean="0">
                <a:latin typeface="Arial Narrow" panose="020B0606020202030204" pitchFamily="34" charset="0"/>
              </a:rPr>
              <a:t>Details about the columns – Discrete , </a:t>
            </a:r>
            <a:r>
              <a:rPr lang="en-US" dirty="0" err="1" smtClean="0">
                <a:latin typeface="Arial Narrow" panose="020B0606020202030204" pitchFamily="34" charset="0"/>
              </a:rPr>
              <a:t>categorical,continuous</a:t>
            </a:r>
            <a:r>
              <a:rPr lang="en-US" dirty="0" smtClean="0">
                <a:latin typeface="Arial Narrow" panose="020B0606020202030204" pitchFamily="34" charset="0"/>
              </a:rPr>
              <a:t> etc…</a:t>
            </a:r>
          </a:p>
          <a:p>
            <a:r>
              <a:rPr lang="en-US" dirty="0" smtClean="0">
                <a:latin typeface="Arial Narrow" panose="020B0606020202030204" pitchFamily="34" charset="0"/>
              </a:rPr>
              <a:t>Screenshot of the dataset</a:t>
            </a:r>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9</a:t>
            </a:fld>
            <a:endParaRPr lang="en-IN"/>
          </a:p>
        </p:txBody>
      </p:sp>
    </p:spTree>
    <p:extLst>
      <p:ext uri="{BB962C8B-B14F-4D97-AF65-F5344CB8AC3E}">
        <p14:creationId xmlns:p14="http://schemas.microsoft.com/office/powerpoint/2010/main" val="29134720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Results and Discussion  </a:t>
            </a:r>
            <a:r>
              <a:rPr lang="en-US" b="1" dirty="0" smtClean="0">
                <a:solidFill>
                  <a:srgbClr val="FF0000"/>
                </a:solidFill>
                <a:latin typeface="Arial Narrow" panose="020B0606020202030204" pitchFamily="34" charset="0"/>
              </a:rPr>
              <a:t>[ No MAX Limit for number of slides]</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p:txBody>
          <a:bodyPr>
            <a:normAutofit lnSpcReduction="10000"/>
          </a:bodyPr>
          <a:lstStyle/>
          <a:p>
            <a:r>
              <a:rPr lang="en-US" dirty="0" smtClean="0"/>
              <a:t>Methodology Used</a:t>
            </a:r>
            <a:endParaRPr lang="en-US" dirty="0" smtClean="0"/>
          </a:p>
          <a:p>
            <a:r>
              <a:rPr lang="en-US" dirty="0" smtClean="0"/>
              <a:t>Output</a:t>
            </a:r>
          </a:p>
          <a:p>
            <a:r>
              <a:rPr lang="en-US" dirty="0" smtClean="0"/>
              <a:t>Interpretation</a:t>
            </a:r>
          </a:p>
          <a:p>
            <a:endParaRPr lang="en-US" dirty="0"/>
          </a:p>
          <a:p>
            <a:pPr algn="just"/>
            <a:r>
              <a:rPr lang="en-US" dirty="0"/>
              <a:t>Describe any preliminary results up to the time of the milestone. You should show the results of training at least one deep learning model. (It is fine if the model has not yet attained good performance.) You should also show preliminary analysis on the model(s) that you have trained. You should also describe anticipated next steps and any obstacles that have come up.</a:t>
            </a:r>
            <a:endParaRPr lang="en-US" dirty="0" smtClean="0"/>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10</a:t>
            </a:fld>
            <a:endParaRPr lang="en-IN"/>
          </a:p>
        </p:txBody>
      </p:sp>
    </p:spTree>
    <p:extLst>
      <p:ext uri="{BB962C8B-B14F-4D97-AF65-F5344CB8AC3E}">
        <p14:creationId xmlns:p14="http://schemas.microsoft.com/office/powerpoint/2010/main" val="12059318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Narrow" panose="020B0606020202030204" pitchFamily="34" charset="0"/>
              </a:rPr>
              <a:t>Performance Analysis</a:t>
            </a:r>
            <a:endParaRPr lang="en-IN"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smtClean="0">
                <a:solidFill>
                  <a:srgbClr val="FF0000"/>
                </a:solidFill>
              </a:rPr>
              <a:t>Comparative table showing the methodology adopted by you and other authors with the performance metrics of these approaches</a:t>
            </a: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11</a:t>
            </a:fld>
            <a:endParaRPr lang="en-IN"/>
          </a:p>
        </p:txBody>
      </p:sp>
    </p:spTree>
    <p:extLst>
      <p:ext uri="{BB962C8B-B14F-4D97-AF65-F5344CB8AC3E}">
        <p14:creationId xmlns:p14="http://schemas.microsoft.com/office/powerpoint/2010/main" val="3443624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smtClean="0">
                <a:solidFill>
                  <a:srgbClr val="FF0000"/>
                </a:solidFill>
              </a:rPr>
              <a:t>Describe detailed methodology </a:t>
            </a:r>
            <a:r>
              <a:rPr lang="en-US" dirty="0">
                <a:solidFill>
                  <a:srgbClr val="FF0000"/>
                </a:solidFill>
              </a:rPr>
              <a:t>that you performed to support your approach and contribution. The exact </a:t>
            </a:r>
            <a:r>
              <a:rPr lang="en-US" dirty="0" smtClean="0">
                <a:solidFill>
                  <a:srgbClr val="FF0000"/>
                </a:solidFill>
              </a:rPr>
              <a:t>technique </a:t>
            </a:r>
            <a:r>
              <a:rPr lang="en-US" dirty="0">
                <a:solidFill>
                  <a:srgbClr val="FF0000"/>
                </a:solidFill>
              </a:rPr>
              <a:t>may vary depending on the project, but we will be looking for the thoughtfulness of your analysis. Examples may include performing comparison of your main approach with other baselines or methods, error analyses to investigate the performance of the model, ablation studies to determine the impact of various components of the approach, analyses to provide insight into the effect of different </a:t>
            </a:r>
            <a:r>
              <a:rPr lang="en-US" dirty="0" err="1">
                <a:solidFill>
                  <a:srgbClr val="FF0000"/>
                </a:solidFill>
              </a:rPr>
              <a:t>hyperparameter</a:t>
            </a:r>
            <a:r>
              <a:rPr lang="en-US" dirty="0">
                <a:solidFill>
                  <a:srgbClr val="FF0000"/>
                </a:solidFill>
              </a:rPr>
              <a:t> choices, techniques to interpret how the model is working, etc. You should include graphs, tables, or other figures to illustrate the experimental results.</a:t>
            </a: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12</a:t>
            </a:fld>
            <a:endParaRPr lang="en-IN"/>
          </a:p>
        </p:txBody>
      </p:sp>
    </p:spTree>
    <p:extLst>
      <p:ext uri="{BB962C8B-B14F-4D97-AF65-F5344CB8AC3E}">
        <p14:creationId xmlns:p14="http://schemas.microsoft.com/office/powerpoint/2010/main" val="2274190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Conclusion</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13</a:t>
            </a:fld>
            <a:endParaRPr lang="en-IN"/>
          </a:p>
        </p:txBody>
      </p:sp>
    </p:spTree>
    <p:extLst>
      <p:ext uri="{BB962C8B-B14F-4D97-AF65-F5344CB8AC3E}">
        <p14:creationId xmlns:p14="http://schemas.microsoft.com/office/powerpoint/2010/main" val="5979374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Future Enhancement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14</a:t>
            </a:fld>
            <a:endParaRPr lang="en-IN"/>
          </a:p>
        </p:txBody>
      </p:sp>
    </p:spTree>
    <p:extLst>
      <p:ext uri="{BB962C8B-B14F-4D97-AF65-F5344CB8AC3E}">
        <p14:creationId xmlns:p14="http://schemas.microsoft.com/office/powerpoint/2010/main" val="18105269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References : APA format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IN" smtClean="0"/>
              <a:t>CS6501 Project I PGP, ICER, VIT Bangalore</a:t>
            </a:r>
            <a:endParaRPr lang="en-IN"/>
          </a:p>
        </p:txBody>
      </p:sp>
      <p:sp>
        <p:nvSpPr>
          <p:cNvPr id="5" name="Slide Number Placeholder 4"/>
          <p:cNvSpPr>
            <a:spLocks noGrp="1"/>
          </p:cNvSpPr>
          <p:nvPr>
            <p:ph type="sldNum" sz="quarter" idx="12"/>
          </p:nvPr>
        </p:nvSpPr>
        <p:spPr/>
        <p:txBody>
          <a:bodyPr/>
          <a:lstStyle/>
          <a:p>
            <a:fld id="{90EDC104-672A-4227-99C4-0E2CC007FDBA}" type="slidenum">
              <a:rPr lang="en-IN" smtClean="0"/>
              <a:t>15</a:t>
            </a:fld>
            <a:endParaRPr lang="en-IN"/>
          </a:p>
        </p:txBody>
      </p:sp>
    </p:spTree>
    <p:extLst>
      <p:ext uri="{BB962C8B-B14F-4D97-AF65-F5344CB8AC3E}">
        <p14:creationId xmlns:p14="http://schemas.microsoft.com/office/powerpoint/2010/main" val="41440634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599</Words>
  <Application>Microsoft Office PowerPoint</Application>
  <PresentationFormat>Widescreen</PresentationFormat>
  <Paragraphs>72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Narrow</vt:lpstr>
      <vt:lpstr>Calibri</vt:lpstr>
      <vt:lpstr>Calibri Light</vt:lpstr>
      <vt:lpstr>Office Theme</vt:lpstr>
      <vt:lpstr>Project Title: Domain:  </vt:lpstr>
      <vt:lpstr>Abstract</vt:lpstr>
      <vt:lpstr>Introduction</vt:lpstr>
      <vt:lpstr>Need of study</vt:lpstr>
      <vt:lpstr>Problem Statement</vt:lpstr>
      <vt:lpstr>Objectives</vt:lpstr>
      <vt:lpstr>Related Work</vt:lpstr>
      <vt:lpstr>Proposed Methodology [ Max. 3 Slides ]</vt:lpstr>
      <vt:lpstr>Dataset</vt:lpstr>
      <vt:lpstr>Results and Discussion  [ No MAX Limit for number of slides]</vt:lpstr>
      <vt:lpstr>Performance Analysis</vt:lpstr>
      <vt:lpstr>PowerPoint Presentation</vt:lpstr>
      <vt:lpstr>Conclusion</vt:lpstr>
      <vt:lpstr>Future Enhancement</vt:lpstr>
      <vt:lpstr>References : APA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Angay</cp:lastModifiedBy>
  <cp:revision>17</cp:revision>
  <dcterms:created xsi:type="dcterms:W3CDTF">2023-11-15T14:09:37Z</dcterms:created>
  <dcterms:modified xsi:type="dcterms:W3CDTF">2023-12-02T12:29:47Z</dcterms:modified>
</cp:coreProperties>
</file>