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7" r:id="rId3"/>
    <p:sldId id="268" r:id="rId4"/>
    <p:sldId id="272" r:id="rId5"/>
    <p:sldId id="257" r:id="rId6"/>
    <p:sldId id="261" r:id="rId7"/>
    <p:sldId id="269" r:id="rId8"/>
    <p:sldId id="260" r:id="rId9"/>
    <p:sldId id="258" r:id="rId10"/>
    <p:sldId id="273" r:id="rId11"/>
    <p:sldId id="263" r:id="rId12"/>
    <p:sldId id="274" r:id="rId13"/>
    <p:sldId id="275" r:id="rId14"/>
    <p:sldId id="276" r:id="rId15"/>
    <p:sldId id="277" r:id="rId16"/>
    <p:sldId id="271" r:id="rId17"/>
    <p:sldId id="265" r:id="rId18"/>
    <p:sldId id="264"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474C464-B52D-F4EB-4D0F-28FACC5E742C}"/>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54093780-64CF-0319-727E-31C7D6C49F9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E81E35E-49D4-473F-4F6D-F240C9B5E9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07560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ED9F48A-1F71-E0ED-82BD-FEC4681910F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D21F0A8D-8414-299C-A2CE-9A1BA5DE98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382D3605-B655-65A4-C99D-898164A8F0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3686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4AB4E516-19D7-74D6-3CD8-B358E214CBB5}"/>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C8305A73-F723-9D3A-4F18-9308778426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F167B596-706F-B977-A617-3E88845467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9460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AF9ACEBC-4137-D93C-D737-E0193A1532AD}"/>
            </a:ext>
          </a:extLst>
        </p:cNvPr>
        <p:cNvGrpSpPr/>
        <p:nvPr/>
      </p:nvGrpSpPr>
      <p:grpSpPr>
        <a:xfrm>
          <a:off x="0" y="0"/>
          <a:ext cx="0" cy="0"/>
          <a:chOff x="0" y="0"/>
          <a:chExt cx="0" cy="0"/>
        </a:xfrm>
      </p:grpSpPr>
      <p:sp>
        <p:nvSpPr>
          <p:cNvPr id="136" name="Google Shape;136;p7:notes">
            <a:extLst>
              <a:ext uri="{FF2B5EF4-FFF2-40B4-BE49-F238E27FC236}">
                <a16:creationId xmlns:a16="http://schemas.microsoft.com/office/drawing/2014/main" id="{32274509-5B39-1DD6-B2FD-571C336DF3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a:extLst>
              <a:ext uri="{FF2B5EF4-FFF2-40B4-BE49-F238E27FC236}">
                <a16:creationId xmlns:a16="http://schemas.microsoft.com/office/drawing/2014/main" id="{BE3318CE-FA7D-D218-87F3-EC50FBAA88D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26065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16-12-2024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16-12-2024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16-12-2024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16-12-2024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16-12-2024</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16-12-2024</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16-12-2024</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16-12-2024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16-12-2024</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16-12-2024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16-12-2024</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16-12-2024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ranaroussi/yfinanc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109/ccai61966.2024.10603183" TargetMode="External"/><Relationship Id="rId3" Type="http://schemas.openxmlformats.org/officeDocument/2006/relationships/hyperlink" Target="https://ieeexplore.ieee.org/document/10625537" TargetMode="External"/><Relationship Id="rId7" Type="http://schemas.openxmlformats.org/officeDocument/2006/relationships/hyperlink" Target="https://ieeexplore.ieee.org/document/10593315" TargetMode="External"/><Relationship Id="rId2" Type="http://schemas.openxmlformats.org/officeDocument/2006/relationships/hyperlink" Target="https://doi.org/10.1109/iciteics61368.2024.10625537" TargetMode="External"/><Relationship Id="rId1" Type="http://schemas.openxmlformats.org/officeDocument/2006/relationships/slideLayout" Target="../slideLayouts/slideLayout2.xml"/><Relationship Id="rId6" Type="http://schemas.openxmlformats.org/officeDocument/2006/relationships/hyperlink" Target="https://doi.org/10.1109/incccs60947.2024.10593315" TargetMode="External"/><Relationship Id="rId11" Type="http://schemas.openxmlformats.org/officeDocument/2006/relationships/hyperlink" Target="https://ieeexplore.ieee.org/document/10725232" TargetMode="External"/><Relationship Id="rId5" Type="http://schemas.openxmlformats.org/officeDocument/2006/relationships/hyperlink" Target="https://ieeexplore.ieee.org/document/10673919" TargetMode="External"/><Relationship Id="rId10" Type="http://schemas.openxmlformats.org/officeDocument/2006/relationships/hyperlink" Target="https://doi.org/10.1109/icccnt61001.2024.10725232" TargetMode="External"/><Relationship Id="rId4" Type="http://schemas.openxmlformats.org/officeDocument/2006/relationships/hyperlink" Target="https://doi.org/10.1109/snpd61259.2024.10673919" TargetMode="External"/><Relationship Id="rId9" Type="http://schemas.openxmlformats.org/officeDocument/2006/relationships/hyperlink" Target="https://ieeexplore.ieee.org/document/1060318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9843" y="652439"/>
            <a:ext cx="11647357" cy="4124194"/>
          </a:xfrm>
        </p:spPr>
        <p:txBody>
          <a:bodyPr>
            <a:normAutofit/>
          </a:bodyPr>
          <a:lstStyle/>
          <a:p>
            <a:r>
              <a:rPr lang="en-US" sz="4400" dirty="0">
                <a:latin typeface="Arial Narrow" panose="020B0606020202030204" pitchFamily="34" charset="0"/>
              </a:rPr>
              <a:t>Enhancing Stock Price Prediction for Nifty 50 IT Sector Companies: A Comparative Study of ML Models with Feature Selection and Event Data Integration</a:t>
            </a:r>
            <a:br>
              <a:rPr lang="en-US" dirty="0">
                <a:latin typeface="Arial Narrow"/>
                <a:ea typeface="Arial Narrow"/>
                <a:cs typeface="Arial Narrow"/>
                <a:sym typeface="Arial Narrow"/>
              </a:rPr>
            </a:br>
            <a:r>
              <a:rPr lang="en-US" sz="3200" dirty="0">
                <a:solidFill>
                  <a:schemeClr val="tx1">
                    <a:lumMod val="50000"/>
                    <a:lumOff val="50000"/>
                  </a:schemeClr>
                </a:solidFill>
                <a:latin typeface="Arial Narrow" panose="020B0606020202030204" pitchFamily="34" charset="0"/>
              </a:rPr>
              <a:t>Economics and Finance</a:t>
            </a:r>
            <a:endParaRPr lang="en-IN" sz="3200" dirty="0">
              <a:latin typeface="Arial Narrow" panose="020B0606020202030204" pitchFamily="34" charset="0"/>
            </a:endParaRPr>
          </a:p>
        </p:txBody>
      </p:sp>
      <p:sp>
        <p:nvSpPr>
          <p:cNvPr id="3" name="Subtitle 2"/>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3/12/2024</a:t>
            </a:r>
            <a:endParaRPr lang="en-IN" dirty="0">
              <a:latin typeface="Arial Narrow" panose="020B060602020203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Second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CS6510</a:t>
            </a:r>
          </a:p>
          <a:p>
            <a:r>
              <a:rPr lang="en-US" b="1" dirty="0">
                <a:latin typeface="Arial Narrow" panose="020B0606020202030204" pitchFamily="34" charset="0"/>
              </a:rPr>
              <a:t>Course Title:  </a:t>
            </a:r>
            <a:r>
              <a:rPr lang="en-US">
                <a:latin typeface="Arial Narrow" panose="020B0606020202030204" pitchFamily="34" charset="0"/>
              </a:rPr>
              <a:t>Project 1</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598979"/>
            <a:ext cx="10515600" cy="4351338"/>
          </a:xfrm>
        </p:spPr>
        <p:txBody>
          <a:bodyPr>
            <a:normAutofit/>
          </a:bodyPr>
          <a:lstStyle/>
          <a:p>
            <a:pPr marL="0" indent="0">
              <a:buNone/>
            </a:pPr>
            <a:r>
              <a:rPr lang="en-US" sz="2000" dirty="0">
                <a:effectLst/>
                <a:ea typeface="Times New Roman" panose="02020603050405020304" pitchFamily="18" charset="0"/>
              </a:rPr>
              <a:t>This study addresses the challenge of predicting stock prices in the volatile IT sector of the Nifty 50 index, where traditional models based solely on historical data often fail to account for influential market events, such as economic policy shifts, earnings reports, and global economic changes. By incorporating event-driven data into predictive models, this research aims to improve the accuracy of stock price forecasting for IT companies, providing a more responsive tool for market analysis. Specifically, we evaluate the performance of ARIMA, SARIMA, GRU, and LSTM models, integrating event-driven and sentiment-based features through feature selection to identify the most impactful variables. The comparative analysis of these models across multiple performance metrics highlights the potential of event-enhanced LSTM models, demonstrating lower error rates and improved accuracy over baseline approaches. The findings contribute to existing financial literature by demonstrating how integrating external events and feature optimization can significantly improve stock forecasting accuracy. This study holds practical value for investors, analysts, and financial institutions, supporting more robust decision-making in high-volatility markets and setting a foundation for applying this predictive approach across other sectors.</a:t>
            </a:r>
            <a:endParaRPr lang="en-IN" sz="2000" dirty="0">
              <a:effectLst/>
              <a:ea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85000" lnSpcReduction="20000"/>
          </a:bodyPr>
          <a:lstStyle/>
          <a:p>
            <a:pPr marL="0" indent="0">
              <a:buNone/>
            </a:pPr>
            <a:r>
              <a:rPr lang="en-US" dirty="0"/>
              <a:t>Stock price prediction, particularly in the Nifty 50 IT sector, is a challenging task due to the high volatility of financial markets and the profound impact of market-moving events. This problem is critical for investors, analysts, and policymakers aiming to make informed decisions in a dynamic and competitive environment. While traditional models like ARIMA and SARIMA have been widely used for time series forecasting, emerging techniques such as GRU and LSTM have shown promise in capturing complex temporal patterns. Moreover, prior research has rarely integrated event-driven data into stock price prediction frameworks, leaving a gap in fully leveraging external factors that influence market movements.</a:t>
            </a:r>
          </a:p>
          <a:p>
            <a:pPr marL="0" indent="0">
              <a:buNone/>
            </a:pPr>
            <a:r>
              <a:rPr lang="en-US" dirty="0"/>
              <a:t>To address these challenges, we propose a comprehensive approach combining advanced machine learning models and event data integration for enhanced predictive accuracy. Our contributions include a comparative study of traditional and deep learning models and a novel integration of event-driven insights into the forecasting process. By utilizing all available features to their fullest extent, this research aims to provide actionable insights and improve forecasting precision in the IT sector, which holds significant importance in the Indian financial landscape.</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328" y="320675"/>
            <a:ext cx="10515600" cy="1325563"/>
          </a:xfrm>
        </p:spPr>
        <p:txBody>
          <a:bodyPr/>
          <a:lstStyle/>
          <a:p>
            <a:r>
              <a:rPr lang="en-US" b="1" dirty="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a:xfrm>
            <a:off x="643328" y="1481748"/>
            <a:ext cx="10515600" cy="4351338"/>
          </a:xfrm>
        </p:spPr>
        <p:txBody>
          <a:bodyPr>
            <a:normAutofit lnSpcReduction="10000"/>
          </a:bodyPr>
          <a:lstStyle/>
          <a:p>
            <a:pPr marL="0" indent="0">
              <a:buNone/>
            </a:pPr>
            <a:r>
              <a:rPr lang="en-US" dirty="0"/>
              <a:t>The Nifty 50 IT sector, a vital component of the Indian economy, faces challenges in accurate stock price prediction due to high volatility and the impact of external events. Existing models often fall short in capturing the nuanced influence of these factors.</a:t>
            </a:r>
          </a:p>
          <a:p>
            <a:pPr marL="0" indent="0">
              <a:buNone/>
            </a:pPr>
            <a:r>
              <a:rPr lang="en-US" dirty="0"/>
              <a:t>This study addresses this gap by combining advanced machine learning with event-driven insights. By analyzing the impact of external events, we aim to improve forecasting accuracy, empower informed decision-making, and contribute to a deeper understanding of market dynamics. Additionally, this study will demonstrate the advantage of Recurrent Neural Networks (RNNs) like GRU and LSTM in effectively capturing complex market movements and temporal dependencies.</a:t>
            </a: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r>
              <a:rPr lang="en-US" dirty="0"/>
              <a:t>Predicting stock prices in the Nifty 50 IT sector is challenging due to high volatility and the impact of market-moving events, making it necessary to use models that integrate event-driven data for improved accuracy</a:t>
            </a:r>
          </a:p>
          <a:p>
            <a:pPr marL="0" indent="0">
              <a:buNone/>
            </a:pP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Narrow" panose="020B0606020202030204" pitchFamily="34" charset="0"/>
              </a:rPr>
              <a:t>Objectives</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85000" lnSpcReduction="20000"/>
          </a:bodyPr>
          <a:lstStyle/>
          <a:p>
            <a:pPr marL="0" indent="0">
              <a:buNone/>
            </a:pPr>
            <a:r>
              <a:rPr lang="en-US" dirty="0"/>
              <a:t>This study aims to develop a robust predictive framework for stock price forecasting in the Nifty 50 IT sector by leveraging machine learning models and event-driven data. The primary focus is on stock prices as the dependent variable, with predictors including daily returns, trading volume, and event-driven data such as economic announcements and global news. By implementing and comparing ARIMA, SARIMA, GRU, and LSTM models, the study seeks to assess predictive accuracy and demonstrate the advantage of RNNs in capturing complex market movements influenced by external factors.</a:t>
            </a:r>
          </a:p>
          <a:p>
            <a:pPr marL="0" indent="0">
              <a:buNone/>
            </a:pPr>
            <a:r>
              <a:rPr lang="en-US" dirty="0"/>
              <a:t>The scope includes analyzing stock performance from 2006 to the present, focusing on major IT companies within the Nifty 50. The study identifies significant external events contributing to market fluctuations and evaluates model performance using metrics like RMSE, MAPE, and R-squared. To maintain clarity, the study avoids redundant variables and excludes minor events with negligible impact, ensuring that only strictly necessary data is considered. This approach systematically addresses the research problem while providing actionable insights into market dynamics.</a:t>
            </a:r>
            <a:r>
              <a:rPr lang="en-US" dirty="0">
                <a:solidFill>
                  <a:srgbClr val="FF0000"/>
                </a:solidFill>
              </a:rPr>
              <a:t> </a:t>
            </a: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Arial Narrow" panose="020B0606020202030204" pitchFamily="34" charset="0"/>
              </a:rPr>
              <a:t>Related Work</a:t>
            </a:r>
            <a:endParaRPr lang="en-IN" dirty="0">
              <a:latin typeface="Arial Narrow" panose="020B0606020202030204" pitchFamily="34" charset="0"/>
            </a:endParaRPr>
          </a:p>
        </p:txBody>
      </p:sp>
      <p:sp>
        <p:nvSpPr>
          <p:cNvPr id="3" name="Content Placeholder 2"/>
          <p:cNvSpPr>
            <a:spLocks noGrp="1"/>
          </p:cNvSpPr>
          <p:nvPr>
            <p:ph idx="1"/>
          </p:nvPr>
        </p:nvSpPr>
        <p:spPr/>
        <p:txBody>
          <a:bodyPr/>
          <a:lstStyle/>
          <a:p>
            <a:pPr algn="just"/>
            <a:r>
              <a:rPr lang="en-US" dirty="0">
                <a:solidFill>
                  <a:srgbClr val="FF0000"/>
                </a:solidFill>
              </a:rPr>
              <a:t>Describe in detail existing work related to your problem, how they are related to each other, and how your work relates to these. We expect this to be comprehensive and thorough, and with at least 10 citations discussed and cited accordingly.</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7</a:t>
            </a:fld>
            <a:endParaRPr lang="en-IN"/>
          </a:p>
        </p:txBody>
      </p:sp>
    </p:spTree>
    <p:extLst>
      <p:ext uri="{BB962C8B-B14F-4D97-AF65-F5344CB8AC3E}">
        <p14:creationId xmlns:p14="http://schemas.microsoft.com/office/powerpoint/2010/main" val="13064085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Proposed Methodology [ Max. 3 Slides ]</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solidFill>
                  <a:srgbClr val="FF0000"/>
                </a:solidFill>
              </a:rPr>
              <a:t>Design/Architecture Diagram</a:t>
            </a:r>
          </a:p>
          <a:p>
            <a:r>
              <a:rPr lang="en-US" dirty="0">
                <a:solidFill>
                  <a:srgbClr val="FF0000"/>
                </a:solidFill>
              </a:rPr>
              <a:t>Thoroughly describe the methods that you intended to use in your approach, and the baselines you plan to compare against.</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8</a:t>
            </a:fld>
            <a:endParaRPr lang="en-IN"/>
          </a:p>
        </p:txBody>
      </p:sp>
    </p:spTree>
    <p:extLst>
      <p:ext uri="{BB962C8B-B14F-4D97-AF65-F5344CB8AC3E}">
        <p14:creationId xmlns:p14="http://schemas.microsoft.com/office/powerpoint/2010/main" val="1125428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20000"/>
          </a:bodyPr>
          <a:lstStyle/>
          <a:p>
            <a:pPr marL="228600" lvl="0" indent="-228600" algn="l" rtl="0">
              <a:lnSpc>
                <a:spcPct val="90000"/>
              </a:lnSpc>
              <a:spcBef>
                <a:spcPts val="0"/>
              </a:spcBef>
              <a:spcAft>
                <a:spcPts val="0"/>
              </a:spcAft>
              <a:buClr>
                <a:schemeClr val="dk1"/>
              </a:buClr>
              <a:buSzPts val="2800"/>
              <a:buChar char="•"/>
            </a:pPr>
            <a:r>
              <a:rPr lang="en-US" dirty="0">
                <a:latin typeface="Arial Narrow"/>
                <a:ea typeface="Arial Narrow"/>
                <a:cs typeface="Arial Narrow"/>
                <a:sym typeface="Arial Narrow"/>
              </a:rPr>
              <a:t>Source of the Dataset: </a:t>
            </a:r>
            <a:r>
              <a:rPr lang="en-US" dirty="0">
                <a:latin typeface="Arial Narrow" panose="020B0606020202030204" pitchFamily="34" charset="0"/>
                <a:hlinkClick r:id="rId2"/>
              </a:rPr>
              <a:t>Yahoo Finance API</a:t>
            </a:r>
            <a:endParaRPr lang="en-US"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No. of Observations: 4495</a:t>
            </a:r>
            <a:endParaRPr lang="en-US"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Column/Feature Details: </a:t>
            </a:r>
            <a:r>
              <a:rPr lang="en-US" sz="2200" dirty="0"/>
              <a:t>Date, </a:t>
            </a:r>
            <a:r>
              <a:rPr lang="en-US" sz="2200" dirty="0" err="1"/>
              <a:t>HCLTECH.NS_Adj</a:t>
            </a:r>
            <a:r>
              <a:rPr lang="en-US" sz="2200" dirty="0"/>
              <a:t> Close, </a:t>
            </a:r>
            <a:r>
              <a:rPr lang="en-US" sz="2200" dirty="0" err="1"/>
              <a:t>INFY.NS_Adj</a:t>
            </a:r>
            <a:r>
              <a:rPr lang="en-US" sz="2200" dirty="0"/>
              <a:t> Close, </a:t>
            </a:r>
            <a:r>
              <a:rPr lang="en-US" sz="2200" dirty="0" err="1"/>
              <a:t>TCS.NS_Adj</a:t>
            </a:r>
            <a:r>
              <a:rPr lang="en-US" sz="2200" dirty="0"/>
              <a:t> Close, </a:t>
            </a:r>
            <a:r>
              <a:rPr lang="en-US" sz="2200" dirty="0" err="1"/>
              <a:t>TECHM.NS_Adj</a:t>
            </a:r>
            <a:r>
              <a:rPr lang="en-US" sz="2200" dirty="0"/>
              <a:t> Close, </a:t>
            </a:r>
            <a:r>
              <a:rPr lang="en-US" sz="2200" dirty="0" err="1"/>
              <a:t>WIPRO.NS_Adj</a:t>
            </a:r>
            <a:r>
              <a:rPr lang="en-US" sz="2200" dirty="0"/>
              <a:t> Close, </a:t>
            </a:r>
            <a:r>
              <a:rPr lang="en-US" sz="2200" dirty="0" err="1"/>
              <a:t>HCLTECH.NS_Close</a:t>
            </a:r>
            <a:r>
              <a:rPr lang="en-US" sz="2200" dirty="0"/>
              <a:t>, </a:t>
            </a:r>
            <a:r>
              <a:rPr lang="en-US" sz="2200" dirty="0" err="1"/>
              <a:t>INFY.NS_Close</a:t>
            </a:r>
            <a:r>
              <a:rPr lang="en-US" sz="2200" dirty="0"/>
              <a:t>, </a:t>
            </a:r>
            <a:r>
              <a:rPr lang="en-US" sz="2200" dirty="0" err="1"/>
              <a:t>TCS.NS_Close</a:t>
            </a:r>
            <a:r>
              <a:rPr lang="en-US" sz="2200" dirty="0"/>
              <a:t>, </a:t>
            </a:r>
            <a:r>
              <a:rPr lang="en-US" sz="2200" dirty="0" err="1"/>
              <a:t>TECHM.NS_Close</a:t>
            </a:r>
            <a:r>
              <a:rPr lang="en-US" sz="2200" dirty="0"/>
              <a:t>, </a:t>
            </a:r>
            <a:r>
              <a:rPr lang="en-US" sz="2200" dirty="0" err="1"/>
              <a:t>WIPRO.NS_Close</a:t>
            </a:r>
            <a:r>
              <a:rPr lang="en-US" sz="2200" dirty="0"/>
              <a:t>, </a:t>
            </a:r>
            <a:r>
              <a:rPr lang="en-US" sz="2200" dirty="0" err="1"/>
              <a:t>HCLTECH.NS_High</a:t>
            </a:r>
            <a:r>
              <a:rPr lang="en-US" sz="2200" dirty="0"/>
              <a:t>, </a:t>
            </a:r>
            <a:r>
              <a:rPr lang="en-US" sz="2200" dirty="0" err="1"/>
              <a:t>INFY.NS_High</a:t>
            </a:r>
            <a:r>
              <a:rPr lang="en-US" sz="2200" dirty="0"/>
              <a:t>, </a:t>
            </a:r>
            <a:r>
              <a:rPr lang="en-US" sz="2200" dirty="0" err="1"/>
              <a:t>TCS.NS_High</a:t>
            </a:r>
            <a:r>
              <a:rPr lang="en-US" sz="2200" dirty="0"/>
              <a:t>, </a:t>
            </a:r>
            <a:r>
              <a:rPr lang="en-US" sz="2200" dirty="0" err="1"/>
              <a:t>TECHM.NS_High</a:t>
            </a:r>
            <a:r>
              <a:rPr lang="en-US" sz="2200" dirty="0"/>
              <a:t>, </a:t>
            </a:r>
            <a:r>
              <a:rPr lang="en-US" sz="2200" dirty="0" err="1"/>
              <a:t>WIPRO.NS_High</a:t>
            </a:r>
            <a:r>
              <a:rPr lang="en-US" sz="2200" dirty="0"/>
              <a:t>, </a:t>
            </a:r>
            <a:r>
              <a:rPr lang="en-US" sz="2200" dirty="0" err="1"/>
              <a:t>HCLTECH.NS_Low</a:t>
            </a:r>
            <a:r>
              <a:rPr lang="en-US" sz="2200" dirty="0"/>
              <a:t>, </a:t>
            </a:r>
            <a:r>
              <a:rPr lang="en-US" sz="2200" dirty="0" err="1"/>
              <a:t>INFY.NS_Low</a:t>
            </a:r>
            <a:r>
              <a:rPr lang="en-US" sz="2200" dirty="0"/>
              <a:t>, </a:t>
            </a:r>
            <a:r>
              <a:rPr lang="en-US" sz="2200" dirty="0" err="1"/>
              <a:t>TCS.NS_Low</a:t>
            </a:r>
            <a:r>
              <a:rPr lang="en-US" sz="2200" dirty="0"/>
              <a:t>, </a:t>
            </a:r>
            <a:r>
              <a:rPr lang="en-US" sz="2200" dirty="0" err="1"/>
              <a:t>TECHM.NS_Low</a:t>
            </a:r>
            <a:r>
              <a:rPr lang="en-US" sz="2200" dirty="0"/>
              <a:t>, </a:t>
            </a:r>
            <a:r>
              <a:rPr lang="en-US" sz="2200" dirty="0" err="1"/>
              <a:t>WIPRO.NS_Low</a:t>
            </a:r>
            <a:r>
              <a:rPr lang="en-US" sz="2200" dirty="0"/>
              <a:t>, </a:t>
            </a:r>
            <a:r>
              <a:rPr lang="en-US" sz="2200" dirty="0" err="1"/>
              <a:t>HCLTECH.NS_Open</a:t>
            </a:r>
            <a:r>
              <a:rPr lang="en-US" sz="2200" dirty="0"/>
              <a:t>, </a:t>
            </a:r>
            <a:r>
              <a:rPr lang="en-US" sz="2200" dirty="0" err="1"/>
              <a:t>INFY.NS_Open</a:t>
            </a:r>
            <a:r>
              <a:rPr lang="en-US" sz="2200" dirty="0"/>
              <a:t>, </a:t>
            </a:r>
            <a:r>
              <a:rPr lang="en-US" sz="2200" dirty="0" err="1"/>
              <a:t>TCS.NS_Open</a:t>
            </a:r>
            <a:r>
              <a:rPr lang="en-US" sz="2200" dirty="0"/>
              <a:t>, </a:t>
            </a:r>
            <a:r>
              <a:rPr lang="en-US" sz="2200" dirty="0" err="1"/>
              <a:t>TECHM.NS_Open</a:t>
            </a:r>
            <a:r>
              <a:rPr lang="en-US" sz="2200" dirty="0"/>
              <a:t>, </a:t>
            </a:r>
            <a:r>
              <a:rPr lang="en-US" sz="2200" dirty="0" err="1"/>
              <a:t>WIPRO.NS_Open</a:t>
            </a:r>
            <a:r>
              <a:rPr lang="en-US" sz="2200" dirty="0"/>
              <a:t>, </a:t>
            </a:r>
            <a:r>
              <a:rPr lang="en-US" sz="2200" dirty="0" err="1"/>
              <a:t>HCLTECH.NS_Volume</a:t>
            </a:r>
            <a:r>
              <a:rPr lang="en-US" sz="2200" dirty="0"/>
              <a:t>, </a:t>
            </a:r>
            <a:r>
              <a:rPr lang="en-US" sz="2200" dirty="0" err="1"/>
              <a:t>INFY.NS_Volume</a:t>
            </a:r>
            <a:r>
              <a:rPr lang="en-US" sz="2200" dirty="0"/>
              <a:t>, </a:t>
            </a:r>
            <a:r>
              <a:rPr lang="en-US" sz="2200" dirty="0" err="1"/>
              <a:t>TCS.NS_Volume</a:t>
            </a:r>
            <a:r>
              <a:rPr lang="en-US" sz="2200" dirty="0"/>
              <a:t>, </a:t>
            </a:r>
            <a:r>
              <a:rPr lang="en-US" sz="2200" dirty="0" err="1"/>
              <a:t>TECHM.NS_Volume</a:t>
            </a:r>
            <a:r>
              <a:rPr lang="en-US" sz="2200" dirty="0"/>
              <a:t>, </a:t>
            </a:r>
            <a:r>
              <a:rPr lang="en-US" sz="2200" dirty="0" err="1"/>
              <a:t>WIPRO.NS_Volume</a:t>
            </a:r>
            <a:endParaRPr lang="en-US" sz="2200" dirty="0"/>
          </a:p>
          <a:p>
            <a:pPr marL="228600" lvl="0" indent="-228600" algn="l" rtl="0">
              <a:lnSpc>
                <a:spcPct val="90000"/>
              </a:lnSpc>
              <a:spcBef>
                <a:spcPts val="1000"/>
              </a:spcBef>
              <a:spcAft>
                <a:spcPts val="0"/>
              </a:spcAft>
              <a:buClr>
                <a:schemeClr val="dk1"/>
              </a:buClr>
              <a:buSzPts val="2800"/>
              <a:buChar char="•"/>
            </a:pPr>
            <a:r>
              <a:rPr lang="en-US" dirty="0">
                <a:latin typeface="Arial Narrow"/>
                <a:ea typeface="Arial Narrow"/>
                <a:cs typeface="Arial Narrow"/>
                <a:sym typeface="Arial Narrow"/>
              </a:rPr>
              <a:t>Details about the columns:</a:t>
            </a:r>
          </a:p>
          <a:p>
            <a:pPr marL="685800" lvl="1" indent="-228600">
              <a:spcBef>
                <a:spcPts val="1000"/>
              </a:spcBef>
              <a:buSzPts val="2800"/>
            </a:pPr>
            <a:r>
              <a:rPr lang="en-US" dirty="0">
                <a:latin typeface="Arial Narrow"/>
                <a:ea typeface="Arial Narrow"/>
                <a:cs typeface="Arial Narrow"/>
                <a:sym typeface="Arial Narrow"/>
              </a:rPr>
              <a:t>Date: Discrete (time-series feature)</a:t>
            </a:r>
          </a:p>
          <a:p>
            <a:pPr marL="685800" lvl="1" indent="-228600">
              <a:spcBef>
                <a:spcPts val="1000"/>
              </a:spcBef>
              <a:buSzPts val="2800"/>
            </a:pPr>
            <a:r>
              <a:rPr lang="en-US" dirty="0">
                <a:latin typeface="Arial Narrow"/>
                <a:ea typeface="Arial Narrow"/>
                <a:cs typeface="Arial Narrow"/>
                <a:sym typeface="Arial Narrow"/>
              </a:rPr>
              <a:t>Price-related columns (Adj Close, Close, High, Low, Open): Continuous</a:t>
            </a:r>
          </a:p>
          <a:p>
            <a:pPr marL="685800" lvl="1" indent="-228600">
              <a:spcBef>
                <a:spcPts val="1000"/>
              </a:spcBef>
              <a:buSzPts val="2800"/>
            </a:pPr>
            <a:r>
              <a:rPr lang="en-US" dirty="0">
                <a:latin typeface="Arial Narrow"/>
                <a:ea typeface="Arial Narrow"/>
                <a:cs typeface="Arial Narrow"/>
                <a:sym typeface="Arial Narrow"/>
              </a:rPr>
              <a:t>Volume columns: Discrete (countable values)</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9</a:t>
            </a:fld>
            <a:endParaRPr lang="en-IN"/>
          </a:p>
        </p:txBody>
      </p:sp>
    </p:spTree>
    <p:extLst>
      <p:ext uri="{BB962C8B-B14F-4D97-AF65-F5344CB8AC3E}">
        <p14:creationId xmlns:p14="http://schemas.microsoft.com/office/powerpoint/2010/main" val="29134720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BC26A-F655-2BA7-3EC0-AAC32F670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495DA2-7185-4C08-D53D-DC6B135A8959}"/>
              </a:ext>
            </a:extLst>
          </p:cNvPr>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4" name="Footer Placeholder 3">
            <a:extLst>
              <a:ext uri="{FF2B5EF4-FFF2-40B4-BE49-F238E27FC236}">
                <a16:creationId xmlns:a16="http://schemas.microsoft.com/office/drawing/2014/main" id="{B5831185-2B20-F061-4F34-0D7387A65246}"/>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205D0BDE-C8A3-097C-4098-7EF095827FA3}"/>
              </a:ext>
            </a:extLst>
          </p:cNvPr>
          <p:cNvSpPr>
            <a:spLocks noGrp="1"/>
          </p:cNvSpPr>
          <p:nvPr>
            <p:ph type="sldNum" sz="quarter" idx="12"/>
          </p:nvPr>
        </p:nvSpPr>
        <p:spPr/>
        <p:txBody>
          <a:bodyPr/>
          <a:lstStyle/>
          <a:p>
            <a:fld id="{90EDC104-672A-4227-99C4-0E2CC007FDBA}" type="slidenum">
              <a:rPr lang="en-IN" smtClean="0"/>
              <a:t>10</a:t>
            </a:fld>
            <a:endParaRPr lang="en-IN"/>
          </a:p>
        </p:txBody>
      </p:sp>
      <p:sp>
        <p:nvSpPr>
          <p:cNvPr id="7" name="Content Placeholder 6">
            <a:extLst>
              <a:ext uri="{FF2B5EF4-FFF2-40B4-BE49-F238E27FC236}">
                <a16:creationId xmlns:a16="http://schemas.microsoft.com/office/drawing/2014/main" id="{AADEC7DC-BEFE-355D-6CAD-99F1822FD3B4}"/>
              </a:ext>
            </a:extLst>
          </p:cNvPr>
          <p:cNvSpPr>
            <a:spLocks noGrp="1"/>
          </p:cNvSpPr>
          <p:nvPr>
            <p:ph idx="1"/>
          </p:nvPr>
        </p:nvSpPr>
        <p:spPr/>
        <p:txBody>
          <a:bodyPr/>
          <a:lstStyle/>
          <a:p>
            <a:r>
              <a:rPr lang="en-US" dirty="0">
                <a:latin typeface="Arial Narrow"/>
                <a:ea typeface="Arial Narrow"/>
                <a:cs typeface="Arial Narrow"/>
                <a:sym typeface="Arial Narrow"/>
              </a:rPr>
              <a:t>Screenshot of the dataset</a:t>
            </a:r>
          </a:p>
        </p:txBody>
      </p:sp>
      <p:pic>
        <p:nvPicPr>
          <p:cNvPr id="8" name="Picture 7">
            <a:extLst>
              <a:ext uri="{FF2B5EF4-FFF2-40B4-BE49-F238E27FC236}">
                <a16:creationId xmlns:a16="http://schemas.microsoft.com/office/drawing/2014/main" id="{92BA3019-2932-E0C8-510D-5D921CB9185E}"/>
              </a:ext>
            </a:extLst>
          </p:cNvPr>
          <p:cNvPicPr>
            <a:picLocks noChangeAspect="1"/>
          </p:cNvPicPr>
          <p:nvPr/>
        </p:nvPicPr>
        <p:blipFill>
          <a:blip r:embed="rId2"/>
          <a:stretch>
            <a:fillRect/>
          </a:stretch>
        </p:blipFill>
        <p:spPr>
          <a:xfrm>
            <a:off x="625502" y="2485797"/>
            <a:ext cx="10940995" cy="3691166"/>
          </a:xfrm>
          <a:prstGeom prst="rect">
            <a:avLst/>
          </a:prstGeom>
        </p:spPr>
      </p:pic>
    </p:spTree>
    <p:extLst>
      <p:ext uri="{BB962C8B-B14F-4D97-AF65-F5344CB8AC3E}">
        <p14:creationId xmlns:p14="http://schemas.microsoft.com/office/powerpoint/2010/main" val="3323992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Results and Discussion  </a:t>
            </a:r>
            <a:r>
              <a:rPr lang="en-US" b="1" dirty="0">
                <a:solidFill>
                  <a:srgbClr val="FF0000"/>
                </a:solidFill>
                <a:latin typeface="Arial Narrow" panose="020B0606020202030204" pitchFamily="34" charset="0"/>
              </a:rPr>
              <a:t>[ No MAX Limit for number of slides]</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p:txBody>
          <a:bodyPr>
            <a:normAutofit lnSpcReduction="10000"/>
          </a:bodyPr>
          <a:lstStyle/>
          <a:p>
            <a:r>
              <a:rPr lang="en-US" dirty="0"/>
              <a:t>Methodology Used</a:t>
            </a:r>
          </a:p>
          <a:p>
            <a:r>
              <a:rPr lang="en-US" dirty="0"/>
              <a:t>Output</a:t>
            </a:r>
          </a:p>
          <a:p>
            <a:r>
              <a:rPr lang="en-US" dirty="0"/>
              <a:t>Interpretation</a:t>
            </a:r>
          </a:p>
          <a:p>
            <a:endParaRPr lang="en-US" dirty="0"/>
          </a:p>
          <a:p>
            <a:pPr algn="just"/>
            <a:r>
              <a:rPr lang="en-US" dirty="0"/>
              <a:t>Describe any preliminary results up to the time of the milestone. You should show the results of training at least one deep learning model. (It is fine if the model has not yet attained good performance.) You should also show preliminary analysis on the model(s) that you have trained. You should also describe anticipated next steps and any obstacles that have come up.</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11</a:t>
            </a:fld>
            <a:endParaRPr lang="en-IN"/>
          </a:p>
        </p:txBody>
      </p:sp>
    </p:spTree>
    <p:extLst>
      <p:ext uri="{BB962C8B-B14F-4D97-AF65-F5344CB8AC3E}">
        <p14:creationId xmlns:p14="http://schemas.microsoft.com/office/powerpoint/2010/main" val="12059318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E03622C6-EED8-0D5B-CAD5-BFE38289DFC3}"/>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1CDF36CC-FA46-2D80-118A-42DF1118FB7F}"/>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5F4E21B6-726D-8924-2620-3CFC4B0D195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72A1AC5C-8AAF-A8E5-9F91-29EB57445F7F}"/>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3" name="Picture 2">
            <a:extLst>
              <a:ext uri="{FF2B5EF4-FFF2-40B4-BE49-F238E27FC236}">
                <a16:creationId xmlns:a16="http://schemas.microsoft.com/office/drawing/2014/main" id="{1F8F0A66-D024-5A8D-B835-4D4573FAF2DB}"/>
              </a:ext>
            </a:extLst>
          </p:cNvPr>
          <p:cNvPicPr>
            <a:picLocks noChangeAspect="1"/>
          </p:cNvPicPr>
          <p:nvPr/>
        </p:nvPicPr>
        <p:blipFill>
          <a:blip r:embed="rId3"/>
          <a:srcRect l="798" t="515"/>
          <a:stretch/>
        </p:blipFill>
        <p:spPr>
          <a:xfrm>
            <a:off x="3433864" y="1342416"/>
            <a:ext cx="8511617" cy="5023661"/>
          </a:xfrm>
          <a:prstGeom prst="rect">
            <a:avLst/>
          </a:prstGeom>
        </p:spPr>
      </p:pic>
      <p:sp>
        <p:nvSpPr>
          <p:cNvPr id="5" name="TextBox 4">
            <a:extLst>
              <a:ext uri="{FF2B5EF4-FFF2-40B4-BE49-F238E27FC236}">
                <a16:creationId xmlns:a16="http://schemas.microsoft.com/office/drawing/2014/main" id="{2E4C0850-7D0D-9DBC-490B-5E54DC77D463}"/>
              </a:ext>
            </a:extLst>
          </p:cNvPr>
          <p:cNvSpPr txBox="1"/>
          <p:nvPr/>
        </p:nvSpPr>
        <p:spPr>
          <a:xfrm>
            <a:off x="222637" y="1510748"/>
            <a:ext cx="3093057" cy="2246769"/>
          </a:xfrm>
          <a:prstGeom prst="rect">
            <a:avLst/>
          </a:prstGeom>
          <a:noFill/>
        </p:spPr>
        <p:txBody>
          <a:bodyPr wrap="square" rtlCol="0">
            <a:spAutoFit/>
          </a:bodyPr>
          <a:lstStyle/>
          <a:p>
            <a:r>
              <a:rPr lang="en-US" dirty="0"/>
              <a:t>The time series plot shows an overall upward trend in the adjusted closing prices of major Indian IT companies, with significant growth after 2020 and notable divergence between companies. Key events include a dip during the 2008 financial crisis and a sharp drop and recovery during the COVID-19 pandemic.</a:t>
            </a:r>
            <a:endParaRPr lang="en-IN" dirty="0"/>
          </a:p>
        </p:txBody>
      </p:sp>
    </p:spTree>
    <p:extLst>
      <p:ext uri="{BB962C8B-B14F-4D97-AF65-F5344CB8AC3E}">
        <p14:creationId xmlns:p14="http://schemas.microsoft.com/office/powerpoint/2010/main" val="17251573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59ECB967-5256-FFD0-7149-F97AA41A17AE}"/>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CFF87C8F-7A03-E417-93E5-EE3BB77D986B}"/>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a:t>
            </a:r>
            <a:endParaRPr dirty="0"/>
          </a:p>
        </p:txBody>
      </p:sp>
      <p:sp>
        <p:nvSpPr>
          <p:cNvPr id="141" name="Google Shape;141;p7">
            <a:extLst>
              <a:ext uri="{FF2B5EF4-FFF2-40B4-BE49-F238E27FC236}">
                <a16:creationId xmlns:a16="http://schemas.microsoft.com/office/drawing/2014/main" id="{94A2D996-E12B-1DB6-DE9A-5FCF0DD9DA95}"/>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BFF9060D-A1ED-6E0A-C07C-CCAAB9191902}"/>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pic>
        <p:nvPicPr>
          <p:cNvPr id="1026" name="Picture 2">
            <a:extLst>
              <a:ext uri="{FF2B5EF4-FFF2-40B4-BE49-F238E27FC236}">
                <a16:creationId xmlns:a16="http://schemas.microsoft.com/office/drawing/2014/main" id="{27D332AD-A0C3-4BC7-792E-E7654342B3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58073" y="1379303"/>
            <a:ext cx="7482852" cy="497704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DB06990-A32F-C494-6F52-E56E3093E342}"/>
              </a:ext>
            </a:extLst>
          </p:cNvPr>
          <p:cNvSpPr txBox="1"/>
          <p:nvPr/>
        </p:nvSpPr>
        <p:spPr>
          <a:xfrm>
            <a:off x="357809" y="1526650"/>
            <a:ext cx="3983603" cy="1169551"/>
          </a:xfrm>
          <a:prstGeom prst="rect">
            <a:avLst/>
          </a:prstGeom>
          <a:noFill/>
        </p:spPr>
        <p:txBody>
          <a:bodyPr wrap="square" rtlCol="0">
            <a:spAutoFit/>
          </a:bodyPr>
          <a:lstStyle/>
          <a:p>
            <a:r>
              <a:rPr lang="en-US" dirty="0"/>
              <a:t>The histograms of daily returns for all stocks show a bell-shaped distribution centered near zero, indicating that small daily price changes are most common, with rare extreme movements.</a:t>
            </a:r>
            <a:endParaRPr lang="en-IN" dirty="0"/>
          </a:p>
        </p:txBody>
      </p:sp>
    </p:spTree>
    <p:extLst>
      <p:ext uri="{BB962C8B-B14F-4D97-AF65-F5344CB8AC3E}">
        <p14:creationId xmlns:p14="http://schemas.microsoft.com/office/powerpoint/2010/main" val="437508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D453EB0F-124F-7B3C-C17D-A6B484BE9744}"/>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44FAC4E6-D771-6299-4E72-EE73A615F8F1}"/>
              </a:ext>
            </a:extLst>
          </p:cNvPr>
          <p:cNvSpPr txBox="1">
            <a:spLocks noGrp="1"/>
          </p:cNvSpPr>
          <p:nvPr>
            <p:ph type="title"/>
          </p:nvPr>
        </p:nvSpPr>
        <p:spPr>
          <a:xfrm>
            <a:off x="838200" y="264698"/>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12944249-069F-9850-C5AF-22E009C7959E}"/>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D123092D-718B-7290-0477-1A90DAC0559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pic>
        <p:nvPicPr>
          <p:cNvPr id="2050" name="Picture 2">
            <a:extLst>
              <a:ext uri="{FF2B5EF4-FFF2-40B4-BE49-F238E27FC236}">
                <a16:creationId xmlns:a16="http://schemas.microsoft.com/office/drawing/2014/main" id="{7A9FBC70-9084-7F1D-E6D5-9B1AC401D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929" y="1270193"/>
            <a:ext cx="7134515" cy="501891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62A0431-157D-FB12-D165-CB71A2653368}"/>
              </a:ext>
            </a:extLst>
          </p:cNvPr>
          <p:cNvSpPr txBox="1"/>
          <p:nvPr/>
        </p:nvSpPr>
        <p:spPr>
          <a:xfrm>
            <a:off x="286247" y="1590261"/>
            <a:ext cx="4206240" cy="1169551"/>
          </a:xfrm>
          <a:prstGeom prst="rect">
            <a:avLst/>
          </a:prstGeom>
          <a:noFill/>
        </p:spPr>
        <p:txBody>
          <a:bodyPr wrap="square" rtlCol="0">
            <a:spAutoFit/>
          </a:bodyPr>
          <a:lstStyle/>
          <a:p>
            <a:r>
              <a:rPr lang="en-US" dirty="0"/>
              <a:t>The correlation matrix shows moderate to strong positive relationships between the stocks of major Indian IT companies, with Infosys and Tata Consultancy Services exhibiting the highest correlation at 0.61.</a:t>
            </a:r>
            <a:endParaRPr lang="en-IN" dirty="0"/>
          </a:p>
        </p:txBody>
      </p:sp>
    </p:spTree>
    <p:extLst>
      <p:ext uri="{BB962C8B-B14F-4D97-AF65-F5344CB8AC3E}">
        <p14:creationId xmlns:p14="http://schemas.microsoft.com/office/powerpoint/2010/main" val="2454180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B9EFACFC-3627-3B25-6094-E8CBF7EC8821}"/>
            </a:ext>
          </a:extLst>
        </p:cNvPr>
        <p:cNvGrpSpPr/>
        <p:nvPr/>
      </p:nvGrpSpPr>
      <p:grpSpPr>
        <a:xfrm>
          <a:off x="0" y="0"/>
          <a:ext cx="0" cy="0"/>
          <a:chOff x="0" y="0"/>
          <a:chExt cx="0" cy="0"/>
        </a:xfrm>
      </p:grpSpPr>
      <p:sp>
        <p:nvSpPr>
          <p:cNvPr id="139" name="Google Shape;139;p7">
            <a:extLst>
              <a:ext uri="{FF2B5EF4-FFF2-40B4-BE49-F238E27FC236}">
                <a16:creationId xmlns:a16="http://schemas.microsoft.com/office/drawing/2014/main" id="{8AA6D58A-D903-ACD2-BE84-DBF7CE15E81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dirty="0">
                <a:latin typeface="Arial Narrow" panose="020B0606020202030204" pitchFamily="34" charset="0"/>
              </a:rPr>
              <a:t>Exploratory Data Analysis (cont.) </a:t>
            </a:r>
            <a:endParaRPr b="1" dirty="0">
              <a:latin typeface="Arial Narrow" panose="020B0606020202030204" pitchFamily="34" charset="0"/>
            </a:endParaRPr>
          </a:p>
        </p:txBody>
      </p:sp>
      <p:sp>
        <p:nvSpPr>
          <p:cNvPr id="141" name="Google Shape;141;p7">
            <a:extLst>
              <a:ext uri="{FF2B5EF4-FFF2-40B4-BE49-F238E27FC236}">
                <a16:creationId xmlns:a16="http://schemas.microsoft.com/office/drawing/2014/main" id="{4F0C8F80-DB01-BD24-F017-61C5C2A1798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CS6501 Project I PGP, ICER, VIT Bangalore</a:t>
            </a:r>
            <a:endParaRPr/>
          </a:p>
        </p:txBody>
      </p:sp>
      <p:sp>
        <p:nvSpPr>
          <p:cNvPr id="142" name="Google Shape;142;p7">
            <a:extLst>
              <a:ext uri="{FF2B5EF4-FFF2-40B4-BE49-F238E27FC236}">
                <a16:creationId xmlns:a16="http://schemas.microsoft.com/office/drawing/2014/main" id="{EC1797D3-DA72-4941-5353-4A2897C24F49}"/>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074" name="Picture 2">
            <a:extLst>
              <a:ext uri="{FF2B5EF4-FFF2-40B4-BE49-F238E27FC236}">
                <a16:creationId xmlns:a16="http://schemas.microsoft.com/office/drawing/2014/main" id="{8605FD58-A5DE-A330-A6F9-CEF45ED563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6769" y="1320208"/>
            <a:ext cx="8618800" cy="49016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BB051D-A787-BB6B-AAEC-3ABEA68513C1}"/>
              </a:ext>
            </a:extLst>
          </p:cNvPr>
          <p:cNvSpPr txBox="1"/>
          <p:nvPr/>
        </p:nvSpPr>
        <p:spPr>
          <a:xfrm>
            <a:off x="230588" y="1582310"/>
            <a:ext cx="3101009" cy="954107"/>
          </a:xfrm>
          <a:prstGeom prst="rect">
            <a:avLst/>
          </a:prstGeom>
          <a:noFill/>
        </p:spPr>
        <p:txBody>
          <a:bodyPr wrap="square" rtlCol="0">
            <a:spAutoFit/>
          </a:bodyPr>
          <a:lstStyle/>
          <a:p>
            <a:r>
              <a:rPr lang="en-US" dirty="0"/>
              <a:t>This 30-day rolling volatility plot highlights the uncertainty in the stock market around the time of the COVID-19 pandemic lockdowns.</a:t>
            </a:r>
            <a:endParaRPr lang="en-IN" dirty="0"/>
          </a:p>
        </p:txBody>
      </p:sp>
    </p:spTree>
    <p:extLst>
      <p:ext uri="{BB962C8B-B14F-4D97-AF65-F5344CB8AC3E}">
        <p14:creationId xmlns:p14="http://schemas.microsoft.com/office/powerpoint/2010/main" val="352600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Narrow" panose="020B0606020202030204" pitchFamily="34" charset="0"/>
              </a:rPr>
              <a:t>Performance Analysis</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16</a:t>
            </a:fld>
            <a:endParaRPr lang="en-IN"/>
          </a:p>
        </p:txBody>
      </p:sp>
      <p:graphicFrame>
        <p:nvGraphicFramePr>
          <p:cNvPr id="8" name="Table 7">
            <a:extLst>
              <a:ext uri="{FF2B5EF4-FFF2-40B4-BE49-F238E27FC236}">
                <a16:creationId xmlns:a16="http://schemas.microsoft.com/office/drawing/2014/main" id="{30307407-F2A2-9132-ADE0-3C40CB8F8F86}"/>
              </a:ext>
            </a:extLst>
          </p:cNvPr>
          <p:cNvGraphicFramePr>
            <a:graphicFrameLocks noGrp="1"/>
          </p:cNvGraphicFramePr>
          <p:nvPr>
            <p:extLst>
              <p:ext uri="{D42A27DB-BD31-4B8C-83A1-F6EECF244321}">
                <p14:modId xmlns:p14="http://schemas.microsoft.com/office/powerpoint/2010/main" val="1129000569"/>
              </p:ext>
            </p:extLst>
          </p:nvPr>
        </p:nvGraphicFramePr>
        <p:xfrm>
          <a:off x="990601" y="1476375"/>
          <a:ext cx="9096375" cy="4896595"/>
        </p:xfrm>
        <a:graphic>
          <a:graphicData uri="http://schemas.openxmlformats.org/drawingml/2006/table">
            <a:tbl>
              <a:tblPr firstRow="1" bandRow="1">
                <a:tableStyleId>{5C22544A-7EE6-4342-B048-85BDC9FD1C3A}</a:tableStyleId>
              </a:tblPr>
              <a:tblGrid>
                <a:gridCol w="3032125">
                  <a:extLst>
                    <a:ext uri="{9D8B030D-6E8A-4147-A177-3AD203B41FA5}">
                      <a16:colId xmlns:a16="http://schemas.microsoft.com/office/drawing/2014/main" val="2740515092"/>
                    </a:ext>
                  </a:extLst>
                </a:gridCol>
                <a:gridCol w="3032125">
                  <a:extLst>
                    <a:ext uri="{9D8B030D-6E8A-4147-A177-3AD203B41FA5}">
                      <a16:colId xmlns:a16="http://schemas.microsoft.com/office/drawing/2014/main" val="2426454712"/>
                    </a:ext>
                  </a:extLst>
                </a:gridCol>
                <a:gridCol w="3032125">
                  <a:extLst>
                    <a:ext uri="{9D8B030D-6E8A-4147-A177-3AD203B41FA5}">
                      <a16:colId xmlns:a16="http://schemas.microsoft.com/office/drawing/2014/main" val="630421688"/>
                    </a:ext>
                  </a:extLst>
                </a:gridCol>
              </a:tblGrid>
              <a:tr h="2082191">
                <a:tc>
                  <a:txBody>
                    <a:bodyPr/>
                    <a:lstStyle/>
                    <a:p>
                      <a:r>
                        <a:rPr lang="en-US" sz="3600" dirty="0"/>
                        <a:t>Model</a:t>
                      </a:r>
                      <a:endParaRPr lang="en-IN" sz="3600" dirty="0"/>
                    </a:p>
                  </a:txBody>
                  <a:tcPr/>
                </a:tc>
                <a:tc>
                  <a:txBody>
                    <a:bodyPr/>
                    <a:lstStyle/>
                    <a:p>
                      <a:r>
                        <a:rPr lang="en-US" sz="3600" dirty="0"/>
                        <a:t>R-squared</a:t>
                      </a:r>
                      <a:endParaRPr lang="en-IN" sz="3600" dirty="0"/>
                    </a:p>
                  </a:txBody>
                  <a:tcPr/>
                </a:tc>
                <a:tc>
                  <a:txBody>
                    <a:bodyPr/>
                    <a:lstStyle/>
                    <a:p>
                      <a:r>
                        <a:rPr lang="en-US" sz="3600" dirty="0"/>
                        <a:t>Mean Squared Error</a:t>
                      </a:r>
                      <a:endParaRPr lang="en-IN" sz="3600" dirty="0"/>
                    </a:p>
                  </a:txBody>
                  <a:tcPr/>
                </a:tc>
                <a:extLst>
                  <a:ext uri="{0D108BD9-81ED-4DB2-BD59-A6C34878D82A}">
                    <a16:rowId xmlns:a16="http://schemas.microsoft.com/office/drawing/2014/main" val="3177986556"/>
                  </a:ext>
                </a:extLst>
              </a:tr>
              <a:tr h="767122">
                <a:tc>
                  <a:txBody>
                    <a:bodyPr/>
                    <a:lstStyle/>
                    <a:p>
                      <a:r>
                        <a:rPr lang="en-US" sz="3600" dirty="0"/>
                        <a:t>ARIMA</a:t>
                      </a:r>
                      <a:endParaRPr lang="en-IN" sz="3600" dirty="0"/>
                    </a:p>
                  </a:txBody>
                  <a:tcPr/>
                </a:tc>
                <a:tc>
                  <a:txBody>
                    <a:bodyPr/>
                    <a:lstStyle/>
                    <a:p>
                      <a:r>
                        <a:rPr lang="en-US" sz="3600" dirty="0"/>
                        <a:t>-0.19</a:t>
                      </a:r>
                      <a:endParaRPr lang="en-IN"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42199.93</a:t>
                      </a:r>
                      <a:endParaRPr lang="en-IN" sz="3600" dirty="0"/>
                    </a:p>
                  </a:txBody>
                  <a:tcPr/>
                </a:tc>
                <a:extLst>
                  <a:ext uri="{0D108BD9-81ED-4DB2-BD59-A6C34878D82A}">
                    <a16:rowId xmlns:a16="http://schemas.microsoft.com/office/drawing/2014/main" val="2592786322"/>
                  </a:ext>
                </a:extLst>
              </a:tr>
              <a:tr h="767122">
                <a:tc>
                  <a:txBody>
                    <a:bodyPr/>
                    <a:lstStyle/>
                    <a:p>
                      <a:r>
                        <a:rPr lang="en-US" sz="3600" dirty="0"/>
                        <a:t>SARIMA</a:t>
                      </a:r>
                      <a:endParaRPr lang="en-IN" sz="3600" dirty="0"/>
                    </a:p>
                  </a:txBody>
                  <a:tcPr/>
                </a:tc>
                <a:tc>
                  <a:txBody>
                    <a:bodyPr/>
                    <a:lstStyle/>
                    <a:p>
                      <a:r>
                        <a:rPr lang="en-US" sz="3600" dirty="0"/>
                        <a:t>-1.15</a:t>
                      </a:r>
                      <a:endParaRPr lang="en-IN" sz="3600" dirty="0"/>
                    </a:p>
                  </a:txBody>
                  <a:tcPr/>
                </a:tc>
                <a:tc>
                  <a:txBody>
                    <a:bodyPr/>
                    <a:lstStyle/>
                    <a:p>
                      <a:r>
                        <a:rPr lang="en-US" sz="3600" dirty="0"/>
                        <a:t>75829.18</a:t>
                      </a:r>
                      <a:endParaRPr lang="en-IN" sz="3600" dirty="0"/>
                    </a:p>
                  </a:txBody>
                  <a:tcPr/>
                </a:tc>
                <a:extLst>
                  <a:ext uri="{0D108BD9-81ED-4DB2-BD59-A6C34878D82A}">
                    <a16:rowId xmlns:a16="http://schemas.microsoft.com/office/drawing/2014/main" val="2170296560"/>
                  </a:ext>
                </a:extLst>
              </a:tr>
              <a:tr h="444445">
                <a:tc>
                  <a:txBody>
                    <a:bodyPr/>
                    <a:lstStyle/>
                    <a:p>
                      <a:r>
                        <a:rPr lang="en-US" sz="3600" dirty="0"/>
                        <a:t>GRU</a:t>
                      </a:r>
                      <a:endParaRPr lang="en-IN" sz="3600" dirty="0"/>
                    </a:p>
                  </a:txBody>
                  <a:tcPr/>
                </a:tc>
                <a:tc>
                  <a:txBody>
                    <a:bodyPr/>
                    <a:lstStyle/>
                    <a:p>
                      <a:r>
                        <a:rPr lang="en-US" sz="3600" dirty="0"/>
                        <a:t>0.468</a:t>
                      </a:r>
                      <a:endParaRPr lang="en-IN" sz="3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dirty="0"/>
                        <a:t>18856.15</a:t>
                      </a:r>
                      <a:endParaRPr lang="en-IN" sz="3600" dirty="0"/>
                    </a:p>
                  </a:txBody>
                  <a:tcPr/>
                </a:tc>
                <a:extLst>
                  <a:ext uri="{0D108BD9-81ED-4DB2-BD59-A6C34878D82A}">
                    <a16:rowId xmlns:a16="http://schemas.microsoft.com/office/drawing/2014/main" val="3255202897"/>
                  </a:ext>
                </a:extLst>
              </a:tr>
              <a:tr h="444445">
                <a:tc>
                  <a:txBody>
                    <a:bodyPr/>
                    <a:lstStyle/>
                    <a:p>
                      <a:r>
                        <a:rPr lang="en-US" sz="3600" dirty="0"/>
                        <a:t>LSTM</a:t>
                      </a:r>
                      <a:endParaRPr lang="en-IN" sz="3600" dirty="0"/>
                    </a:p>
                  </a:txBody>
                  <a:tcPr/>
                </a:tc>
                <a:tc>
                  <a:txBody>
                    <a:bodyPr/>
                    <a:lstStyle/>
                    <a:p>
                      <a:r>
                        <a:rPr lang="en-US" sz="3600" dirty="0"/>
                        <a:t>0.403</a:t>
                      </a:r>
                      <a:endParaRPr lang="en-IN" sz="3600" dirty="0"/>
                    </a:p>
                  </a:txBody>
                  <a:tcPr/>
                </a:tc>
                <a:tc>
                  <a:txBody>
                    <a:bodyPr/>
                    <a:lstStyle/>
                    <a:p>
                      <a:r>
                        <a:rPr lang="en-US" sz="3600" dirty="0"/>
                        <a:t>20845.28</a:t>
                      </a:r>
                      <a:endParaRPr lang="en-IN" sz="3600" dirty="0"/>
                    </a:p>
                  </a:txBody>
                  <a:tcPr/>
                </a:tc>
                <a:extLst>
                  <a:ext uri="{0D108BD9-81ED-4DB2-BD59-A6C34878D82A}">
                    <a16:rowId xmlns:a16="http://schemas.microsoft.com/office/drawing/2014/main" val="3563783873"/>
                  </a:ext>
                </a:extLst>
              </a:tr>
            </a:tbl>
          </a:graphicData>
        </a:graphic>
      </p:graphicFrame>
    </p:spTree>
    <p:extLst>
      <p:ext uri="{BB962C8B-B14F-4D97-AF65-F5344CB8AC3E}">
        <p14:creationId xmlns:p14="http://schemas.microsoft.com/office/powerpoint/2010/main" val="344362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17</a:t>
            </a:fld>
            <a:endParaRPr lang="en-IN"/>
          </a:p>
        </p:txBody>
      </p:sp>
      <p:sp>
        <p:nvSpPr>
          <p:cNvPr id="9" name="Content Placeholder 8">
            <a:extLst>
              <a:ext uri="{FF2B5EF4-FFF2-40B4-BE49-F238E27FC236}">
                <a16:creationId xmlns:a16="http://schemas.microsoft.com/office/drawing/2014/main" id="{03B5D6C1-E07D-B203-76A1-5B19D3C60E43}"/>
              </a:ext>
            </a:extLst>
          </p:cNvPr>
          <p:cNvSpPr>
            <a:spLocks noGrp="1"/>
          </p:cNvSpPr>
          <p:nvPr>
            <p:ph idx="1"/>
          </p:nvPr>
        </p:nvSpPr>
        <p:spPr/>
        <p:txBody>
          <a:bodyPr/>
          <a:lstStyle/>
          <a:p>
            <a:r>
              <a:rPr lang="en-US" dirty="0"/>
              <a:t>Predicting market movements is challenging due to financial data's volatile and non-linear nature. Traditional models like ARIMA and SARIMA struggle with multivariate data and overfitting. However, GRU and LSTM models significantly improve predictive performance by integrating multiple features and leveraging sequential dependencies. These models' flexibility in hyperparameter optimization and handling external influences enables them to capture complex patterns effectively. This project showcases the superiority of RNNs, highlighting their potential for reliable stock market predictions through data preprocessing and model tuning.</a:t>
            </a:r>
            <a:endParaRPr lang="en-IN" dirty="0"/>
          </a:p>
          <a:p>
            <a:endParaRPr lang="en-IN" dirty="0"/>
          </a:p>
        </p:txBody>
      </p:sp>
    </p:spTree>
    <p:extLst>
      <p:ext uri="{BB962C8B-B14F-4D97-AF65-F5344CB8AC3E}">
        <p14:creationId xmlns:p14="http://schemas.microsoft.com/office/powerpoint/2010/main" val="597937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r>
              <a:rPr lang="en-US" dirty="0"/>
              <a:t>In the future, I plan to enhance data quality by exploring alternatives to dropping rows or using methods like forward filling for missing data. Since GRU and LSTM models have shown promise in capturing stock market trends, I aim to fine-tune their hyperparameters to achieve more accurate predictions. From my review of research papers, I discovered that hybridizing these two RNN models can be highly effective, as each has distinct strengths and weaknesses.</a:t>
            </a:r>
            <a:r>
              <a:rPr lang="en-US" dirty="0">
                <a:cs typeface="Mongolian Baiti" panose="03000500000000000000" pitchFamily="66" charset="0"/>
              </a:rPr>
              <a:t> </a:t>
            </a:r>
            <a:r>
              <a:rPr lang="en-US" dirty="0"/>
              <a:t>Additionally, as market sentiment is a stronger indicator of stock price movements than one-dimensional numerical data, I also intend to integrate sentiment-driven analysis into the predictive framework.</a:t>
            </a:r>
            <a:endParaRPr lang="en-IN" dirty="0">
              <a:cs typeface="Mongolian Baiti" panose="03000500000000000000" pitchFamily="66" charset="0"/>
            </a:endParaRP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spTree>
    <p:extLst>
      <p:ext uri="{BB962C8B-B14F-4D97-AF65-F5344CB8AC3E}">
        <p14:creationId xmlns:p14="http://schemas.microsoft.com/office/powerpoint/2010/main" val="1810526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47500" lnSpcReduction="20000"/>
          </a:bodyPr>
          <a:lstStyle/>
          <a:p>
            <a:r>
              <a:rPr lang="en-US" b="1" dirty="0">
                <a:latin typeface="Arial Narrow" panose="020B0606020202030204" pitchFamily="34" charset="0"/>
              </a:rPr>
              <a:t>Base Paper:</a:t>
            </a:r>
          </a:p>
          <a:p>
            <a:pPr lvl="1"/>
            <a:r>
              <a:rPr lang="en-US" b="1" i="0" dirty="0">
                <a:effectLst/>
                <a:latin typeface="ui-sans-serif"/>
              </a:rPr>
              <a:t>Mohan, B., Yadav, A., Toleti, J., Reddy, D. S. S., Ahmed, R. K., &amp; </a:t>
            </a:r>
            <a:r>
              <a:rPr lang="en-US" b="1" i="0" dirty="0" err="1">
                <a:effectLst/>
                <a:latin typeface="ui-sans-serif"/>
              </a:rPr>
              <a:t>Koushitha</a:t>
            </a:r>
            <a:r>
              <a:rPr lang="en-US" b="1" i="0" dirty="0">
                <a:effectLst/>
                <a:latin typeface="ui-sans-serif"/>
              </a:rPr>
              <a:t>, G. (2024).</a:t>
            </a:r>
            <a:r>
              <a:rPr lang="en-US" b="0" i="0" dirty="0">
                <a:effectLst/>
                <a:latin typeface="ui-sans-serif"/>
              </a:rPr>
              <a:t> Sentiment-driven predictive models for Nifty 50 stock market fluctuations: A time series analysis perspective. </a:t>
            </a:r>
            <a:r>
              <a:rPr lang="en-US" b="0" i="1" dirty="0">
                <a:effectLst/>
                <a:latin typeface="ui-sans-serif"/>
              </a:rPr>
              <a:t>IEEE International Conference on Information Technology, Electronics and Intelligent Communication Systems (ICITEICS)</a:t>
            </a:r>
            <a:r>
              <a:rPr lang="en-US" b="0" i="0" dirty="0">
                <a:effectLst/>
                <a:latin typeface="ui-sans-serif"/>
              </a:rPr>
              <a:t>, 70, 1–8</a:t>
            </a:r>
            <a:r>
              <a:rPr lang="en-US" b="0" i="0" dirty="0">
                <a:solidFill>
                  <a:srgbClr val="ECECEC"/>
                </a:solidFill>
                <a:effectLst/>
                <a:latin typeface="ui-sans-serif"/>
              </a:rPr>
              <a:t>. </a:t>
            </a:r>
            <a:r>
              <a:rPr lang="en-US" b="0" i="0" u="none" strike="noStrike" dirty="0">
                <a:solidFill>
                  <a:srgbClr val="ECECEC"/>
                </a:solidFill>
                <a:effectLst/>
                <a:latin typeface="ui-sans-serif"/>
                <a:hlinkClick r:id="rId2"/>
              </a:rPr>
              <a:t>https://doi.org/10.1109/iciteics61368.2024.10625537</a:t>
            </a:r>
            <a:endParaRPr lang="en-US" b="0" i="0" u="none" strike="noStrike" dirty="0">
              <a:solidFill>
                <a:srgbClr val="ECECEC"/>
              </a:solidFill>
              <a:effectLst/>
              <a:latin typeface="ui-sans-serif"/>
            </a:endParaRPr>
          </a:p>
          <a:p>
            <a:pPr lvl="1"/>
            <a:r>
              <a:rPr lang="en-US" dirty="0">
                <a:hlinkClick r:id="rId3"/>
              </a:rPr>
              <a:t>Link to Paper</a:t>
            </a:r>
            <a:endParaRPr lang="en-US" b="1" dirty="0">
              <a:latin typeface="Arial Narrow" panose="020B0606020202030204" pitchFamily="34" charset="0"/>
            </a:endParaRPr>
          </a:p>
          <a:p>
            <a:r>
              <a:rPr lang="en-US" b="1" dirty="0">
                <a:latin typeface="Arial Narrow" panose="020B0606020202030204" pitchFamily="34" charset="0"/>
              </a:rPr>
              <a:t>Paper I:</a:t>
            </a:r>
          </a:p>
          <a:p>
            <a:pPr lvl="1"/>
            <a:r>
              <a:rPr lang="en-US" b="1" i="0" dirty="0">
                <a:effectLst/>
                <a:latin typeface="ui-sans-serif"/>
              </a:rPr>
              <a:t>Panchal, S. A., </a:t>
            </a:r>
            <a:r>
              <a:rPr lang="en-US" b="1" i="0" dirty="0" err="1">
                <a:effectLst/>
                <a:latin typeface="ui-sans-serif"/>
              </a:rPr>
              <a:t>Ferdouse</a:t>
            </a:r>
            <a:r>
              <a:rPr lang="en-US" b="1" i="0" dirty="0">
                <a:effectLst/>
                <a:latin typeface="ui-sans-serif"/>
              </a:rPr>
              <a:t>, L., &amp; Sultana, A. (2024).</a:t>
            </a:r>
            <a:r>
              <a:rPr lang="en-US" b="0" i="0" dirty="0">
                <a:effectLst/>
                <a:latin typeface="ui-sans-serif"/>
              </a:rPr>
              <a:t> Comparative analysis of ARIMA and LSTM models for stock price prediction. </a:t>
            </a:r>
            <a:r>
              <a:rPr lang="en-US" b="0" i="1" dirty="0">
                <a:effectLst/>
                <a:latin typeface="ui-sans-serif"/>
              </a:rPr>
              <a:t>2024 IEEE/ACIS 27th International Conference on Software Engineering, Artificial Intelligence, Networking and Parallel/Distributed Computing (SNPD)</a:t>
            </a:r>
            <a:r>
              <a:rPr lang="en-US" b="0" i="0" dirty="0">
                <a:effectLst/>
                <a:latin typeface="ui-sans-serif"/>
              </a:rPr>
              <a:t>, 240–244. </a:t>
            </a:r>
            <a:r>
              <a:rPr lang="en-US" b="0" i="0" u="none" strike="noStrike" dirty="0">
                <a:solidFill>
                  <a:srgbClr val="ECECEC"/>
                </a:solidFill>
                <a:effectLst/>
                <a:latin typeface="ui-sans-serif"/>
                <a:hlinkClick r:id="rId4"/>
              </a:rPr>
              <a:t>https://doi.org/10.1109/snpd61259.2024.10673919</a:t>
            </a:r>
            <a:endParaRPr lang="en-US" dirty="0">
              <a:hlinkClick r:id="rId5"/>
            </a:endParaRPr>
          </a:p>
          <a:p>
            <a:pPr lvl="1"/>
            <a:r>
              <a:rPr lang="en-US" dirty="0">
                <a:hlinkClick r:id="rId5"/>
              </a:rPr>
              <a:t>Link to Paper</a:t>
            </a:r>
            <a:endParaRPr lang="en-US" b="1" dirty="0">
              <a:latin typeface="Arial Narrow" panose="020B0606020202030204" pitchFamily="34" charset="0"/>
            </a:endParaRPr>
          </a:p>
          <a:p>
            <a:r>
              <a:rPr lang="en-US" b="1" dirty="0">
                <a:latin typeface="Arial Narrow" panose="020B0606020202030204" pitchFamily="34" charset="0"/>
              </a:rPr>
              <a:t>Paper II:</a:t>
            </a:r>
          </a:p>
          <a:p>
            <a:pPr lvl="1"/>
            <a:r>
              <a:rPr lang="en-US" b="1" i="0" dirty="0" err="1">
                <a:effectLst/>
                <a:latin typeface="ui-sans-serif"/>
              </a:rPr>
              <a:t>Rajhans</a:t>
            </a:r>
            <a:r>
              <a:rPr lang="en-US" b="1" i="0" dirty="0">
                <a:effectLst/>
                <a:latin typeface="ui-sans-serif"/>
              </a:rPr>
              <a:t>, A., Das, T., Kumar, A., &amp; Sinha, B. B. (2024).</a:t>
            </a:r>
            <a:r>
              <a:rPr lang="en-US" b="0" i="0" dirty="0">
                <a:effectLst/>
                <a:latin typeface="ui-sans-serif"/>
              </a:rPr>
              <a:t> Exploring the impact of financial news sentiment on stock price forecasting: A comparative deep learning approach. </a:t>
            </a:r>
            <a:r>
              <a:rPr lang="en-US" b="0" i="1" dirty="0">
                <a:effectLst/>
                <a:latin typeface="ui-sans-serif"/>
              </a:rPr>
              <a:t>2024 1st International Conference on Communications and Computer Science (</a:t>
            </a:r>
            <a:r>
              <a:rPr lang="en-US" b="0" i="1" dirty="0" err="1">
                <a:effectLst/>
                <a:latin typeface="ui-sans-serif"/>
              </a:rPr>
              <a:t>InCCCS</a:t>
            </a:r>
            <a:r>
              <a:rPr lang="en-US" b="0" i="1" dirty="0">
                <a:effectLst/>
                <a:latin typeface="ui-sans-serif"/>
              </a:rPr>
              <a:t>)</a:t>
            </a:r>
            <a:r>
              <a:rPr lang="en-US" b="0" i="0" dirty="0">
                <a:effectLst/>
                <a:latin typeface="ui-sans-serif"/>
              </a:rPr>
              <a:t>. </a:t>
            </a:r>
            <a:r>
              <a:rPr lang="en-US" b="0" i="0" u="none" strike="noStrike" dirty="0">
                <a:solidFill>
                  <a:srgbClr val="ECECEC"/>
                </a:solidFill>
                <a:effectLst/>
                <a:latin typeface="ui-sans-serif"/>
                <a:hlinkClick r:id="rId6"/>
              </a:rPr>
              <a:t>https://doi.org/10.1109/incccs60947.2024.10593315</a:t>
            </a:r>
            <a:endParaRPr lang="en-US" b="0" i="0" u="none" strike="noStrike" dirty="0">
              <a:solidFill>
                <a:srgbClr val="ECECEC"/>
              </a:solidFill>
              <a:effectLst/>
              <a:latin typeface="ui-sans-serif"/>
            </a:endParaRPr>
          </a:p>
          <a:p>
            <a:pPr lvl="1"/>
            <a:r>
              <a:rPr lang="en-US" dirty="0">
                <a:hlinkClick r:id="rId7"/>
              </a:rPr>
              <a:t>Link to Paper</a:t>
            </a:r>
            <a:endParaRPr lang="en-US" b="1" dirty="0">
              <a:latin typeface="Arial Narrow" panose="020B0606020202030204" pitchFamily="34" charset="0"/>
            </a:endParaRPr>
          </a:p>
          <a:p>
            <a:r>
              <a:rPr lang="en-US" b="1" dirty="0">
                <a:latin typeface="Arial Narrow" panose="020B0606020202030204" pitchFamily="34" charset="0"/>
              </a:rPr>
              <a:t>Paper III:</a:t>
            </a:r>
          </a:p>
          <a:p>
            <a:pPr lvl="1"/>
            <a:r>
              <a:rPr lang="en-US" b="1" i="0" dirty="0">
                <a:effectLst/>
                <a:latin typeface="ui-sans-serif"/>
              </a:rPr>
              <a:t>Taslim, D. G., </a:t>
            </a:r>
            <a:r>
              <a:rPr lang="en-US" b="1" i="0" dirty="0" err="1">
                <a:effectLst/>
                <a:latin typeface="ui-sans-serif"/>
              </a:rPr>
              <a:t>Tjahyadi</a:t>
            </a:r>
            <a:r>
              <a:rPr lang="en-US" b="1" i="0" dirty="0">
                <a:effectLst/>
                <a:latin typeface="ui-sans-serif"/>
              </a:rPr>
              <a:t>, H., &amp; </a:t>
            </a:r>
            <a:r>
              <a:rPr lang="en-US" b="1" i="0" dirty="0" err="1">
                <a:effectLst/>
                <a:latin typeface="ui-sans-serif"/>
              </a:rPr>
              <a:t>Murwantara</a:t>
            </a:r>
            <a:r>
              <a:rPr lang="en-US" b="1" i="0" dirty="0">
                <a:effectLst/>
                <a:latin typeface="ui-sans-serif"/>
              </a:rPr>
              <a:t>, I. M. (2024).</a:t>
            </a:r>
            <a:r>
              <a:rPr lang="en-US" b="0" i="0" dirty="0">
                <a:effectLst/>
                <a:latin typeface="ui-sans-serif"/>
              </a:rPr>
              <a:t> A study of LSTM </a:t>
            </a:r>
            <a:r>
              <a:rPr lang="en-US" b="0" i="0" dirty="0" err="1">
                <a:effectLst/>
                <a:latin typeface="ui-sans-serif"/>
              </a:rPr>
              <a:t>optimisation</a:t>
            </a:r>
            <a:r>
              <a:rPr lang="en-US" b="0" i="0" dirty="0">
                <a:effectLst/>
                <a:latin typeface="ui-sans-serif"/>
              </a:rPr>
              <a:t> for forecasting volatile time series data. </a:t>
            </a:r>
            <a:r>
              <a:rPr lang="en-US" b="0" i="1" dirty="0">
                <a:effectLst/>
                <a:latin typeface="ui-sans-serif"/>
              </a:rPr>
              <a:t>2024 4th International Conference on Computer Communication and Artificial Intelligence (CCAI)</a:t>
            </a:r>
            <a:r>
              <a:rPr lang="en-US" b="0" i="0" dirty="0">
                <a:effectLst/>
                <a:latin typeface="ui-sans-serif"/>
              </a:rPr>
              <a:t>. </a:t>
            </a:r>
            <a:r>
              <a:rPr lang="en-US" b="0" i="0" u="none" strike="noStrike" dirty="0">
                <a:solidFill>
                  <a:srgbClr val="ECECEC"/>
                </a:solidFill>
                <a:effectLst/>
                <a:latin typeface="ui-sans-serif"/>
                <a:hlinkClick r:id="rId8"/>
              </a:rPr>
              <a:t>https://doi.org/10.1109/ccai61966.2024.10603183</a:t>
            </a:r>
            <a:endParaRPr lang="en-US" b="0" i="0" dirty="0">
              <a:solidFill>
                <a:srgbClr val="ECECEC"/>
              </a:solidFill>
              <a:effectLst/>
              <a:latin typeface="ui-sans-serif"/>
            </a:endParaRPr>
          </a:p>
          <a:p>
            <a:pPr lvl="1"/>
            <a:r>
              <a:rPr lang="en-US" dirty="0">
                <a:hlinkClick r:id="rId9"/>
              </a:rPr>
              <a:t>Link to Paper</a:t>
            </a:r>
            <a:endParaRPr lang="en-US" b="1" dirty="0">
              <a:latin typeface="Arial Narrow" panose="020B0606020202030204" pitchFamily="34" charset="0"/>
            </a:endParaRPr>
          </a:p>
          <a:p>
            <a:r>
              <a:rPr lang="en-US" b="1" dirty="0">
                <a:latin typeface="Arial Narrow" panose="020B0606020202030204" pitchFamily="34" charset="0"/>
              </a:rPr>
              <a:t>Paper IV:</a:t>
            </a:r>
          </a:p>
          <a:p>
            <a:pPr lvl="1"/>
            <a:r>
              <a:rPr lang="en-US" b="1" i="0" dirty="0" err="1">
                <a:effectLst/>
                <a:latin typeface="ui-sans-serif"/>
              </a:rPr>
              <a:t>Amruth</a:t>
            </a:r>
            <a:r>
              <a:rPr lang="en-US" b="1" i="0" dirty="0">
                <a:effectLst/>
                <a:latin typeface="ui-sans-serif"/>
              </a:rPr>
              <a:t>, S. J., </a:t>
            </a:r>
            <a:r>
              <a:rPr lang="en-US" b="1" i="0" dirty="0" err="1">
                <a:effectLst/>
                <a:latin typeface="ui-sans-serif"/>
              </a:rPr>
              <a:t>Nigelesh</a:t>
            </a:r>
            <a:r>
              <a:rPr lang="en-US" b="1" i="0" dirty="0">
                <a:effectLst/>
                <a:latin typeface="ui-sans-serif"/>
              </a:rPr>
              <a:t>, T., </a:t>
            </a:r>
            <a:r>
              <a:rPr lang="en-US" b="1" i="0" dirty="0" err="1">
                <a:effectLst/>
                <a:latin typeface="ui-sans-serif"/>
              </a:rPr>
              <a:t>Shruthik</a:t>
            </a:r>
            <a:r>
              <a:rPr lang="en-US" b="1" i="0" dirty="0">
                <a:effectLst/>
                <a:latin typeface="ui-sans-serif"/>
              </a:rPr>
              <a:t>, V. S., Reddy, V. S., &amp; </a:t>
            </a:r>
            <a:r>
              <a:rPr lang="en-US" b="1" i="0" dirty="0" err="1">
                <a:effectLst/>
                <a:latin typeface="ui-sans-serif"/>
              </a:rPr>
              <a:t>Venugopalan</a:t>
            </a:r>
            <a:r>
              <a:rPr lang="en-US" b="1" i="0" dirty="0">
                <a:effectLst/>
                <a:latin typeface="ui-sans-serif"/>
              </a:rPr>
              <a:t>, M. (2024).</a:t>
            </a:r>
            <a:r>
              <a:rPr lang="en-US" b="0" i="0" dirty="0">
                <a:effectLst/>
                <a:latin typeface="ui-sans-serif"/>
              </a:rPr>
              <a:t> Time-series-based stock market analysis using machine learning. </a:t>
            </a:r>
            <a:r>
              <a:rPr lang="en-US" b="0" i="1" dirty="0">
                <a:effectLst/>
                <a:latin typeface="ui-sans-serif"/>
              </a:rPr>
              <a:t>2024 15th International Conference on Computing Communication and Networking Technologies (ICCCNT)</a:t>
            </a:r>
            <a:r>
              <a:rPr lang="en-US" b="0" i="0" dirty="0">
                <a:effectLst/>
                <a:latin typeface="ui-sans-serif"/>
              </a:rPr>
              <a:t>, 1–7</a:t>
            </a:r>
            <a:r>
              <a:rPr lang="en-US" b="0" i="0" dirty="0">
                <a:solidFill>
                  <a:srgbClr val="ECECEC"/>
                </a:solidFill>
                <a:effectLst/>
                <a:latin typeface="ui-sans-serif"/>
              </a:rPr>
              <a:t>. </a:t>
            </a:r>
            <a:r>
              <a:rPr lang="en-US" b="0" i="0" u="none" strike="noStrike" dirty="0">
                <a:solidFill>
                  <a:srgbClr val="ECECEC"/>
                </a:solidFill>
                <a:effectLst/>
                <a:latin typeface="ui-sans-serif"/>
                <a:hlinkClick r:id="rId10"/>
              </a:rPr>
              <a:t>https://doi.org/10.1109/icccnt61001.2024.10725232</a:t>
            </a:r>
            <a:endParaRPr lang="en-US" b="0" i="0" u="none" strike="noStrike" dirty="0">
              <a:solidFill>
                <a:srgbClr val="ECECEC"/>
              </a:solidFill>
              <a:effectLst/>
              <a:latin typeface="ui-sans-serif"/>
            </a:endParaRPr>
          </a:p>
          <a:p>
            <a:pPr lvl="1"/>
            <a:r>
              <a:rPr lang="en-US" dirty="0">
                <a:hlinkClick r:id="rId11"/>
              </a:rPr>
              <a:t>Link to Paper</a:t>
            </a:r>
            <a:endParaRPr lang="en-US" dirty="0"/>
          </a:p>
          <a:p>
            <a:endParaRPr lang="en-US" dirty="0"/>
          </a:p>
          <a:p>
            <a:endParaRPr lang="en-US" dirty="0"/>
          </a:p>
          <a:p>
            <a:pPr marL="228600" lvl="0" indent="-50800" algn="l" rtl="0">
              <a:lnSpc>
                <a:spcPct val="90000"/>
              </a:lnSpc>
              <a:spcBef>
                <a:spcPts val="0"/>
              </a:spcBef>
              <a:spcAft>
                <a:spcPts val="0"/>
              </a:spcAft>
              <a:buClr>
                <a:schemeClr val="dk1"/>
              </a:buClr>
              <a:buSzPts val="2800"/>
              <a:buNone/>
            </a:pPr>
            <a:endParaRPr lang="en-US" dirty="0"/>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19</a:t>
            </a:fld>
            <a:endParaRPr lang="en-IN"/>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3252</TotalTime>
  <Words>2126</Words>
  <Application>Microsoft Office PowerPoint</Application>
  <PresentationFormat>Widescreen</PresentationFormat>
  <Paragraphs>125</Paragraphs>
  <Slides>19</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Arial Narrow</vt:lpstr>
      <vt:lpstr>Calibri</vt:lpstr>
      <vt:lpstr>Calibri Light</vt:lpstr>
      <vt:lpstr>Mongolian Baiti</vt:lpstr>
      <vt:lpstr>Times New Roman</vt:lpstr>
      <vt:lpstr>ui-sans-serif</vt:lpstr>
      <vt:lpstr>Office Theme</vt:lpstr>
      <vt:lpstr>Enhancing Stock Price Prediction for Nifty 50 IT Sector Companies: A Comparative Study of ML Models with Feature Selection and Event Data Integration Economics and Finance</vt:lpstr>
      <vt:lpstr>Abstract</vt:lpstr>
      <vt:lpstr>Introduction</vt:lpstr>
      <vt:lpstr>Need of study</vt:lpstr>
      <vt:lpstr>Problem Statement</vt:lpstr>
      <vt:lpstr>Objectives</vt:lpstr>
      <vt:lpstr>Related Work</vt:lpstr>
      <vt:lpstr>Proposed Methodology [ Max. 3 Slides ]</vt:lpstr>
      <vt:lpstr>Dataset</vt:lpstr>
      <vt:lpstr>Dataset</vt:lpstr>
      <vt:lpstr>Results and Discussion  [ No MAX Limit for number of slides]</vt:lpstr>
      <vt:lpstr>Exploratory Data Analysis </vt:lpstr>
      <vt:lpstr>Exploratory Data Analysis (cont.)</vt:lpstr>
      <vt:lpstr>Exploratory Data Analysis (cont.) </vt:lpstr>
      <vt:lpstr>Exploratory Data Analysis (cont.) </vt:lpstr>
      <vt:lpstr>Performance Analysis</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21</cp:revision>
  <dcterms:created xsi:type="dcterms:W3CDTF">2023-11-15T14:09:37Z</dcterms:created>
  <dcterms:modified xsi:type="dcterms:W3CDTF">2024-12-16T21:31:53Z</dcterms:modified>
</cp:coreProperties>
</file>