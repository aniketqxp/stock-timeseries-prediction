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1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13-11-2024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74EFEE0-0CD7-45A5-A730-5EC8BDE0D8D9}" type="datetime1">
              <a:rPr lang="en-IN" smtClean="0"/>
              <a:t>13-11-2024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B7DE58-FC96-420A-ACEA-15241A896A4C}" type="datetime1">
              <a:rPr lang="en-IN" smtClean="0"/>
              <a:t>13-11-2024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649E9C-B3B6-46FE-A568-B9D577388D42}" type="datetime1">
              <a:rPr lang="en-IN" smtClean="0"/>
              <a:t>13-11-2024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23CA508-102F-45DB-994A-FCDA0CAE14C8}" type="datetime1">
              <a:rPr lang="en-IN" smtClean="0"/>
              <a:t>13-11-2024</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2CC774E-B8A2-4F5C-B5FA-D785A0C05A2E}" type="datetime1">
              <a:rPr lang="en-IN" smtClean="0"/>
              <a:t>13-11-2024</a:t>
            </a:fld>
            <a:endParaRPr lang="en-IN"/>
          </a:p>
        </p:txBody>
      </p:sp>
      <p:sp>
        <p:nvSpPr>
          <p:cNvPr id="8" name="Footer Placeholder 7"/>
          <p:cNvSpPr>
            <a:spLocks noGrp="1"/>
          </p:cNvSpPr>
          <p:nvPr>
            <p:ph type="ftr" sz="quarter" idx="11"/>
          </p:nvPr>
        </p:nvSpPr>
        <p:spPr/>
        <p:txBody>
          <a:bodyPr/>
          <a:lstStyle/>
          <a:p>
            <a:r>
              <a:rPr lang="en-IN"/>
              <a:t>CS6501 Project I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09F70BE-0155-47E7-8509-A88648CCEC82}" type="datetime1">
              <a:rPr lang="en-IN" smtClean="0"/>
              <a:t>13-11-2024</a:t>
            </a:fld>
            <a:endParaRPr lang="en-IN"/>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7DE71-85FA-4296-BD22-FA3717DCA8E2}" type="datetime1">
              <a:rPr lang="en-IN" smtClean="0"/>
              <a:t>13-11-2024</a:t>
            </a:fld>
            <a:endParaRPr lang="en-IN"/>
          </a:p>
        </p:txBody>
      </p:sp>
      <p:sp>
        <p:nvSpPr>
          <p:cNvPr id="3" name="Footer Placeholder 2"/>
          <p:cNvSpPr>
            <a:spLocks noGrp="1"/>
          </p:cNvSpPr>
          <p:nvPr>
            <p:ph type="ftr" sz="quarter" idx="11"/>
          </p:nvPr>
        </p:nvSpPr>
        <p:spPr/>
        <p:txBody>
          <a:bodyPr/>
          <a:lstStyle/>
          <a:p>
            <a:r>
              <a:rPr lang="en-IN"/>
              <a:t>CS6501 Project I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C2EEF0E-D1E3-413E-934B-8549D7D1A21A}" type="datetime1">
              <a:rPr lang="en-IN" smtClean="0"/>
              <a:t>13-11-2024</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472768-1913-4B51-9959-F62F8ED684BE}" type="datetime1">
              <a:rPr lang="en-IN" smtClean="0"/>
              <a:t>13-11-2024</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653BA-939B-4E91-B3F4-265E71AFADD6}" type="datetime1">
              <a:rPr lang="en-IN" smtClean="0"/>
              <a:t>13-11-2024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CF933-5EA4-4E01-9CD8-F0B091D3891D}" type="datetime1">
              <a:rPr lang="en-IN" smtClean="0"/>
              <a:t>13-11-2024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838B7-DBF2-4351-ADC6-B01D4416F11D}" type="datetime1">
              <a:rPr lang="en-IN" smtClean="0"/>
              <a:t>13-11-2024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CS6501 Project I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ranaroussi/yfinanc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doi.org/10.1109/ccai61966.2024.10603183" TargetMode="External"/><Relationship Id="rId3" Type="http://schemas.openxmlformats.org/officeDocument/2006/relationships/hyperlink" Target="https://ieeexplore.ieee.org/document/10625537" TargetMode="External"/><Relationship Id="rId7" Type="http://schemas.openxmlformats.org/officeDocument/2006/relationships/hyperlink" Target="https://ieeexplore.ieee.org/document/10593315" TargetMode="External"/><Relationship Id="rId2" Type="http://schemas.openxmlformats.org/officeDocument/2006/relationships/hyperlink" Target="https://doi.org/10.1109/iciteics61368.2024.10625537" TargetMode="External"/><Relationship Id="rId1" Type="http://schemas.openxmlformats.org/officeDocument/2006/relationships/slideLayout" Target="../slideLayouts/slideLayout2.xml"/><Relationship Id="rId6" Type="http://schemas.openxmlformats.org/officeDocument/2006/relationships/hyperlink" Target="https://doi.org/10.1109/incccs60947.2024.10593315" TargetMode="External"/><Relationship Id="rId11" Type="http://schemas.openxmlformats.org/officeDocument/2006/relationships/hyperlink" Target="https://ieeexplore.ieee.org/document/10725232" TargetMode="External"/><Relationship Id="rId5" Type="http://schemas.openxmlformats.org/officeDocument/2006/relationships/hyperlink" Target="https://ieeexplore.ieee.org/document/10673919" TargetMode="External"/><Relationship Id="rId10" Type="http://schemas.openxmlformats.org/officeDocument/2006/relationships/hyperlink" Target="https://doi.org/10.1109/icccnt61001.2024.10725232" TargetMode="External"/><Relationship Id="rId4" Type="http://schemas.openxmlformats.org/officeDocument/2006/relationships/hyperlink" Target="https://doi.org/10.1109/snpd61259.2024.10673919" TargetMode="External"/><Relationship Id="rId9" Type="http://schemas.openxmlformats.org/officeDocument/2006/relationships/hyperlink" Target="https://ieeexplore.ieee.org/document/10603183"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302108"/>
            <a:ext cx="12092066" cy="4124194"/>
          </a:xfrm>
        </p:spPr>
        <p:txBody>
          <a:bodyPr>
            <a:normAutofit/>
          </a:bodyPr>
          <a:lstStyle/>
          <a:p>
            <a:r>
              <a:rPr lang="en-US" sz="4000" dirty="0">
                <a:latin typeface="Arial Narrow" panose="020B0606020202030204" pitchFamily="34" charset="0"/>
              </a:rPr>
              <a:t>Enhancing Stock Price Prediction for Nifty 50 IT Sector Companies: A Comparative Study of ML Models with Feature Selection and Event Data Integration</a:t>
            </a:r>
            <a:br>
              <a:rPr lang="en-US" dirty="0">
                <a:latin typeface="Arial Narrow" panose="020B0606020202030204" pitchFamily="34" charset="0"/>
              </a:rPr>
            </a:br>
            <a:r>
              <a:rPr lang="en-US" sz="3200" dirty="0">
                <a:solidFill>
                  <a:schemeClr val="tx1">
                    <a:lumMod val="50000"/>
                    <a:lumOff val="50000"/>
                  </a:schemeClr>
                </a:solidFill>
                <a:latin typeface="Arial Narrow" panose="020B0606020202030204" pitchFamily="34" charset="0"/>
              </a:rPr>
              <a:t>Economics and Finance</a:t>
            </a:r>
            <a:br>
              <a:rPr lang="en-US" dirty="0">
                <a:latin typeface="Arial Narrow" panose="020B0606020202030204" pitchFamily="34" charset="0"/>
              </a:rPr>
            </a:br>
            <a:r>
              <a:rPr lang="en-US" dirty="0">
                <a:latin typeface="Arial Narrow" panose="020B0606020202030204" pitchFamily="34" charset="0"/>
              </a:rPr>
              <a:t> </a:t>
            </a:r>
            <a:endParaRPr lang="en-IN"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12/11/2024</a:t>
            </a: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Zeroth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latin typeface="Arial Narrow" panose="020B0606020202030204" pitchFamily="34" charset="0"/>
              </a:rPr>
              <a:t>CS6510</a:t>
            </a:r>
          </a:p>
          <a:p>
            <a:r>
              <a:rPr lang="en-US" b="1" dirty="0">
                <a:latin typeface="Arial Narrow" panose="020B0606020202030204" pitchFamily="34" charset="0"/>
              </a:rPr>
              <a:t>Course Title:  </a:t>
            </a:r>
            <a:r>
              <a:rPr lang="en-US">
                <a:latin typeface="Arial Narrow" panose="020B0606020202030204" pitchFamily="34" charset="0"/>
              </a:rPr>
              <a:t>Project 1</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dirty="0">
                <a:latin typeface="Arial Narrow" panose="020B0606020202030204" pitchFamily="34" charset="0"/>
              </a:rPr>
              <a:t>CS6501 Project I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20000"/>
          </a:bodyPr>
          <a:lstStyle/>
          <a:p>
            <a:r>
              <a:rPr lang="en-US" dirty="0"/>
              <a:t>Stock price prediction is a challenging task due to the inherent volatility and complexity of financial markets, particularly within the IT sector, where rapid technological and economic changes significantly impact stock performance. Traditional predictive models that rely solely on historical price data often fail to capture the influence of market-moving events, such as earnings reports, policy changes, and global economic shifts, which are especially pertinent to IT companies. This study aims to enhance the accuracy of stock price predictions for Nifty 50 IT sector companies by integrating event-driven data with feature selection into machine learning models. By comparing the performance of ARIMA, SARIMA, and LSTM models, this research seeks to identify a modeling approach and feature set that more accurately capture the dynamic relationships between stock trends and relevant external events, ultimately providing investors and analysts with a more robust decision-making tool for this volatile sector.</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28984040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a:latin typeface="Arial Narrow" panose="020B0606020202030204" pitchFamily="34" charset="0"/>
              </a:rPr>
              <a:t>Source of the Dataset: </a:t>
            </a:r>
            <a:r>
              <a:rPr lang="en-US" dirty="0">
                <a:latin typeface="Arial Narrow" panose="020B0606020202030204" pitchFamily="34" charset="0"/>
                <a:hlinkClick r:id="rId2"/>
              </a:rPr>
              <a:t>Yahoo Finance API</a:t>
            </a:r>
            <a:endParaRPr lang="en-US" dirty="0">
              <a:latin typeface="Arial Narrow" panose="020B0606020202030204" pitchFamily="34" charset="0"/>
            </a:endParaRPr>
          </a:p>
          <a:p>
            <a:r>
              <a:rPr lang="en-US" dirty="0">
                <a:latin typeface="Arial Narrow" panose="020B0606020202030204" pitchFamily="34" charset="0"/>
              </a:rPr>
              <a:t>No. of Observations: 7252</a:t>
            </a:r>
          </a:p>
          <a:p>
            <a:r>
              <a:rPr lang="en-US" dirty="0">
                <a:latin typeface="Arial Narrow" panose="020B0606020202030204" pitchFamily="34" charset="0"/>
              </a:rPr>
              <a:t>Column/Feature Details: Adj Close, Close, High, Low, Open, Volume</a:t>
            </a:r>
          </a:p>
          <a:p>
            <a:r>
              <a:rPr lang="en-US" dirty="0">
                <a:latin typeface="Arial Narrow" panose="020B0606020202030204" pitchFamily="34" charset="0"/>
              </a:rPr>
              <a:t>Screenshot of the dataset: </a:t>
            </a:r>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pic>
        <p:nvPicPr>
          <p:cNvPr id="9" name="Picture 8">
            <a:extLst>
              <a:ext uri="{FF2B5EF4-FFF2-40B4-BE49-F238E27FC236}">
                <a16:creationId xmlns:a16="http://schemas.microsoft.com/office/drawing/2014/main" id="{E4442935-E0EE-F27F-44BA-8B1047ED8B7D}"/>
              </a:ext>
            </a:extLst>
          </p:cNvPr>
          <p:cNvPicPr>
            <a:picLocks noChangeAspect="1"/>
          </p:cNvPicPr>
          <p:nvPr/>
        </p:nvPicPr>
        <p:blipFill>
          <a:blip r:embed="rId3"/>
          <a:stretch>
            <a:fillRect/>
          </a:stretch>
        </p:blipFill>
        <p:spPr>
          <a:xfrm>
            <a:off x="4670809" y="3528718"/>
            <a:ext cx="4991797" cy="2457793"/>
          </a:xfrm>
          <a:prstGeom prst="rect">
            <a:avLst/>
          </a:prstGeom>
        </p:spPr>
      </p:pic>
    </p:spTree>
    <p:extLst>
      <p:ext uri="{BB962C8B-B14F-4D97-AF65-F5344CB8AC3E}">
        <p14:creationId xmlns:p14="http://schemas.microsoft.com/office/powerpoint/2010/main" val="2913472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Review of Related Literature</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453662"/>
            <a:ext cx="10515600" cy="4723301"/>
          </a:xfrm>
        </p:spPr>
        <p:txBody>
          <a:bodyPr>
            <a:normAutofit fontScale="55000" lnSpcReduction="20000"/>
          </a:bodyPr>
          <a:lstStyle/>
          <a:p>
            <a:r>
              <a:rPr lang="en-US" b="1" dirty="0">
                <a:latin typeface="Arial Narrow" panose="020B0606020202030204" pitchFamily="34" charset="0"/>
              </a:rPr>
              <a:t>Base Paper:</a:t>
            </a:r>
          </a:p>
          <a:p>
            <a:pPr lvl="1"/>
            <a:r>
              <a:rPr lang="en-IN" b="1" i="0" dirty="0">
                <a:effectLst/>
                <a:latin typeface="ui-sans-serif"/>
              </a:rPr>
              <a:t>Mohan, B., Yadav, A., Toleti, J., Reddy, D. S. S., Ahmed, R. K., &amp; </a:t>
            </a:r>
            <a:r>
              <a:rPr lang="en-IN" b="1" i="0" dirty="0" err="1">
                <a:effectLst/>
                <a:latin typeface="ui-sans-serif"/>
              </a:rPr>
              <a:t>Koushitha</a:t>
            </a:r>
            <a:r>
              <a:rPr lang="en-IN" b="1" i="0" dirty="0">
                <a:effectLst/>
                <a:latin typeface="ui-sans-serif"/>
              </a:rPr>
              <a:t>, G. (2024).</a:t>
            </a:r>
            <a:r>
              <a:rPr lang="en-IN" b="0" i="0" dirty="0">
                <a:effectLst/>
                <a:latin typeface="ui-sans-serif"/>
              </a:rPr>
              <a:t> Sentiment-driven predictive models for Nifty 50 stock market fluctuations: A time series analysis perspective. </a:t>
            </a:r>
            <a:r>
              <a:rPr lang="en-IN" b="0" i="1" dirty="0">
                <a:effectLst/>
                <a:latin typeface="ui-sans-serif"/>
              </a:rPr>
              <a:t>IEEE International Conference on Information Technology, Electronics and Intelligent Communication Systems (ICITEICS)</a:t>
            </a:r>
            <a:r>
              <a:rPr lang="en-IN" b="0" i="0" dirty="0">
                <a:effectLst/>
                <a:latin typeface="ui-sans-serif"/>
              </a:rPr>
              <a:t>, 70, 1–8</a:t>
            </a:r>
            <a:r>
              <a:rPr lang="en-IN" b="0" i="0" dirty="0">
                <a:solidFill>
                  <a:srgbClr val="ECECEC"/>
                </a:solidFill>
                <a:effectLst/>
                <a:latin typeface="ui-sans-serif"/>
              </a:rPr>
              <a:t>. </a:t>
            </a:r>
            <a:r>
              <a:rPr lang="en-IN" b="0" i="0" u="none" strike="noStrike" dirty="0">
                <a:solidFill>
                  <a:srgbClr val="ECECEC"/>
                </a:solidFill>
                <a:effectLst/>
                <a:latin typeface="ui-sans-serif"/>
                <a:hlinkClick r:id="rId2"/>
              </a:rPr>
              <a:t>https://doi.org/10.1109/iciteics61368.2024.10625537</a:t>
            </a:r>
            <a:endParaRPr lang="en-IN" b="0" i="0" u="none" strike="noStrike" dirty="0">
              <a:solidFill>
                <a:srgbClr val="ECECEC"/>
              </a:solidFill>
              <a:effectLst/>
              <a:latin typeface="ui-sans-serif"/>
            </a:endParaRPr>
          </a:p>
          <a:p>
            <a:pPr lvl="1"/>
            <a:r>
              <a:rPr lang="en-US" dirty="0">
                <a:hlinkClick r:id="rId3"/>
              </a:rPr>
              <a:t>Link to Paper</a:t>
            </a:r>
            <a:endParaRPr lang="en-US" b="1" dirty="0">
              <a:latin typeface="Arial Narrow" panose="020B0606020202030204" pitchFamily="34" charset="0"/>
            </a:endParaRPr>
          </a:p>
          <a:p>
            <a:r>
              <a:rPr lang="en-US" b="1" dirty="0">
                <a:latin typeface="Arial Narrow" panose="020B0606020202030204" pitchFamily="34" charset="0"/>
              </a:rPr>
              <a:t>Paper I:</a:t>
            </a:r>
          </a:p>
          <a:p>
            <a:pPr lvl="1"/>
            <a:r>
              <a:rPr lang="en-IN" b="1" i="0" dirty="0">
                <a:effectLst/>
                <a:latin typeface="ui-sans-serif"/>
              </a:rPr>
              <a:t>Panchal, S. A., </a:t>
            </a:r>
            <a:r>
              <a:rPr lang="en-IN" b="1" i="0" dirty="0" err="1">
                <a:effectLst/>
                <a:latin typeface="ui-sans-serif"/>
              </a:rPr>
              <a:t>Ferdouse</a:t>
            </a:r>
            <a:r>
              <a:rPr lang="en-IN" b="1" i="0" dirty="0">
                <a:effectLst/>
                <a:latin typeface="ui-sans-serif"/>
              </a:rPr>
              <a:t>, L., &amp; Sultana, A. (2024).</a:t>
            </a:r>
            <a:r>
              <a:rPr lang="en-IN" b="0" i="0" dirty="0">
                <a:effectLst/>
                <a:latin typeface="ui-sans-serif"/>
              </a:rPr>
              <a:t> Comparative analysis of ARIMA and LSTM models for stock price prediction. </a:t>
            </a:r>
            <a:r>
              <a:rPr lang="en-IN" b="0" i="1" dirty="0">
                <a:effectLst/>
                <a:latin typeface="ui-sans-serif"/>
              </a:rPr>
              <a:t>2024 IEEE/ACIS 27th International Conference on Software Engineering, Artificial Intelligence, Networking and Parallel/Distributed Computing (SNPD)</a:t>
            </a:r>
            <a:r>
              <a:rPr lang="en-IN" b="0" i="0" dirty="0">
                <a:effectLst/>
                <a:latin typeface="ui-sans-serif"/>
              </a:rPr>
              <a:t>, 240–244. </a:t>
            </a:r>
            <a:r>
              <a:rPr lang="en-IN" b="0" i="0" u="none" strike="noStrike" dirty="0">
                <a:solidFill>
                  <a:srgbClr val="ECECEC"/>
                </a:solidFill>
                <a:effectLst/>
                <a:latin typeface="ui-sans-serif"/>
                <a:hlinkClick r:id="rId4"/>
              </a:rPr>
              <a:t>https://doi.org/10.1109/snpd61259.2024.10673919</a:t>
            </a:r>
            <a:endParaRPr lang="en-US" dirty="0">
              <a:hlinkClick r:id="rId5"/>
            </a:endParaRPr>
          </a:p>
          <a:p>
            <a:pPr lvl="1"/>
            <a:r>
              <a:rPr lang="en-US" dirty="0">
                <a:hlinkClick r:id="rId5"/>
              </a:rPr>
              <a:t>Link to Paper</a:t>
            </a:r>
            <a:endParaRPr lang="en-US" b="1" dirty="0">
              <a:latin typeface="Arial Narrow" panose="020B0606020202030204" pitchFamily="34" charset="0"/>
            </a:endParaRPr>
          </a:p>
          <a:p>
            <a:r>
              <a:rPr lang="en-US" b="1" dirty="0">
                <a:latin typeface="Arial Narrow" panose="020B0606020202030204" pitchFamily="34" charset="0"/>
              </a:rPr>
              <a:t>Paper II:</a:t>
            </a:r>
          </a:p>
          <a:p>
            <a:pPr lvl="1"/>
            <a:r>
              <a:rPr lang="en-US" b="1" i="0" dirty="0" err="1">
                <a:effectLst/>
                <a:latin typeface="ui-sans-serif"/>
              </a:rPr>
              <a:t>Rajhans</a:t>
            </a:r>
            <a:r>
              <a:rPr lang="en-US" b="1" i="0" dirty="0">
                <a:effectLst/>
                <a:latin typeface="ui-sans-serif"/>
              </a:rPr>
              <a:t>, A., Das, T., Kumar, A., &amp; Sinha, B. B. (2024).</a:t>
            </a:r>
            <a:r>
              <a:rPr lang="en-US" b="0" i="0" dirty="0">
                <a:effectLst/>
                <a:latin typeface="ui-sans-serif"/>
              </a:rPr>
              <a:t> Exploring the impact of financial news sentiment on stock price forecasting: A comparative deep learning approach. </a:t>
            </a:r>
            <a:r>
              <a:rPr lang="en-US" b="0" i="1" dirty="0">
                <a:effectLst/>
                <a:latin typeface="ui-sans-serif"/>
              </a:rPr>
              <a:t>2024 1st International Conference on Communications and Computer Science (</a:t>
            </a:r>
            <a:r>
              <a:rPr lang="en-US" b="0" i="1" dirty="0" err="1">
                <a:effectLst/>
                <a:latin typeface="ui-sans-serif"/>
              </a:rPr>
              <a:t>InCCCS</a:t>
            </a:r>
            <a:r>
              <a:rPr lang="en-US" b="0" i="1" dirty="0">
                <a:effectLst/>
                <a:latin typeface="ui-sans-serif"/>
              </a:rPr>
              <a:t>)</a:t>
            </a:r>
            <a:r>
              <a:rPr lang="en-US" b="0" i="0" dirty="0">
                <a:effectLst/>
                <a:latin typeface="ui-sans-serif"/>
              </a:rPr>
              <a:t>. </a:t>
            </a:r>
            <a:r>
              <a:rPr lang="en-US" b="0" i="0" u="none" strike="noStrike" dirty="0">
                <a:solidFill>
                  <a:srgbClr val="ECECEC"/>
                </a:solidFill>
                <a:effectLst/>
                <a:latin typeface="ui-sans-serif"/>
                <a:hlinkClick r:id="rId6"/>
              </a:rPr>
              <a:t>https://doi.org/10.1109/incccs60947.2024.10593315</a:t>
            </a:r>
            <a:endParaRPr lang="en-US" b="0" i="0" u="none" strike="noStrike" dirty="0">
              <a:solidFill>
                <a:srgbClr val="ECECEC"/>
              </a:solidFill>
              <a:effectLst/>
              <a:latin typeface="ui-sans-serif"/>
            </a:endParaRPr>
          </a:p>
          <a:p>
            <a:pPr lvl="1"/>
            <a:r>
              <a:rPr lang="en-US" dirty="0">
                <a:hlinkClick r:id="rId7"/>
              </a:rPr>
              <a:t>Link to Paper</a:t>
            </a:r>
            <a:endParaRPr lang="en-US" b="1" dirty="0">
              <a:latin typeface="Arial Narrow" panose="020B0606020202030204" pitchFamily="34" charset="0"/>
            </a:endParaRPr>
          </a:p>
          <a:p>
            <a:r>
              <a:rPr lang="en-US" b="1" dirty="0">
                <a:latin typeface="Arial Narrow" panose="020B0606020202030204" pitchFamily="34" charset="0"/>
              </a:rPr>
              <a:t>Paper III:</a:t>
            </a:r>
          </a:p>
          <a:p>
            <a:pPr lvl="1"/>
            <a:r>
              <a:rPr lang="en-US" b="1" i="0" dirty="0">
                <a:effectLst/>
                <a:latin typeface="ui-sans-serif"/>
              </a:rPr>
              <a:t>Taslim, D. G., </a:t>
            </a:r>
            <a:r>
              <a:rPr lang="en-US" b="1" i="0" dirty="0" err="1">
                <a:effectLst/>
                <a:latin typeface="ui-sans-serif"/>
              </a:rPr>
              <a:t>Tjahyadi</a:t>
            </a:r>
            <a:r>
              <a:rPr lang="en-US" b="1" i="0" dirty="0">
                <a:effectLst/>
                <a:latin typeface="ui-sans-serif"/>
              </a:rPr>
              <a:t>, H., &amp; </a:t>
            </a:r>
            <a:r>
              <a:rPr lang="en-US" b="1" i="0" dirty="0" err="1">
                <a:effectLst/>
                <a:latin typeface="ui-sans-serif"/>
              </a:rPr>
              <a:t>Murwantara</a:t>
            </a:r>
            <a:r>
              <a:rPr lang="en-US" b="1" i="0" dirty="0">
                <a:effectLst/>
                <a:latin typeface="ui-sans-serif"/>
              </a:rPr>
              <a:t>, I. M. (2024).</a:t>
            </a:r>
            <a:r>
              <a:rPr lang="en-US" b="0" i="0" dirty="0">
                <a:effectLst/>
                <a:latin typeface="ui-sans-serif"/>
              </a:rPr>
              <a:t> A study of LSTM </a:t>
            </a:r>
            <a:r>
              <a:rPr lang="en-US" b="0" i="0" dirty="0" err="1">
                <a:effectLst/>
                <a:latin typeface="ui-sans-serif"/>
              </a:rPr>
              <a:t>optimisation</a:t>
            </a:r>
            <a:r>
              <a:rPr lang="en-US" b="0" i="0" dirty="0">
                <a:effectLst/>
                <a:latin typeface="ui-sans-serif"/>
              </a:rPr>
              <a:t> for forecasting volatile time series data. </a:t>
            </a:r>
            <a:r>
              <a:rPr lang="en-US" b="0" i="1" dirty="0">
                <a:effectLst/>
                <a:latin typeface="ui-sans-serif"/>
              </a:rPr>
              <a:t>2024 4th International Conference on Computer Communication and Artificial Intelligence (CCAI)</a:t>
            </a:r>
            <a:r>
              <a:rPr lang="en-US" b="0" i="0" dirty="0">
                <a:effectLst/>
                <a:latin typeface="ui-sans-serif"/>
              </a:rPr>
              <a:t>. </a:t>
            </a:r>
            <a:r>
              <a:rPr lang="en-US" b="0" i="0" u="none" strike="noStrike" dirty="0">
                <a:solidFill>
                  <a:srgbClr val="ECECEC"/>
                </a:solidFill>
                <a:effectLst/>
                <a:latin typeface="ui-sans-serif"/>
                <a:hlinkClick r:id="rId8"/>
              </a:rPr>
              <a:t>https://doi.org/10.1109/ccai61966.2024.10603183</a:t>
            </a:r>
            <a:endParaRPr lang="en-US" b="0" i="0" dirty="0">
              <a:solidFill>
                <a:srgbClr val="ECECEC"/>
              </a:solidFill>
              <a:effectLst/>
              <a:latin typeface="ui-sans-serif"/>
            </a:endParaRPr>
          </a:p>
          <a:p>
            <a:pPr lvl="1"/>
            <a:r>
              <a:rPr lang="en-US" dirty="0">
                <a:hlinkClick r:id="rId9"/>
              </a:rPr>
              <a:t>Link to Paper</a:t>
            </a:r>
            <a:endParaRPr lang="en-US" b="1" dirty="0">
              <a:latin typeface="Arial Narrow" panose="020B0606020202030204" pitchFamily="34" charset="0"/>
            </a:endParaRPr>
          </a:p>
          <a:p>
            <a:r>
              <a:rPr lang="en-US" b="1" dirty="0">
                <a:latin typeface="Arial Narrow" panose="020B0606020202030204" pitchFamily="34" charset="0"/>
              </a:rPr>
              <a:t>Paper IV:</a:t>
            </a:r>
          </a:p>
          <a:p>
            <a:pPr lvl="1"/>
            <a:r>
              <a:rPr lang="en-US" b="1" i="0" dirty="0" err="1">
                <a:effectLst/>
                <a:latin typeface="ui-sans-serif"/>
              </a:rPr>
              <a:t>Amruth</a:t>
            </a:r>
            <a:r>
              <a:rPr lang="en-US" b="1" i="0" dirty="0">
                <a:effectLst/>
                <a:latin typeface="ui-sans-serif"/>
              </a:rPr>
              <a:t>, S. J., </a:t>
            </a:r>
            <a:r>
              <a:rPr lang="en-US" b="1" i="0" dirty="0" err="1">
                <a:effectLst/>
                <a:latin typeface="ui-sans-serif"/>
              </a:rPr>
              <a:t>Nigelesh</a:t>
            </a:r>
            <a:r>
              <a:rPr lang="en-US" b="1" i="0" dirty="0">
                <a:effectLst/>
                <a:latin typeface="ui-sans-serif"/>
              </a:rPr>
              <a:t>, T., </a:t>
            </a:r>
            <a:r>
              <a:rPr lang="en-US" b="1" i="0" dirty="0" err="1">
                <a:effectLst/>
                <a:latin typeface="ui-sans-serif"/>
              </a:rPr>
              <a:t>Shruthik</a:t>
            </a:r>
            <a:r>
              <a:rPr lang="en-US" b="1" i="0" dirty="0">
                <a:effectLst/>
                <a:latin typeface="ui-sans-serif"/>
              </a:rPr>
              <a:t>, V. S., Reddy, V. S., &amp; </a:t>
            </a:r>
            <a:r>
              <a:rPr lang="en-US" b="1" i="0" dirty="0" err="1">
                <a:effectLst/>
                <a:latin typeface="ui-sans-serif"/>
              </a:rPr>
              <a:t>Venugopalan</a:t>
            </a:r>
            <a:r>
              <a:rPr lang="en-US" b="1" i="0" dirty="0">
                <a:effectLst/>
                <a:latin typeface="ui-sans-serif"/>
              </a:rPr>
              <a:t>, M. (2024).</a:t>
            </a:r>
            <a:r>
              <a:rPr lang="en-US" b="0" i="0" dirty="0">
                <a:effectLst/>
                <a:latin typeface="ui-sans-serif"/>
              </a:rPr>
              <a:t> Time-series-based stock market analysis using machine learning. </a:t>
            </a:r>
            <a:r>
              <a:rPr lang="en-US" b="0" i="1" dirty="0">
                <a:effectLst/>
                <a:latin typeface="ui-sans-serif"/>
              </a:rPr>
              <a:t>2024 15th International Conference on Computing Communication and Networking Technologies (ICCCNT)</a:t>
            </a:r>
            <a:r>
              <a:rPr lang="en-US" b="0" i="0" dirty="0">
                <a:effectLst/>
                <a:latin typeface="ui-sans-serif"/>
              </a:rPr>
              <a:t>, 1–7</a:t>
            </a:r>
            <a:r>
              <a:rPr lang="en-US" b="0" i="0" dirty="0">
                <a:solidFill>
                  <a:srgbClr val="ECECEC"/>
                </a:solidFill>
                <a:effectLst/>
                <a:latin typeface="ui-sans-serif"/>
              </a:rPr>
              <a:t>. </a:t>
            </a:r>
            <a:r>
              <a:rPr lang="en-US" b="0" i="0" u="none" strike="noStrike" dirty="0">
                <a:solidFill>
                  <a:srgbClr val="ECECEC"/>
                </a:solidFill>
                <a:effectLst/>
                <a:latin typeface="ui-sans-serif"/>
                <a:hlinkClick r:id="rId10"/>
              </a:rPr>
              <a:t>https://doi.org/10.1109/icccnt61001.2024.10725232</a:t>
            </a:r>
            <a:endParaRPr lang="en-US" b="0" i="0" u="none" strike="noStrike" dirty="0">
              <a:solidFill>
                <a:srgbClr val="ECECEC"/>
              </a:solidFill>
              <a:effectLst/>
              <a:latin typeface="ui-sans-serif"/>
            </a:endParaRPr>
          </a:p>
          <a:p>
            <a:pPr lvl="1"/>
            <a:r>
              <a:rPr lang="en-US" dirty="0">
                <a:hlinkClick r:id="rId11"/>
              </a:rPr>
              <a:t>Link to Paper</a:t>
            </a:r>
            <a:endParaRPr lang="en-US" dirty="0"/>
          </a:p>
          <a:p>
            <a:endParaRPr lang="en-US" dirty="0"/>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3134518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Impact of the Proposed Research </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lnSpcReduction="10000"/>
          </a:bodyPr>
          <a:lstStyle/>
          <a:p>
            <a:r>
              <a:rPr lang="en-US" dirty="0"/>
              <a:t>This project aims to enhance stock price prediction accuracy for the IT sector of the Nifty 50, leveraging machine learning (ML) models with refined feature selection and event-driven data integration. By optimizing feature selection and incorporating relevant economic events, the research seeks to develop a predictive framework that is more responsive to market dynamics, potentially offering improved performance over traditional forecasting models. The insights gained can benefit investors, analysts, and financial institutions by providing a more nuanced understanding of price movements, improving decision-making, and reducing risk in volatile markets. Additionally, this research could pave the way for future predictive studies across other sectors.</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11254287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770</Words>
  <Application>Microsoft Office PowerPoint</Application>
  <PresentationFormat>Widescreen</PresentationFormat>
  <Paragraphs>42</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Arial Narrow</vt:lpstr>
      <vt:lpstr>Calibri</vt:lpstr>
      <vt:lpstr>Calibri Light</vt:lpstr>
      <vt:lpstr>ui-sans-serif</vt:lpstr>
      <vt:lpstr>Office Theme</vt:lpstr>
      <vt:lpstr>Enhancing Stock Price Prediction for Nifty 50 IT Sector Companies: A Comparative Study of ML Models with Feature Selection and Event Data Integration Economics and Finance  </vt:lpstr>
      <vt:lpstr>Problem Statement</vt:lpstr>
      <vt:lpstr>Dataset</vt:lpstr>
      <vt:lpstr>Review of Related Literature</vt:lpstr>
      <vt:lpstr>Impact of the Proposed Research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Aniket Shinde</cp:lastModifiedBy>
  <cp:revision>8</cp:revision>
  <dcterms:created xsi:type="dcterms:W3CDTF">2023-11-15T14:09:37Z</dcterms:created>
  <dcterms:modified xsi:type="dcterms:W3CDTF">2024-11-13T07:12:26Z</dcterms:modified>
</cp:coreProperties>
</file>